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Agent Airlock
ON-SCREEN CUE: Stay on this slide. Reveal or point to the visual in reading order; no external action is required.
SPEAKER SCRIPT
Open with the canonical repository tagline. The project is about preserving useful agent autonomy while moving permission out of mutable instructions and into reviewed controls. The rest of the presentation answers three questions: what problem are we solving, where is enforcement placed, and what does each gate actually do?
IMPLEMENTATION EVIDENCE
Source baseline: d4ca434. These citations describe code, not fresh execution evidence.
plugins\AirlockPlugin\server.mjs:18-84
plugins\AirlockPlugin\runtime/broker.mjs:20-84
DEMO SAFETY
Use only synthetic fixtures in a prepared isolated local instance. Do not expose personal session logs, tokens or actual PII. A blocked/review/error case must not be retried through another tool. Expected results on slides are not captured evidence. Preserve and inspect the real receipt when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AI agents have hands now
ON-SCREEN CUE: Stay on this slide. Reveal or point to the visual in reading order; no external action is required.
SPEAKER SCRIPT
Frame the problem in operational terms. An agent can now cross the boundary between proposing and doing. That is valuable, but it means a prompt mistake, poisoned context, unsafe dependency or leaked token can reach a real system. Airlock focuses on the transition from intent to effect.
IMPLEMENTATION EVIDENCE
Source baseline: d4ca434. These citations describe code, not fresh execution evidence.
plugins\AirlockPlugin\server.mjs:18-84
plugins\AirlockPlugin\tools/publish-draft.mjs:23-35
plugins\AirlockPlugin\tools/review-dependency-change.mjs:44-63
DEMO SAFETY
Use only synthetic fixtures in a prepared isolated local instance. Do not expose personal session logs, tokens or actual PII. A blocked/review/error case must not be retried through another tool. Expected results on slides are not captured evidence. Preserve and inspect the real receipt when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Instructions shape behavior. They do not create a security boundary.
ON-SCREEN CUE: Stay on this slide. Reveal or point to the visual in reading order; no external action is required.
SPEAKER SCRIPT
This is the core distinction. Prompts and instructions remain important, but they are inputs to reasoning. They should not be the authority that grants permission. Airlock keeps reviewed policy and gate code separate, evaluates a structured action, and lets the broker decide whether trusted executor code starts.
IMPLEMENTATION EVIDENCE
Source baseline: d4ca434. These citations describe code, not fresh execution evidence.
plugins\AirlockPlugin\runtime/policies.mjs:53-104
plugins\AirlockPlugin\runtime/broker.mjs:43-74
plugins\AirlockPlugin\policies/default.json:1-42
DEMO SAFETY
Use only synthetic fixtures in a prepared isolated local instance. Do not expose personal session logs, tokens or actual PII. A blocked/review/error case must not be retried through another tool. Expected results on slides are not captured evidence. Preserve and inspect the real receipt when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Put a controlled boundary between intent and effect
ON-SCREEN CUE: Stay on this slide. Reveal or point to the visual in reading order; no external action is required.
SPEAKER SCRIPT
Use the physical airlock metaphor. Work inside the chamber can stay flexible: analysis, edits, tests and draft creation. A protected operation becomes a structured action at the exit. Policy-bound gates inspect that action, a receipt records the result, and the executor is called only after all required checks allow.
IMPLEMENTATION EVIDENCE
Source baseline: d4ca434. These citations describe code, not fresh execution evidence.
plugins\AirlockPlugin\tools/publish-draft.mjs:23-35
plugins\AirlockPlugin\runtime/broker.mjs:61-74
plugins\AirlockPlugin\server.mjs:18-84
DEMO SAFETY
Use only synthetic fixtures in a prepared isolated local instance. Do not expose personal session logs, tokens or actual PII. A blocked/review/error case must not be retried through another tool. Expected results on slides are not captured evidence. Preserve and inspect the real receipt when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The system is structured around one enforcement owner
ON-SCREEN CUE: Stay on this slide. Reveal or point to the visual in reading order; no external action is required.
SPEAKER SCRIPT
Walk left to right. MCP exposes guarded tools. Each adapter validates caller input and constructs a fixed action and trusted executor callback. Policy selects gates. Gates are read-only evaluators. The broker owns orchestration, decision precedence, receipts and execution. This keeps enforcement centralized rather than scattered across mutable prompts or tool implementations.
IMPLEMENTATION EVIDENCE
Source baseline: d4ca434. These citations describe code, not fresh execution evidence.
plugins\AirlockPlugin\server.mjs:18-84
plugins\AirlockPlugin\runtime/broker.mjs:20-84
plugins\AirlockPlugin\runtime/policies.mjs:53-104
DEMO SAFETY
Use only synthetic fixtures in a prepared isolated local instance. Do not expose personal session logs, tokens or actual PII. A blocked/review/error case must not be retried through another tool. Expected results on slides are not captured evidence. Preserve and inspect the real receipt when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What happens when an action reaches Airlock
ON-SCREEN CUE: Stay on this slide. Reveal or point to the visual in reading order; no external action is required.
SPEAKER SCRIPT
The adapter passes a validated action and trusted callback. The broker freezes the action, evaluates every required gate, and saves the decision. Block, error and ask-first stop before execution. On allow, the executor receives the same frozen snapshot. This closes the common time-of-check/time-of-use gap where one payload is reviewed and another is emitted.
IMPLEMENTATION EVIDENCE
Source baseline: d4ca434. These citations describe code, not fresh execution evidence.
plugins\AirlockPlugin\runtime/broker.mjs:24-84
plugins\AirlockPlugin\runtime/policies.mjs:44-55
plugins\AirlockPlugin\tests/broker.test.mjs:73-83
DEMO SAFETY
Use only synthetic fixtures in a prepared isolated local instance. Do not expose personal session logs, tokens or actual PII. A blocked/review/error case must not be retried through another tool. Expected results on slides are not captured evidence. Preserve and inspect the real receipt when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Every gate uses the same decision contract
ON-SCREEN CUE: Stay on this slide. Reveal or point to the visual in reading order; no external action is required.
SPEAKER SCRIPT
The common result contract makes the gate set extensible. The evaluator applies deterministic precedence: block, error, ask-first, allow. All gates still run, so receipts show the complete check set. Safe findings contain identifiers and locations rather than copied secrets or personal values.
IMPLEMENTATION EVIDENCE
Source baseline: d4ca434. These citations describe code, not fresh execution evidence.
plugins\AirlockPlugin\runtime/policies.mjs:17-29
plugins\AirlockPlugin\runtime/policies.mjs:83-104
plugins\AirlockPlugin\runtime/broker.mjs:43-67
DEMO SAFETY
Use only synthetic fixtures in a prepared isolated local instance. Do not expose personal session logs, tokens or actual PII. A blocked/review/error case must not be retried through another tool. Expected results on slides are not captured evidence. Preserve and inspect the real receipt when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Sensitive Information Protection
ON-SCREEN CUE: Play or record the sensitive-information script. Show clean, secret, override, PII, label and replacement outcomes without displaying raw fixture content.
SPEAKER SCRIPT
This is the strongest demo because it shows both prevention and safe handling. A clean synthetic fixture publishes locally. Secret and token matches block. PII and INTERNAL-ONLY content request review; because approval redemption is unfinished, they stop. An override instruction remains data and does not change the rule. Remediation returns a separate candidate that must be rescanned through a new action. The gate is bounded pattern detection, not a claim of universal DLP.
IMPLEMENTATION EVIDENCE
Source baseline: d4ca434. These citations describe code, not fresh execution evidence.
plugins\AirlockPlugin\policies/default.json:1-10
plugins\AirlockPlugin\gates/sensitive-information/index.mjs:1-38
plugins\AirlockPlugin\gates/secrets/gitleaks.toml:1-26
DEMO SAFETY
Use only synthetic fixtures in a prepared isolated local instance. Do not expose personal session logs, tokens or actual PII. A blocked/review/error case must not be retried through another tool. Expected results on slides are not captured evidence. Preserve and inspect the real receipt when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Dependency Risk
ON-SCREEN CUE: Play or record dependency-risk. Show the blocked result and unchanged sample worktree.
SPEAKER SCRIPT
The important pattern is sequencing: review a proposal before modifying the repository. The deterministic demo uses Microsoft.Identity.Client version 4.88.0-airlock-demo and rule AIRLOCK-DEMO-001. The sample does not contain that PackageReference, and this is not a real vulnerability claim. For ordinary versions, the implementation can use current or cached advisory evidence.
IMPLEMENTATION EVIDENCE
Source baseline: d4ca434. These citations describe code, not fresh execution evidence.
plugins\AirlockPlugin\gates/dependency-risk/snapshot.json:1-18
plugins\AirlockPlugin\tools/review-dependency-change.mjs:44-63
plugins\AirlockPlugin\tests/dependency-risk.test.mjs:266-292
DEMO SAFETY
Use only synthetic fixtures in a prepared isolated local instance. Do not expose personal session logs, tokens or actual PII. A blocked/review/error case must not be retried through another tool. Expected results on slides are not captured evidence. Preserve and inspect the real receipt when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Model Catalog
ON-SCREEN CUE: Play or record model-catalog. Compare default, override and blocked outcomes.
SPEAKER SCRIPT
Model choice can be governed as a structured action. The reviewed default allows, a permitted override asks for approval, and a blocked public entry rejects. The declared data class is caller supplied today, not automatically classified. The executor creates a local selection record only; this demonstrates the decision architecture rather than real model routing.
IMPLEMENTATION EVIDENCE
Source baseline: d4ca434. These citations describe code, not fresh execution evidence.
plugins\AirlockPlugin\gates/model-catalog/catalog.json:1-22
plugins\AirlockPlugin\gates/model-catalog/index.mjs:50-77
plugins\AirlockPlugin\tools/select-model.mjs:20-40
DEMO SAFETY
Use only synthetic fixtures in a prepared isolated local instance. Do not expose personal session logs, tokens or actual PII. A blocked/review/error case must not be retried through another tool. Expected results on slides are not captured evidence. Preserve and inspect the real receipt when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Online-Write Intent
ON-SCREEN CUE: Play or record intent. Do not execute the prompt as a native command.
SPEAKER SCRIPT
The memorable point is that “yolo” cannot grant permission. The technical boundary is equally important: this tool checks supplied text. It does not intercept an unrelated native git process, and regex intent checks are not semantic proof. Host mediation is needed to make the check mandatory before arbitrary online-write tools.
IMPLEMENTATION EVIDENCE
Source baseline: d4ca434. These citations describe code, not fresh execution evidence.
plugins\AirlockPlugin\gates/no-online-writes/rules.json:3-12
plugins\AirlockPlugin\gates/no-online-writes/index.mjs:30-44
plugins\AirlockPlugin\tools/check-intent.mjs:6-33
DEMO SAFETY
Use only synthetic fixtures in a prepared isolated local instance. Do not expose personal session logs, tokens or actual PII. A blocked/review/error case must not be retried through another tool. Expected results on slides are not captured evidence. Preserve and inspect the real receipt when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Trending Cost
ON-SCREEN CUE: Play or record trending-cost. Keep the synthetic-data and advisory labels visible.
SPEAKER SCRIPT
This shows that the same policy architecture can cover operational constraints as well as security. The demo uses synthetic local SQLite data. The checked-in policy is advisory at an $800 month-to-date threshold. Above threshold reports context but still completes; atomic reservation and enforced pre-spend blocking are not implemented.
IMPLEMENTATION EVIDENCE
Source baseline: d4ca434. These citations describe code, not fresh execution evidence.
plugins\AirlockPlugin\policies/trending-cost.json:1-12
plugins\AirlockPlugin\gates/trending-cost/usage.mjs:110-168
plugins\AirlockPlugin\tests/trending-cost.test.mjs:87-172
DEMO SAFETY
Use only synthetic fixtures in a prepared isolated local instance. Do not expose personal session logs, tokens or actual PII. A blocked/review/error case must not be retried through another tool. Expected results on slides are not captured evidence. Preserve and inspect the real receipt when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Every decision leaves evidence
ON-SCREEN CUE: Open one allowed and one blocked result.json plus their receipts from the latest scripted run.
SPEAKER SCRIPT
Receipts distinguish a decision from a status string. They capture policy identity, check results, safe findings, action fingerprint and execution state. Blocked actions show not-started and no business artifact. Allowed actions show the local artifact. Receipts are local evidence in this prototype, not signed compliance attestations.
IMPLEMENTATION EVIDENCE
Source baseline: d4ca434. These citations describe code, not fresh execution evidence.
plugins\AirlockPlugin\runtime/broker.mjs:37-84
plugins\AirlockPlugin\runtime/policies.mjs:73-77
plugins\AirlockPlugin\tests/publish-draft.test.mjs:26-52
DEMO SAFETY
Use only synthetic fixtures in a prepared isolated local instance. Do not expose personal session logs, tokens or actual PII. A blocked/review/error case must not be retried through another tool. Expected results on slides are not captured evidence. Preserve and inspect the real receipt when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Adding a gate is intentionally small
ON-SCREEN CUE: Stay on this slide. Reveal or point to the visual in reading order; no external action is required.
SPEAKER SCRIPT
For engineers, this is the maintainability story. A gate should be a focused, read-only evaluator returning a strict safe result. Registration and policy binding are explicit. Tests should cover allow, block, ask-first, error and composition. The gate never invokes the executor, preserving one orchestration owner and avoiding temporal coupling.
IMPLEMENTATION EVIDENCE
Source baseline: d4ca434. These citations describe code, not fresh execution evidence.
plugins\AirlockPlugin\gates/index.mjs:1-16
plugins\AirlockPlugin\runtime/policies.mjs:17-29
plugins\AirlockPlugin\runtime/policies.mjs:58-75
plugins\AirlockPlugin\policies/default.json:1-10
DEMO SAFETY
Use only synthetic fixtures in a prepared isolated local instance. Do not expose personal session logs, tokens or actual PII. A blocked/review/error case must not be retried through another tool. Expected results on slides are not captured evidence. Preserve and inspect the real receipt when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What the prototype enforces—and what it does not yet
ON-SCREEN CUE: Stay on this slide. Reveal or point to the visual in reading order; no external action is required.
SPEAKER SCRIPT
Be explicit about the boundary. On the Airlock route, the broker owns the executor and a block is final. If the host also exposes another publisher, shell or credential path, that is a separate exit. Mandatory enforcement requires host/runtime mediation or destination controls so protected operations cannot happen outside the broker.
IMPLEMENTATION EVIDENCE
Source baseline: d4ca434. These citations describe code, not fresh execution evidence.
plugins\AirlockPlugin\.mcp.json:1-11
plugins\AirlockPlugin\server.mjs:18-84
plugins\AirlockPlugin\hooks/hooks.json:1-13
plugins\AirlockPlugin\runtime/broker.mjs:67-72
DEMO SAFETY
Use only synthetic fixtures in a prepared isolated local instance. Do not expose personal session logs, tokens or actual PII. A blocked/review/error case must not be retried through another tool. Expected results on slides are not captured evidence. Preserve and inspect the real receipt when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The path from prototype to shared enforcement
ON-SCREEN CUE: Stay on this slide. Reveal or point to the visual in reading order; no external action is required.
SPEAKER SCRIPT
Sequence the roadmap around enforcement. First ensure protected actions have no alternate route. Then implement exact approval redemption. Protect policy deployment and integrity. Add narrow real executors with clear destination and retry behavior. With that foundation, teams can add gates without creating a collection of optional warnings.
IMPLEMENTATION EVIDENCE
Source baseline: d4ca434. These citations describe code, not fresh execution evidence.
plugins\AirlockPlugin\runtime/broker.mjs:43-84
plugins\AirlockPlugin\policies/default.json:1-42
plugins\AirlockPlugin\server.mjs:18-84
plugins\AirlockPlugin\hooks/hooks.json:1-13
DEMO SAFETY
Use only synthetic fixtures in a prepared isolated local instance. Do not expose personal session logs, tokens or actual PII. A blocked/review/error case must not be retried through another tool. Expected results on slides are not captured evidence. Preserve and inspect the real receipt when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What we want the team to remember
ON-SCREEN CUE: Stay on this slide. Reveal or point to the visual in reading order; no external action is required.
SPEAKER SCRIPT
Close on the canonical message. Airlock does not try to make prompts perfect. It turns protected effects into structured actions, evaluates reviewed policy, records the decision, and controls whether trusted executor code starts. The prototype proves the pattern on explicit Airlock routes. The team discussion is which exits matter first and what integration makes those exits mandatory.
IMPLEMENTATION EVIDENCE
Source baseline: d4ca434. These citations describe code, not fresh execution evidence.
plugins\AirlockPlugin\runtime/policies.mjs:58-104
plugins\AirlockPlugin\runtime/broker.mjs:61-84
plugins\AirlockPlugin\server.mjs:18-84
DEMO SAFETY
Use only synthetic fixtures in a prepared isolated local instance. Do not expose personal session logs, tokens or actual PII. A blocked/review/error case must not be retried through another tool. Expected results on slides are not captured evidence. Preserve and inspect the real receipt when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1-text-1"/>
          <p:cNvSpPr/>
          <p:nvPr/>
        </p:nvSpPr>
        <p:spPr>
          <a:xfrm>
            <a:off x="548640" y="219456"/>
            <a:ext cx="2834640" cy="219456"/>
          </a:xfrm>
          <a:prstGeom prst="rect">
            <a:avLst/>
          </a:prstGeom>
          <a:noFill/>
          <a:ln/>
        </p:spPr>
        <p:txBody>
          <a:bodyPr wrap="square" lIns="0" tIns="0" rIns="0" bIns="0" rtlCol="0" anchor="t"/>
          <a:lstStyle/>
          <a:p>
            <a:pPr indent="0" marL="0">
              <a:buNone/>
            </a:pPr>
            <a:r>
              <a:rPr lang="en-US" sz="1300" b="1" spc="80" kern="0" dirty="0">
                <a:solidFill>
                  <a:srgbClr val="53DDF2"/>
                </a:solidFill>
                <a:latin typeface="Segoe UI" pitchFamily="34" charset="0"/>
                <a:ea typeface="Segoe UI" pitchFamily="34" charset="-122"/>
                <a:cs typeface="Segoe UI" pitchFamily="34" charset="-120"/>
              </a:rPr>
              <a:t>AGENT AIRLOCK</a:t>
            </a:r>
            <a:endParaRPr lang="en-US" sz="1300" dirty="0"/>
          </a:p>
        </p:txBody>
      </p:sp>
      <p:sp>
        <p:nvSpPr>
          <p:cNvPr id="3" name="s1-text-2"/>
          <p:cNvSpPr/>
          <p:nvPr/>
        </p:nvSpPr>
        <p:spPr>
          <a:xfrm>
            <a:off x="3657600" y="237744"/>
            <a:ext cx="4663440" cy="201168"/>
          </a:xfrm>
          <a:prstGeom prst="rect">
            <a:avLst/>
          </a:prstGeom>
          <a:noFill/>
          <a:ln/>
        </p:spPr>
        <p:txBody>
          <a:bodyPr wrap="square" lIns="0" tIns="0" rIns="0" bIns="0" rtlCol="0" anchor="t"/>
          <a:lstStyle/>
          <a:p>
            <a:pPr algn="ctr" indent="0" marL="0">
              <a:buNone/>
            </a:pPr>
            <a:r>
              <a:rPr lang="en-US" sz="1100" spc="100" kern="0" dirty="0">
                <a:solidFill>
                  <a:srgbClr val="A8B8CF"/>
                </a:solidFill>
                <a:latin typeface="Segoe UI" pitchFamily="34" charset="0"/>
                <a:ea typeface="Segoe UI" pitchFamily="34" charset="-122"/>
                <a:cs typeface="Segoe UI" pitchFamily="34" charset="-120"/>
              </a:rPr>
              <a:t>WHY</a:t>
            </a:r>
            <a:endParaRPr lang="en-US" sz="1100" dirty="0"/>
          </a:p>
        </p:txBody>
      </p:sp>
      <p:sp>
        <p:nvSpPr>
          <p:cNvPr id="4" name="s1-text-3"/>
          <p:cNvSpPr/>
          <p:nvPr/>
        </p:nvSpPr>
        <p:spPr>
          <a:xfrm>
            <a:off x="8412480" y="237744"/>
            <a:ext cx="3227832" cy="201168"/>
          </a:xfrm>
          <a:prstGeom prst="rect">
            <a:avLst/>
          </a:prstGeom>
          <a:noFill/>
          <a:ln/>
        </p:spPr>
        <p:txBody>
          <a:bodyPr wrap="square" lIns="0" tIns="0" rIns="0" bIns="0" rtlCol="0" anchor="t"/>
          <a:lstStyle/>
          <a:p>
            <a:pPr algn="r" indent="0" marL="0">
              <a:buNone/>
            </a:pPr>
            <a:r>
              <a:rPr lang="en-US" sz="1050" dirty="0">
                <a:solidFill>
                  <a:srgbClr val="A8B8CF"/>
                </a:solidFill>
                <a:latin typeface="Segoe UI" pitchFamily="34" charset="0"/>
                <a:ea typeface="Segoe UI" pitchFamily="34" charset="-122"/>
                <a:cs typeface="Segoe UI" pitchFamily="34" charset="-120"/>
              </a:rPr>
              <a:t>TEAM SHOWCASE</a:t>
            </a:r>
            <a:endParaRPr lang="en-US" sz="1050" dirty="0"/>
          </a:p>
        </p:txBody>
      </p:sp>
      <p:sp>
        <p:nvSpPr>
          <p:cNvPr id="5" name="s1-text-4"/>
          <p:cNvSpPr/>
          <p:nvPr/>
        </p:nvSpPr>
        <p:spPr>
          <a:xfrm>
            <a:off x="548640" y="640080"/>
            <a:ext cx="11091672" cy="914400"/>
          </a:xfrm>
          <a:prstGeom prst="rect">
            <a:avLst/>
          </a:prstGeom>
          <a:noFill/>
          <a:ln/>
        </p:spPr>
        <p:txBody>
          <a:bodyPr wrap="square" lIns="0" tIns="0" rIns="0" bIns="0" rtlCol="0" anchor="t"/>
          <a:lstStyle/>
          <a:p>
            <a:pPr indent="0" marL="0">
              <a:buNone/>
            </a:pPr>
            <a:r>
              <a:rPr lang="en-US" sz="3000" b="1" dirty="0">
                <a:solidFill>
                  <a:srgbClr val="F3F7FC"/>
                </a:solidFill>
                <a:latin typeface="Segoe UI" pitchFamily="34" charset="0"/>
                <a:ea typeface="Segoe UI" pitchFamily="34" charset="-122"/>
                <a:cs typeface="Segoe UI" pitchFamily="34" charset="-120"/>
              </a:rPr>
              <a:t>Agent Airlock</a:t>
            </a:r>
            <a:endParaRPr lang="en-US" sz="3000" dirty="0"/>
          </a:p>
        </p:txBody>
      </p:sp>
      <p:sp>
        <p:nvSpPr>
          <p:cNvPr id="6" name="s1-text-5"/>
          <p:cNvSpPr/>
          <p:nvPr/>
        </p:nvSpPr>
        <p:spPr>
          <a:xfrm>
            <a:off x="548640" y="1600200"/>
            <a:ext cx="11091672" cy="338328"/>
          </a:xfrm>
          <a:prstGeom prst="rect">
            <a:avLst/>
          </a:prstGeom>
          <a:noFill/>
          <a:ln/>
        </p:spPr>
        <p:txBody>
          <a:bodyPr wrap="square" lIns="0" tIns="0" rIns="0" bIns="0" rtlCol="0" anchor="t"/>
          <a:lstStyle/>
          <a:p>
            <a:pPr indent="0" marL="0">
              <a:buNone/>
            </a:pPr>
            <a:r>
              <a:rPr lang="en-US" sz="1550" dirty="0">
                <a:solidFill>
                  <a:srgbClr val="A8B8CF"/>
                </a:solidFill>
                <a:latin typeface="Segoe UI" pitchFamily="34" charset="0"/>
                <a:ea typeface="Segoe UI" pitchFamily="34" charset="-122"/>
                <a:cs typeface="Segoe UI" pitchFamily="34" charset="-120"/>
              </a:rPr>
              <a:t>Give AI agents room to move, not room to break the rules.</a:t>
            </a:r>
            <a:endParaRPr lang="en-US" sz="1550" dirty="0"/>
          </a:p>
        </p:txBody>
      </p:sp>
      <p:sp>
        <p:nvSpPr>
          <p:cNvPr id="7" name="Shape 5"/>
          <p:cNvSpPr/>
          <p:nvPr/>
        </p:nvSpPr>
        <p:spPr>
          <a:xfrm>
            <a:off x="548640" y="6446520"/>
            <a:ext cx="11091672" cy="0"/>
          </a:xfrm>
          <a:prstGeom prst="line">
            <a:avLst/>
          </a:prstGeom>
          <a:solidFill>
            <a:srgbClr val="142238"/>
          </a:solidFill>
          <a:ln w="7620">
            <a:solidFill>
              <a:srgbClr val="2B405B"/>
            </a:solidFill>
            <a:prstDash val="solid"/>
          </a:ln>
        </p:spPr>
      </p:sp>
      <p:sp>
        <p:nvSpPr>
          <p:cNvPr id="8" name="s1-text-6"/>
          <p:cNvSpPr/>
          <p:nvPr/>
        </p:nvSpPr>
        <p:spPr>
          <a:xfrm>
            <a:off x="548640" y="6556248"/>
            <a:ext cx="5852160" cy="164592"/>
          </a:xfrm>
          <a:prstGeom prst="rect">
            <a:avLst/>
          </a:prstGeom>
          <a:noFill/>
          <a:ln/>
        </p:spPr>
        <p:txBody>
          <a:bodyPr wrap="square" lIns="0" tIns="0" rIns="0" bIns="0" rtlCol="0" anchor="t"/>
          <a:lstStyle/>
          <a:p>
            <a:pPr indent="0" marL="0">
              <a:buNone/>
            </a:pPr>
            <a:r>
              <a:rPr lang="en-US" sz="950" dirty="0">
                <a:solidFill>
                  <a:srgbClr val="A8B8CF"/>
                </a:solidFill>
                <a:latin typeface="Segoe UI" pitchFamily="34" charset="0"/>
                <a:ea typeface="Segoe UI" pitchFamily="34" charset="-122"/>
                <a:cs typeface="Segoe UI" pitchFamily="34" charset="-120"/>
              </a:rPr>
              <a:t>PROTOTYPE  |  POLICY-GOVERNED AGENT ACTIONS</a:t>
            </a:r>
            <a:endParaRPr lang="en-US" sz="950" dirty="0"/>
          </a:p>
        </p:txBody>
      </p:sp>
      <p:sp>
        <p:nvSpPr>
          <p:cNvPr id="9" name="s1-text-7"/>
          <p:cNvSpPr/>
          <p:nvPr/>
        </p:nvSpPr>
        <p:spPr>
          <a:xfrm>
            <a:off x="10863072" y="6528816"/>
            <a:ext cx="777240" cy="210312"/>
          </a:xfrm>
          <a:prstGeom prst="rect">
            <a:avLst/>
          </a:prstGeom>
          <a:noFill/>
          <a:ln/>
        </p:spPr>
        <p:txBody>
          <a:bodyPr wrap="square" lIns="0" tIns="0" rIns="0" bIns="0" rtlCol="0" anchor="t"/>
          <a:lstStyle/>
          <a:p>
            <a:pPr algn="r" indent="0" marL="0">
              <a:buNone/>
            </a:pPr>
            <a:r>
              <a:rPr lang="en-US" sz="1100" dirty="0">
                <a:solidFill>
                  <a:srgbClr val="53DDF2"/>
                </a:solidFill>
                <a:latin typeface="Segoe UI" pitchFamily="34" charset="0"/>
                <a:ea typeface="Segoe UI" pitchFamily="34" charset="-122"/>
                <a:cs typeface="Segoe UI" pitchFamily="34" charset="-120"/>
              </a:rPr>
              <a:t>01 / 17</a:t>
            </a:r>
            <a:endParaRPr lang="en-US" sz="1100" dirty="0"/>
          </a:p>
        </p:txBody>
      </p:sp>
      <p:sp>
        <p:nvSpPr>
          <p:cNvPr id="10" name="s1-text-8"/>
          <p:cNvSpPr/>
          <p:nvPr/>
        </p:nvSpPr>
        <p:spPr>
          <a:xfrm>
            <a:off x="548640" y="1874520"/>
            <a:ext cx="6995160" cy="1783080"/>
          </a:xfrm>
          <a:prstGeom prst="rect">
            <a:avLst/>
          </a:prstGeom>
          <a:noFill/>
          <a:ln/>
        </p:spPr>
        <p:txBody>
          <a:bodyPr wrap="square" lIns="0" tIns="0" rIns="0" bIns="0" rtlCol="0" anchor="t"/>
          <a:lstStyle/>
          <a:p>
            <a:pPr indent="0" marL="0">
              <a:buNone/>
            </a:pPr>
            <a:r>
              <a:rPr lang="en-US" sz="4800" b="1" dirty="0">
                <a:solidFill>
                  <a:srgbClr val="F3F7FC"/>
                </a:solidFill>
                <a:latin typeface="Segoe UI" pitchFamily="34" charset="0"/>
                <a:ea typeface="Segoe UI" pitchFamily="34" charset="-122"/>
                <a:cs typeface="Segoe UI" pitchFamily="34" charset="-120"/>
              </a:rPr>
              <a:t>Room to move.</a:t>
            </a:r>
            <a:endParaRPr lang="en-US" sz="4800" dirty="0"/>
          </a:p>
          <a:p>
            <a:pPr indent="0" marL="0">
              <a:buNone/>
            </a:pPr>
            <a:r>
              <a:rPr lang="en-US" sz="4800" b="1" dirty="0">
                <a:solidFill>
                  <a:srgbClr val="F3F7FC"/>
                </a:solidFill>
                <a:latin typeface="Segoe UI" pitchFamily="34" charset="0"/>
                <a:ea typeface="Segoe UI" pitchFamily="34" charset="-122"/>
                <a:cs typeface="Segoe UI" pitchFamily="34" charset="-120"/>
              </a:rPr>
              <a:t>Rules that hold.</a:t>
            </a:r>
            <a:endParaRPr lang="en-US" sz="4800" dirty="0"/>
          </a:p>
        </p:txBody>
      </p:sp>
      <p:sp>
        <p:nvSpPr>
          <p:cNvPr id="11" name="s1-text-9"/>
          <p:cNvSpPr/>
          <p:nvPr/>
        </p:nvSpPr>
        <p:spPr>
          <a:xfrm>
            <a:off x="594360" y="3767328"/>
            <a:ext cx="6720840" cy="1371600"/>
          </a:xfrm>
          <a:prstGeom prst="rect">
            <a:avLst/>
          </a:prstGeom>
          <a:noFill/>
          <a:ln/>
        </p:spPr>
        <p:txBody>
          <a:bodyPr wrap="square" lIns="0" tIns="0" rIns="0" bIns="0" rtlCol="0" anchor="t"/>
          <a:lstStyle/>
          <a:p>
            <a:pPr indent="0" marL="0">
              <a:buNone/>
            </a:pPr>
            <a:r>
              <a:rPr lang="en-US" sz="2000" dirty="0">
                <a:solidFill>
                  <a:srgbClr val="A8B8CF"/>
                </a:solidFill>
                <a:latin typeface="Segoe UI" pitchFamily="34" charset="0"/>
                <a:ea typeface="Segoe UI" pitchFamily="34" charset="-122"/>
                <a:cs typeface="Segoe UI" pitchFamily="34" charset="-120"/>
              </a:rPr>
              <a:t>Agent Airlock checks each mission before takeoff, pauses risky actions for approval,</a:t>
            </a:r>
            <a:endParaRPr lang="en-US" sz="2000" dirty="0"/>
          </a:p>
          <a:p>
            <a:pPr indent="0" marL="0">
              <a:buNone/>
            </a:pPr>
            <a:r>
              <a:rPr lang="en-US" sz="2000" dirty="0">
                <a:solidFill>
                  <a:srgbClr val="A8B8CF"/>
                </a:solidFill>
                <a:latin typeface="Segoe UI" pitchFamily="34" charset="0"/>
                <a:ea typeface="Segoe UI" pitchFamily="34" charset="-122"/>
                <a:cs typeface="Segoe UI" pitchFamily="34" charset="-120"/>
              </a:rPr>
              <a:t>and blocks forbidden actions before they reach real systems.</a:t>
            </a:r>
            <a:endParaRPr lang="en-US" sz="2000" dirty="0"/>
          </a:p>
        </p:txBody>
      </p:sp>
      <p:sp>
        <p:nvSpPr>
          <p:cNvPr id="12" name="Shape 10"/>
          <p:cNvSpPr/>
          <p:nvPr/>
        </p:nvSpPr>
        <p:spPr>
          <a:xfrm>
            <a:off x="8229600" y="2066544"/>
            <a:ext cx="3410712" cy="713232"/>
          </a:xfrm>
          <a:prstGeom prst="roundRect">
            <a:avLst>
              <a:gd name="adj" fmla="val 20513"/>
            </a:avLst>
          </a:prstGeom>
          <a:solidFill>
            <a:srgbClr val="142238"/>
          </a:solidFill>
          <a:ln w="10160">
            <a:solidFill>
              <a:srgbClr val="53DDF2"/>
            </a:solidFill>
            <a:prstDash val="solid"/>
          </a:ln>
        </p:spPr>
      </p:sp>
      <p:sp>
        <p:nvSpPr>
          <p:cNvPr id="13" name="s1-text-10"/>
          <p:cNvSpPr/>
          <p:nvPr/>
        </p:nvSpPr>
        <p:spPr>
          <a:xfrm>
            <a:off x="8449056" y="2295144"/>
            <a:ext cx="2971800" cy="274320"/>
          </a:xfrm>
          <a:prstGeom prst="rect">
            <a:avLst/>
          </a:prstGeom>
          <a:noFill/>
          <a:ln/>
        </p:spPr>
        <p:txBody>
          <a:bodyPr wrap="square" lIns="0" tIns="0" rIns="0" bIns="0" rtlCol="0" anchor="t"/>
          <a:lstStyle/>
          <a:p>
            <a:pPr indent="0" marL="0">
              <a:buNone/>
            </a:pPr>
            <a:r>
              <a:rPr lang="en-US" sz="1900" b="1" dirty="0">
                <a:solidFill>
                  <a:srgbClr val="53DDF2"/>
                </a:solidFill>
                <a:latin typeface="Segoe UI" pitchFamily="34" charset="0"/>
                <a:ea typeface="Segoe UI" pitchFamily="34" charset="-122"/>
                <a:cs typeface="Segoe UI" pitchFamily="34" charset="-120"/>
              </a:rPr>
              <a:t>AGENT PROPOSES</a:t>
            </a:r>
            <a:endParaRPr lang="en-US" sz="1900" dirty="0"/>
          </a:p>
        </p:txBody>
      </p:sp>
      <p:sp>
        <p:nvSpPr>
          <p:cNvPr id="14" name="Shape 12"/>
          <p:cNvSpPr/>
          <p:nvPr/>
        </p:nvSpPr>
        <p:spPr>
          <a:xfrm>
            <a:off x="9912096" y="2834640"/>
            <a:ext cx="0" cy="155448"/>
          </a:xfrm>
          <a:prstGeom prst="line">
            <a:avLst/>
          </a:prstGeom>
          <a:solidFill>
            <a:srgbClr val="142238"/>
          </a:solidFill>
          <a:ln w="22860">
            <a:solidFill>
              <a:srgbClr val="53DDF2"/>
            </a:solidFill>
            <a:prstDash val="solid"/>
            <a:headEnd type="none"/>
            <a:tailEnd type="triangle"/>
          </a:ln>
        </p:spPr>
      </p:sp>
      <p:sp>
        <p:nvSpPr>
          <p:cNvPr id="15" name="Shape 13"/>
          <p:cNvSpPr/>
          <p:nvPr/>
        </p:nvSpPr>
        <p:spPr>
          <a:xfrm>
            <a:off x="8229600" y="3054096"/>
            <a:ext cx="3410712" cy="713232"/>
          </a:xfrm>
          <a:prstGeom prst="roundRect">
            <a:avLst>
              <a:gd name="adj" fmla="val 20513"/>
            </a:avLst>
          </a:prstGeom>
          <a:solidFill>
            <a:srgbClr val="142238"/>
          </a:solidFill>
          <a:ln w="10160">
            <a:solidFill>
              <a:srgbClr val="53DDF2"/>
            </a:solidFill>
            <a:prstDash val="solid"/>
          </a:ln>
        </p:spPr>
      </p:sp>
      <p:sp>
        <p:nvSpPr>
          <p:cNvPr id="16" name="s1-text-11"/>
          <p:cNvSpPr/>
          <p:nvPr/>
        </p:nvSpPr>
        <p:spPr>
          <a:xfrm>
            <a:off x="8449056" y="3282696"/>
            <a:ext cx="2971800" cy="274320"/>
          </a:xfrm>
          <a:prstGeom prst="rect">
            <a:avLst/>
          </a:prstGeom>
          <a:noFill/>
          <a:ln/>
        </p:spPr>
        <p:txBody>
          <a:bodyPr wrap="square" lIns="0" tIns="0" rIns="0" bIns="0" rtlCol="0" anchor="t"/>
          <a:lstStyle/>
          <a:p>
            <a:pPr indent="0" marL="0">
              <a:buNone/>
            </a:pPr>
            <a:r>
              <a:rPr lang="en-US" sz="1900" b="1" dirty="0">
                <a:solidFill>
                  <a:srgbClr val="53DDF2"/>
                </a:solidFill>
                <a:latin typeface="Segoe UI" pitchFamily="34" charset="0"/>
                <a:ea typeface="Segoe UI" pitchFamily="34" charset="-122"/>
                <a:cs typeface="Segoe UI" pitchFamily="34" charset="-120"/>
              </a:rPr>
              <a:t>POLICY DECIDES</a:t>
            </a:r>
            <a:endParaRPr lang="en-US" sz="1900" dirty="0"/>
          </a:p>
        </p:txBody>
      </p:sp>
      <p:sp>
        <p:nvSpPr>
          <p:cNvPr id="17" name="Shape 15"/>
          <p:cNvSpPr/>
          <p:nvPr/>
        </p:nvSpPr>
        <p:spPr>
          <a:xfrm>
            <a:off x="9912096" y="3822192"/>
            <a:ext cx="0" cy="155448"/>
          </a:xfrm>
          <a:prstGeom prst="line">
            <a:avLst/>
          </a:prstGeom>
          <a:solidFill>
            <a:srgbClr val="142238"/>
          </a:solidFill>
          <a:ln w="22860">
            <a:solidFill>
              <a:srgbClr val="53DDF2"/>
            </a:solidFill>
            <a:prstDash val="solid"/>
            <a:headEnd type="none"/>
            <a:tailEnd type="triangle"/>
          </a:ln>
        </p:spPr>
      </p:sp>
      <p:sp>
        <p:nvSpPr>
          <p:cNvPr id="18" name="Shape 16"/>
          <p:cNvSpPr/>
          <p:nvPr/>
        </p:nvSpPr>
        <p:spPr>
          <a:xfrm>
            <a:off x="8229600" y="4041648"/>
            <a:ext cx="3410712" cy="713232"/>
          </a:xfrm>
          <a:prstGeom prst="roundRect">
            <a:avLst>
              <a:gd name="adj" fmla="val 20513"/>
            </a:avLst>
          </a:prstGeom>
          <a:solidFill>
            <a:srgbClr val="142238"/>
          </a:solidFill>
          <a:ln w="10160">
            <a:solidFill>
              <a:srgbClr val="49DCA2"/>
            </a:solidFill>
            <a:prstDash val="solid"/>
          </a:ln>
        </p:spPr>
      </p:sp>
      <p:sp>
        <p:nvSpPr>
          <p:cNvPr id="19" name="s1-text-12"/>
          <p:cNvSpPr/>
          <p:nvPr/>
        </p:nvSpPr>
        <p:spPr>
          <a:xfrm>
            <a:off x="8449056" y="4270248"/>
            <a:ext cx="2971800" cy="274320"/>
          </a:xfrm>
          <a:prstGeom prst="rect">
            <a:avLst/>
          </a:prstGeom>
          <a:noFill/>
          <a:ln/>
        </p:spPr>
        <p:txBody>
          <a:bodyPr wrap="square" lIns="0" tIns="0" rIns="0" bIns="0" rtlCol="0" anchor="t"/>
          <a:lstStyle/>
          <a:p>
            <a:pPr indent="0" marL="0">
              <a:buNone/>
            </a:pPr>
            <a:r>
              <a:rPr lang="en-US" sz="1900" b="1" dirty="0">
                <a:solidFill>
                  <a:srgbClr val="49DCA2"/>
                </a:solidFill>
                <a:latin typeface="Segoe UI" pitchFamily="34" charset="0"/>
                <a:ea typeface="Segoe UI" pitchFamily="34" charset="-122"/>
                <a:cs typeface="Segoe UI" pitchFamily="34" charset="-120"/>
              </a:rPr>
              <a:t>EXECUTE OR STOP</a:t>
            </a:r>
            <a:endParaRPr lang="en-US" sz="1900" dirty="0"/>
          </a:p>
        </p:txBody>
      </p:sp>
      <p:sp>
        <p:nvSpPr>
          <p:cNvPr id="20" name="Shape 18"/>
          <p:cNvSpPr/>
          <p:nvPr/>
        </p:nvSpPr>
        <p:spPr>
          <a:xfrm>
            <a:off x="548640" y="5687568"/>
            <a:ext cx="11091672" cy="585216"/>
          </a:xfrm>
          <a:prstGeom prst="roundRect">
            <a:avLst>
              <a:gd name="adj" fmla="val 25000"/>
            </a:avLst>
          </a:prstGeom>
          <a:solidFill>
            <a:srgbClr val="142238"/>
          </a:solidFill>
          <a:ln w="10160">
            <a:solidFill>
              <a:srgbClr val="2B405B"/>
            </a:solidFill>
            <a:prstDash val="solid"/>
          </a:ln>
        </p:spPr>
      </p:sp>
      <p:sp>
        <p:nvSpPr>
          <p:cNvPr id="21" name="Shape 19"/>
          <p:cNvSpPr/>
          <p:nvPr/>
        </p:nvSpPr>
        <p:spPr>
          <a:xfrm>
            <a:off x="548640" y="5687568"/>
            <a:ext cx="41148" cy="585216"/>
          </a:xfrm>
          <a:prstGeom prst="rect">
            <a:avLst/>
          </a:prstGeom>
          <a:solidFill>
            <a:srgbClr val="53DDF2"/>
          </a:solidFill>
          <a:ln w="12700">
            <a:solidFill>
              <a:srgbClr val="2B405B">
                <a:alpha val="0"/>
              </a:srgbClr>
            </a:solidFill>
            <a:prstDash val="solid"/>
          </a:ln>
        </p:spPr>
      </p:sp>
      <p:sp>
        <p:nvSpPr>
          <p:cNvPr id="22" name="s1-text-13"/>
          <p:cNvSpPr/>
          <p:nvPr/>
        </p:nvSpPr>
        <p:spPr>
          <a:xfrm>
            <a:off x="758952" y="5833872"/>
            <a:ext cx="10652760" cy="292608"/>
          </a:xfrm>
          <a:prstGeom prst="rect">
            <a:avLst/>
          </a:prstGeom>
          <a:noFill/>
          <a:ln/>
        </p:spPr>
        <p:txBody>
          <a:bodyPr wrap="square" lIns="0" tIns="0" rIns="0" bIns="0" rtlCol="0" anchor="t"/>
          <a:lstStyle/>
          <a:p>
            <a:pPr indent="0" marL="0">
              <a:buNone/>
            </a:pPr>
            <a:r>
              <a:rPr lang="en-US" sz="1600" dirty="0">
                <a:solidFill>
                  <a:srgbClr val="53DDF2"/>
                </a:solidFill>
                <a:latin typeface="Segoe UI" pitchFamily="34" charset="0"/>
                <a:ea typeface="Segoe UI" pitchFamily="34" charset="-122"/>
                <a:cs typeface="Segoe UI" pitchFamily="34" charset="-120"/>
              </a:rPr>
              <a:t>THE PROMPT DESCRIBES THE DESTINATION. AGENT AIRLOCK CLEARS THE SAFE PATH.</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s2-text-1"/>
          <p:cNvSpPr/>
          <p:nvPr/>
        </p:nvSpPr>
        <p:spPr>
          <a:xfrm>
            <a:off x="548640" y="219456"/>
            <a:ext cx="2834640" cy="219456"/>
          </a:xfrm>
          <a:prstGeom prst="rect">
            <a:avLst/>
          </a:prstGeom>
          <a:noFill/>
          <a:ln/>
        </p:spPr>
        <p:txBody>
          <a:bodyPr wrap="square" lIns="0" tIns="0" rIns="0" bIns="0" rtlCol="0" anchor="t"/>
          <a:lstStyle/>
          <a:p>
            <a:pPr indent="0" marL="0">
              <a:buNone/>
            </a:pPr>
            <a:r>
              <a:rPr lang="en-US" sz="1300" b="1" spc="80" kern="0" dirty="0">
                <a:solidFill>
                  <a:srgbClr val="53DDF2"/>
                </a:solidFill>
                <a:latin typeface="Segoe UI" pitchFamily="34" charset="0"/>
                <a:ea typeface="Segoe UI" pitchFamily="34" charset="-122"/>
                <a:cs typeface="Segoe UI" pitchFamily="34" charset="-120"/>
              </a:rPr>
              <a:t>AGENT AIRLOCK</a:t>
            </a:r>
            <a:endParaRPr lang="en-US" sz="1300" dirty="0"/>
          </a:p>
        </p:txBody>
      </p:sp>
      <p:sp>
        <p:nvSpPr>
          <p:cNvPr id="3" name="s2-text-2"/>
          <p:cNvSpPr/>
          <p:nvPr/>
        </p:nvSpPr>
        <p:spPr>
          <a:xfrm>
            <a:off x="3657600" y="237744"/>
            <a:ext cx="4663440" cy="201168"/>
          </a:xfrm>
          <a:prstGeom prst="rect">
            <a:avLst/>
          </a:prstGeom>
          <a:noFill/>
          <a:ln/>
        </p:spPr>
        <p:txBody>
          <a:bodyPr wrap="square" lIns="0" tIns="0" rIns="0" bIns="0" rtlCol="0" anchor="t"/>
          <a:lstStyle/>
          <a:p>
            <a:pPr algn="ctr" indent="0" marL="0">
              <a:buNone/>
            </a:pPr>
            <a:r>
              <a:rPr lang="en-US" sz="1100" spc="100" kern="0" dirty="0">
                <a:solidFill>
                  <a:srgbClr val="A8B8CF"/>
                </a:solidFill>
                <a:latin typeface="Segoe UI" pitchFamily="34" charset="0"/>
                <a:ea typeface="Segoe UI" pitchFamily="34" charset="-122"/>
                <a:cs typeface="Segoe UI" pitchFamily="34" charset="-120"/>
              </a:rPr>
              <a:t>WHY</a:t>
            </a:r>
            <a:endParaRPr lang="en-US" sz="1100" dirty="0"/>
          </a:p>
        </p:txBody>
      </p:sp>
      <p:sp>
        <p:nvSpPr>
          <p:cNvPr id="4" name="s2-text-3"/>
          <p:cNvSpPr/>
          <p:nvPr/>
        </p:nvSpPr>
        <p:spPr>
          <a:xfrm>
            <a:off x="8412480" y="237744"/>
            <a:ext cx="3227832" cy="201168"/>
          </a:xfrm>
          <a:prstGeom prst="rect">
            <a:avLst/>
          </a:prstGeom>
          <a:noFill/>
          <a:ln/>
        </p:spPr>
        <p:txBody>
          <a:bodyPr wrap="square" lIns="0" tIns="0" rIns="0" bIns="0" rtlCol="0" anchor="t"/>
          <a:lstStyle/>
          <a:p>
            <a:pPr algn="r" indent="0" marL="0">
              <a:buNone/>
            </a:pPr>
            <a:r>
              <a:rPr lang="en-US" sz="1050" dirty="0">
                <a:solidFill>
                  <a:srgbClr val="A8B8CF"/>
                </a:solidFill>
                <a:latin typeface="Segoe UI" pitchFamily="34" charset="0"/>
                <a:ea typeface="Segoe UI" pitchFamily="34" charset="-122"/>
                <a:cs typeface="Segoe UI" pitchFamily="34" charset="-120"/>
              </a:rPr>
              <a:t>TEAM SHOWCASE</a:t>
            </a:r>
            <a:endParaRPr lang="en-US" sz="1050" dirty="0"/>
          </a:p>
        </p:txBody>
      </p:sp>
      <p:sp>
        <p:nvSpPr>
          <p:cNvPr id="5" name="s2-text-4"/>
          <p:cNvSpPr/>
          <p:nvPr/>
        </p:nvSpPr>
        <p:spPr>
          <a:xfrm>
            <a:off x="548640" y="640080"/>
            <a:ext cx="11091672" cy="914400"/>
          </a:xfrm>
          <a:prstGeom prst="rect">
            <a:avLst/>
          </a:prstGeom>
          <a:noFill/>
          <a:ln/>
        </p:spPr>
        <p:txBody>
          <a:bodyPr wrap="square" lIns="0" tIns="0" rIns="0" bIns="0" rtlCol="0" anchor="t"/>
          <a:lstStyle/>
          <a:p>
            <a:pPr indent="0" marL="0">
              <a:buNone/>
            </a:pPr>
            <a:r>
              <a:rPr lang="en-US" sz="3000" b="1" dirty="0">
                <a:solidFill>
                  <a:srgbClr val="F3F7FC"/>
                </a:solidFill>
                <a:latin typeface="Segoe UI" pitchFamily="34" charset="0"/>
                <a:ea typeface="Segoe UI" pitchFamily="34" charset="-122"/>
                <a:cs typeface="Segoe UI" pitchFamily="34" charset="-120"/>
              </a:rPr>
              <a:t>AI agents have hands now</a:t>
            </a:r>
            <a:endParaRPr lang="en-US" sz="3000" dirty="0"/>
          </a:p>
        </p:txBody>
      </p:sp>
      <p:sp>
        <p:nvSpPr>
          <p:cNvPr id="6" name="s2-text-5"/>
          <p:cNvSpPr/>
          <p:nvPr/>
        </p:nvSpPr>
        <p:spPr>
          <a:xfrm>
            <a:off x="548640" y="1600200"/>
            <a:ext cx="11091672" cy="338328"/>
          </a:xfrm>
          <a:prstGeom prst="rect">
            <a:avLst/>
          </a:prstGeom>
          <a:noFill/>
          <a:ln/>
        </p:spPr>
        <p:txBody>
          <a:bodyPr wrap="square" lIns="0" tIns="0" rIns="0" bIns="0" rtlCol="0" anchor="t"/>
          <a:lstStyle/>
          <a:p>
            <a:pPr indent="0" marL="0">
              <a:buNone/>
            </a:pPr>
            <a:r>
              <a:rPr lang="en-US" sz="1550" dirty="0">
                <a:solidFill>
                  <a:srgbClr val="A8B8CF"/>
                </a:solidFill>
                <a:latin typeface="Segoe UI" pitchFamily="34" charset="0"/>
                <a:ea typeface="Segoe UI" pitchFamily="34" charset="-122"/>
                <a:cs typeface="Segoe UI" pitchFamily="34" charset="-120"/>
              </a:rPr>
              <a:t>They do not only recommend actions; they can reach systems that matter.</a:t>
            </a:r>
            <a:endParaRPr lang="en-US" sz="1550" dirty="0"/>
          </a:p>
        </p:txBody>
      </p:sp>
      <p:sp>
        <p:nvSpPr>
          <p:cNvPr id="7" name="Shape 5"/>
          <p:cNvSpPr/>
          <p:nvPr/>
        </p:nvSpPr>
        <p:spPr>
          <a:xfrm>
            <a:off x="548640" y="6446520"/>
            <a:ext cx="11091672" cy="0"/>
          </a:xfrm>
          <a:prstGeom prst="line">
            <a:avLst/>
          </a:prstGeom>
          <a:solidFill>
            <a:srgbClr val="142238"/>
          </a:solidFill>
          <a:ln w="7620">
            <a:solidFill>
              <a:srgbClr val="2B405B"/>
            </a:solidFill>
            <a:prstDash val="solid"/>
          </a:ln>
        </p:spPr>
      </p:sp>
      <p:sp>
        <p:nvSpPr>
          <p:cNvPr id="8" name="s2-text-6"/>
          <p:cNvSpPr/>
          <p:nvPr/>
        </p:nvSpPr>
        <p:spPr>
          <a:xfrm>
            <a:off x="548640" y="6556248"/>
            <a:ext cx="5852160" cy="164592"/>
          </a:xfrm>
          <a:prstGeom prst="rect">
            <a:avLst/>
          </a:prstGeom>
          <a:noFill/>
          <a:ln/>
        </p:spPr>
        <p:txBody>
          <a:bodyPr wrap="square" lIns="0" tIns="0" rIns="0" bIns="0" rtlCol="0" anchor="t"/>
          <a:lstStyle/>
          <a:p>
            <a:pPr indent="0" marL="0">
              <a:buNone/>
            </a:pPr>
            <a:r>
              <a:rPr lang="en-US" sz="950" dirty="0">
                <a:solidFill>
                  <a:srgbClr val="A8B8CF"/>
                </a:solidFill>
                <a:latin typeface="Segoe UI" pitchFamily="34" charset="0"/>
                <a:ea typeface="Segoe UI" pitchFamily="34" charset="-122"/>
                <a:cs typeface="Segoe UI" pitchFamily="34" charset="-120"/>
              </a:rPr>
              <a:t>PROTOTYPE  |  POLICY-GOVERNED AGENT ACTIONS</a:t>
            </a:r>
            <a:endParaRPr lang="en-US" sz="950" dirty="0"/>
          </a:p>
        </p:txBody>
      </p:sp>
      <p:sp>
        <p:nvSpPr>
          <p:cNvPr id="9" name="s2-text-7"/>
          <p:cNvSpPr/>
          <p:nvPr/>
        </p:nvSpPr>
        <p:spPr>
          <a:xfrm>
            <a:off x="10863072" y="6528816"/>
            <a:ext cx="777240" cy="210312"/>
          </a:xfrm>
          <a:prstGeom prst="rect">
            <a:avLst/>
          </a:prstGeom>
          <a:noFill/>
          <a:ln/>
        </p:spPr>
        <p:txBody>
          <a:bodyPr wrap="square" lIns="0" tIns="0" rIns="0" bIns="0" rtlCol="0" anchor="t"/>
          <a:lstStyle/>
          <a:p>
            <a:pPr algn="r" indent="0" marL="0">
              <a:buNone/>
            </a:pPr>
            <a:r>
              <a:rPr lang="en-US" sz="1100" dirty="0">
                <a:solidFill>
                  <a:srgbClr val="53DDF2"/>
                </a:solidFill>
                <a:latin typeface="Segoe UI" pitchFamily="34" charset="0"/>
                <a:ea typeface="Segoe UI" pitchFamily="34" charset="-122"/>
                <a:cs typeface="Segoe UI" pitchFamily="34" charset="-120"/>
              </a:rPr>
              <a:t>02 / 17</a:t>
            </a:r>
            <a:endParaRPr lang="en-US" sz="1100" dirty="0"/>
          </a:p>
        </p:txBody>
      </p:sp>
      <p:sp>
        <p:nvSpPr>
          <p:cNvPr id="10" name="Shape 8"/>
          <p:cNvSpPr/>
          <p:nvPr/>
        </p:nvSpPr>
        <p:spPr>
          <a:xfrm>
            <a:off x="548640" y="2057400"/>
            <a:ext cx="2622042" cy="3337560"/>
          </a:xfrm>
          <a:prstGeom prst="roundRect">
            <a:avLst>
              <a:gd name="adj" fmla="val 5580"/>
            </a:avLst>
          </a:prstGeom>
          <a:solidFill>
            <a:srgbClr val="142238"/>
          </a:solidFill>
          <a:ln w="10160">
            <a:solidFill>
              <a:srgbClr val="53DDF2"/>
            </a:solidFill>
            <a:prstDash val="solid"/>
          </a:ln>
        </p:spPr>
      </p:sp>
      <p:sp>
        <p:nvSpPr>
          <p:cNvPr id="11" name="s2-text-8"/>
          <p:cNvSpPr/>
          <p:nvPr/>
        </p:nvSpPr>
        <p:spPr>
          <a:xfrm>
            <a:off x="777240" y="2267712"/>
            <a:ext cx="2164842" cy="256032"/>
          </a:xfrm>
          <a:prstGeom prst="rect">
            <a:avLst/>
          </a:prstGeom>
          <a:noFill/>
          <a:ln/>
        </p:spPr>
        <p:txBody>
          <a:bodyPr wrap="square" lIns="0" tIns="0" rIns="0" bIns="0" rtlCol="0" anchor="t"/>
          <a:lstStyle/>
          <a:p>
            <a:pPr indent="0" marL="0">
              <a:buNone/>
            </a:pPr>
            <a:r>
              <a:rPr lang="en-US" sz="1100" b="1" spc="100" kern="0" dirty="0">
                <a:solidFill>
                  <a:srgbClr val="53DDF2"/>
                </a:solidFill>
                <a:latin typeface="Segoe UI" pitchFamily="34" charset="0"/>
                <a:ea typeface="Segoe UI" pitchFamily="34" charset="-122"/>
                <a:cs typeface="Segoe UI" pitchFamily="34" charset="-120"/>
              </a:rPr>
              <a:t>CODE</a:t>
            </a:r>
            <a:endParaRPr lang="en-US" sz="1100" dirty="0"/>
          </a:p>
        </p:txBody>
      </p:sp>
      <p:sp>
        <p:nvSpPr>
          <p:cNvPr id="12" name="s2-text-9"/>
          <p:cNvSpPr/>
          <p:nvPr/>
        </p:nvSpPr>
        <p:spPr>
          <a:xfrm>
            <a:off x="731520" y="2761488"/>
            <a:ext cx="2256282" cy="822960"/>
          </a:xfrm>
          <a:prstGeom prst="rect">
            <a:avLst/>
          </a:prstGeom>
          <a:noFill/>
          <a:ln/>
        </p:spPr>
        <p:txBody>
          <a:bodyPr wrap="square" lIns="0" tIns="0" rIns="0" bIns="0" rtlCol="0" anchor="t"/>
          <a:lstStyle/>
          <a:p>
            <a:pPr indent="0" marL="0">
              <a:buNone/>
            </a:pPr>
            <a:r>
              <a:rPr lang="en-US" sz="2000" b="1" dirty="0">
                <a:solidFill>
                  <a:srgbClr val="F3F7FC"/>
                </a:solidFill>
                <a:latin typeface="Segoe UI" pitchFamily="34" charset="0"/>
                <a:ea typeface="Segoe UI" pitchFamily="34" charset="-122"/>
                <a:cs typeface="Segoe UI" pitchFamily="34" charset="-120"/>
              </a:rPr>
              <a:t>Change repositories</a:t>
            </a:r>
            <a:endParaRPr lang="en-US" sz="2000" dirty="0"/>
          </a:p>
        </p:txBody>
      </p:sp>
      <p:sp>
        <p:nvSpPr>
          <p:cNvPr id="13" name="s2-text-10"/>
          <p:cNvSpPr/>
          <p:nvPr/>
        </p:nvSpPr>
        <p:spPr>
          <a:xfrm>
            <a:off x="777240" y="3739896"/>
            <a:ext cx="2256282" cy="1417320"/>
          </a:xfrm>
          <a:prstGeom prst="rect">
            <a:avLst/>
          </a:prstGeom>
          <a:noFill/>
          <a:ln/>
        </p:spPr>
        <p:txBody>
          <a:bodyPr wrap="square" lIns="0" tIns="0" rIns="0" bIns="0" rtlCol="0" anchor="t"/>
          <a:lstStyle/>
          <a:p>
            <a:pPr indent="0" marL="0">
              <a:buNone/>
            </a:pPr>
            <a:r>
              <a:rPr lang="en-US" sz="1600" dirty="0">
                <a:solidFill>
                  <a:srgbClr val="F3F7FC"/>
                </a:solidFill>
                <a:latin typeface="Segoe UI" pitchFamily="34" charset="0"/>
                <a:ea typeface="Segoe UI" pitchFamily="34" charset="-122"/>
                <a:cs typeface="Segoe UI" pitchFamily="34" charset="-120"/>
              </a:rPr>
              <a:t>Edit files, create branches and prepare pull requests.</a:t>
            </a:r>
            <a:endParaRPr lang="en-US" sz="1600" dirty="0"/>
          </a:p>
        </p:txBody>
      </p:sp>
      <p:sp>
        <p:nvSpPr>
          <p:cNvPr id="14" name="Shape 12"/>
          <p:cNvSpPr/>
          <p:nvPr/>
        </p:nvSpPr>
        <p:spPr>
          <a:xfrm>
            <a:off x="3371850" y="2057400"/>
            <a:ext cx="2622042" cy="3337560"/>
          </a:xfrm>
          <a:prstGeom prst="roundRect">
            <a:avLst>
              <a:gd name="adj" fmla="val 5580"/>
            </a:avLst>
          </a:prstGeom>
          <a:solidFill>
            <a:srgbClr val="142238"/>
          </a:solidFill>
          <a:ln w="10160">
            <a:solidFill>
              <a:srgbClr val="B5A0FF"/>
            </a:solidFill>
            <a:prstDash val="solid"/>
          </a:ln>
        </p:spPr>
      </p:sp>
      <p:sp>
        <p:nvSpPr>
          <p:cNvPr id="15" name="s2-text-11"/>
          <p:cNvSpPr/>
          <p:nvPr/>
        </p:nvSpPr>
        <p:spPr>
          <a:xfrm>
            <a:off x="3600450" y="2267712"/>
            <a:ext cx="2164842" cy="256032"/>
          </a:xfrm>
          <a:prstGeom prst="rect">
            <a:avLst/>
          </a:prstGeom>
          <a:noFill/>
          <a:ln/>
        </p:spPr>
        <p:txBody>
          <a:bodyPr wrap="square" lIns="0" tIns="0" rIns="0" bIns="0" rtlCol="0" anchor="t"/>
          <a:lstStyle/>
          <a:p>
            <a:pPr indent="0" marL="0">
              <a:buNone/>
            </a:pPr>
            <a:r>
              <a:rPr lang="en-US" sz="1100" b="1" spc="100" kern="0" dirty="0">
                <a:solidFill>
                  <a:srgbClr val="B5A0FF"/>
                </a:solidFill>
                <a:latin typeface="Segoe UI" pitchFamily="34" charset="0"/>
                <a:ea typeface="Segoe UI" pitchFamily="34" charset="-122"/>
                <a:cs typeface="Segoe UI" pitchFamily="34" charset="-120"/>
              </a:rPr>
              <a:t>DATA</a:t>
            </a:r>
            <a:endParaRPr lang="en-US" sz="1100" dirty="0"/>
          </a:p>
        </p:txBody>
      </p:sp>
      <p:sp>
        <p:nvSpPr>
          <p:cNvPr id="16" name="s2-text-12"/>
          <p:cNvSpPr/>
          <p:nvPr/>
        </p:nvSpPr>
        <p:spPr>
          <a:xfrm>
            <a:off x="3554730" y="2761488"/>
            <a:ext cx="2256282" cy="822960"/>
          </a:xfrm>
          <a:prstGeom prst="rect">
            <a:avLst/>
          </a:prstGeom>
          <a:noFill/>
          <a:ln/>
        </p:spPr>
        <p:txBody>
          <a:bodyPr wrap="square" lIns="0" tIns="0" rIns="0" bIns="0" rtlCol="0" anchor="t"/>
          <a:lstStyle/>
          <a:p>
            <a:pPr indent="0" marL="0">
              <a:buNone/>
            </a:pPr>
            <a:r>
              <a:rPr lang="en-US" sz="2000" b="1" dirty="0">
                <a:solidFill>
                  <a:srgbClr val="F3F7FC"/>
                </a:solidFill>
                <a:latin typeface="Segoe UI" pitchFamily="34" charset="0"/>
                <a:ea typeface="Segoe UI" pitchFamily="34" charset="-122"/>
                <a:cs typeface="Segoe UI" pitchFamily="34" charset="-120"/>
              </a:rPr>
              <a:t>Move information</a:t>
            </a:r>
            <a:endParaRPr lang="en-US" sz="2000" dirty="0"/>
          </a:p>
        </p:txBody>
      </p:sp>
      <p:sp>
        <p:nvSpPr>
          <p:cNvPr id="17" name="s2-text-13"/>
          <p:cNvSpPr/>
          <p:nvPr/>
        </p:nvSpPr>
        <p:spPr>
          <a:xfrm>
            <a:off x="3600450" y="3739896"/>
            <a:ext cx="2256282" cy="1417320"/>
          </a:xfrm>
          <a:prstGeom prst="rect">
            <a:avLst/>
          </a:prstGeom>
          <a:noFill/>
          <a:ln/>
        </p:spPr>
        <p:txBody>
          <a:bodyPr wrap="square" lIns="0" tIns="0" rIns="0" bIns="0" rtlCol="0" anchor="t"/>
          <a:lstStyle/>
          <a:p>
            <a:pPr indent="0" marL="0">
              <a:buNone/>
            </a:pPr>
            <a:r>
              <a:rPr lang="en-US" sz="1600" dirty="0">
                <a:solidFill>
                  <a:srgbClr val="F3F7FC"/>
                </a:solidFill>
                <a:latin typeface="Segoe UI" pitchFamily="34" charset="0"/>
                <a:ea typeface="Segoe UI" pitchFamily="34" charset="-122"/>
                <a:cs typeface="Segoe UI" pitchFamily="34" charset="-120"/>
              </a:rPr>
              <a:t>Read logs, drafts and enterprise context—then display or publish it.</a:t>
            </a:r>
            <a:endParaRPr lang="en-US" sz="1600" dirty="0"/>
          </a:p>
        </p:txBody>
      </p:sp>
      <p:sp>
        <p:nvSpPr>
          <p:cNvPr id="18" name="Shape 16"/>
          <p:cNvSpPr/>
          <p:nvPr/>
        </p:nvSpPr>
        <p:spPr>
          <a:xfrm>
            <a:off x="6195060" y="2057400"/>
            <a:ext cx="2622042" cy="3337560"/>
          </a:xfrm>
          <a:prstGeom prst="roundRect">
            <a:avLst>
              <a:gd name="adj" fmla="val 5580"/>
            </a:avLst>
          </a:prstGeom>
          <a:solidFill>
            <a:srgbClr val="142238"/>
          </a:solidFill>
          <a:ln w="10160">
            <a:solidFill>
              <a:srgbClr val="FFCE67"/>
            </a:solidFill>
            <a:prstDash val="solid"/>
          </a:ln>
        </p:spPr>
      </p:sp>
      <p:sp>
        <p:nvSpPr>
          <p:cNvPr id="19" name="s2-text-14"/>
          <p:cNvSpPr/>
          <p:nvPr/>
        </p:nvSpPr>
        <p:spPr>
          <a:xfrm>
            <a:off x="6423660" y="2267712"/>
            <a:ext cx="2164842" cy="256032"/>
          </a:xfrm>
          <a:prstGeom prst="rect">
            <a:avLst/>
          </a:prstGeom>
          <a:noFill/>
          <a:ln/>
        </p:spPr>
        <p:txBody>
          <a:bodyPr wrap="square" lIns="0" tIns="0" rIns="0" bIns="0" rtlCol="0" anchor="t"/>
          <a:lstStyle/>
          <a:p>
            <a:pPr indent="0" marL="0">
              <a:buNone/>
            </a:pPr>
            <a:r>
              <a:rPr lang="en-US" sz="1100" b="1" spc="100" kern="0" dirty="0">
                <a:solidFill>
                  <a:srgbClr val="FFCE67"/>
                </a:solidFill>
                <a:latin typeface="Segoe UI" pitchFamily="34" charset="0"/>
                <a:ea typeface="Segoe UI" pitchFamily="34" charset="-122"/>
                <a:cs typeface="Segoe UI" pitchFamily="34" charset="-120"/>
              </a:rPr>
              <a:t>SUPPLY CHAIN</a:t>
            </a:r>
            <a:endParaRPr lang="en-US" sz="1100" dirty="0"/>
          </a:p>
        </p:txBody>
      </p:sp>
      <p:sp>
        <p:nvSpPr>
          <p:cNvPr id="20" name="s2-text-15"/>
          <p:cNvSpPr/>
          <p:nvPr/>
        </p:nvSpPr>
        <p:spPr>
          <a:xfrm>
            <a:off x="6377940" y="2761488"/>
            <a:ext cx="2256282" cy="822960"/>
          </a:xfrm>
          <a:prstGeom prst="rect">
            <a:avLst/>
          </a:prstGeom>
          <a:noFill/>
          <a:ln/>
        </p:spPr>
        <p:txBody>
          <a:bodyPr wrap="square" lIns="0" tIns="0" rIns="0" bIns="0" rtlCol="0" anchor="t"/>
          <a:lstStyle/>
          <a:p>
            <a:pPr indent="0" marL="0">
              <a:buNone/>
            </a:pPr>
            <a:r>
              <a:rPr lang="en-US" sz="2000" b="1" dirty="0">
                <a:solidFill>
                  <a:srgbClr val="F3F7FC"/>
                </a:solidFill>
                <a:latin typeface="Segoe UI" pitchFamily="34" charset="0"/>
                <a:ea typeface="Segoe UI" pitchFamily="34" charset="-122"/>
                <a:cs typeface="Segoe UI" pitchFamily="34" charset="-120"/>
              </a:rPr>
              <a:t>Choose dependencies</a:t>
            </a:r>
            <a:endParaRPr lang="en-US" sz="2000" dirty="0"/>
          </a:p>
        </p:txBody>
      </p:sp>
      <p:sp>
        <p:nvSpPr>
          <p:cNvPr id="21" name="s2-text-16"/>
          <p:cNvSpPr/>
          <p:nvPr/>
        </p:nvSpPr>
        <p:spPr>
          <a:xfrm>
            <a:off x="6423660" y="3739896"/>
            <a:ext cx="2256282" cy="1417320"/>
          </a:xfrm>
          <a:prstGeom prst="rect">
            <a:avLst/>
          </a:prstGeom>
          <a:noFill/>
          <a:ln/>
        </p:spPr>
        <p:txBody>
          <a:bodyPr wrap="square" lIns="0" tIns="0" rIns="0" bIns="0" rtlCol="0" anchor="t"/>
          <a:lstStyle/>
          <a:p>
            <a:pPr indent="0" marL="0">
              <a:buNone/>
            </a:pPr>
            <a:r>
              <a:rPr lang="en-US" sz="1600" dirty="0">
                <a:solidFill>
                  <a:srgbClr val="F3F7FC"/>
                </a:solidFill>
                <a:latin typeface="Segoe UI" pitchFamily="34" charset="0"/>
                <a:ea typeface="Segoe UI" pitchFamily="34" charset="-122"/>
                <a:cs typeface="Segoe UI" pitchFamily="34" charset="-120"/>
              </a:rPr>
              <a:t>Modify manifests, restore packages and introduce new risk.</a:t>
            </a:r>
            <a:endParaRPr lang="en-US" sz="1600" dirty="0"/>
          </a:p>
        </p:txBody>
      </p:sp>
      <p:sp>
        <p:nvSpPr>
          <p:cNvPr id="22" name="Shape 20"/>
          <p:cNvSpPr/>
          <p:nvPr/>
        </p:nvSpPr>
        <p:spPr>
          <a:xfrm>
            <a:off x="9018270" y="2057400"/>
            <a:ext cx="2622042" cy="3337560"/>
          </a:xfrm>
          <a:prstGeom prst="roundRect">
            <a:avLst>
              <a:gd name="adj" fmla="val 5580"/>
            </a:avLst>
          </a:prstGeom>
          <a:solidFill>
            <a:srgbClr val="142238"/>
          </a:solidFill>
          <a:ln w="10160">
            <a:solidFill>
              <a:srgbClr val="FF7C8E"/>
            </a:solidFill>
            <a:prstDash val="solid"/>
          </a:ln>
        </p:spPr>
      </p:sp>
      <p:sp>
        <p:nvSpPr>
          <p:cNvPr id="23" name="s2-text-17"/>
          <p:cNvSpPr/>
          <p:nvPr/>
        </p:nvSpPr>
        <p:spPr>
          <a:xfrm>
            <a:off x="9246870" y="2267712"/>
            <a:ext cx="2164842" cy="256032"/>
          </a:xfrm>
          <a:prstGeom prst="rect">
            <a:avLst/>
          </a:prstGeom>
          <a:noFill/>
          <a:ln/>
        </p:spPr>
        <p:txBody>
          <a:bodyPr wrap="square" lIns="0" tIns="0" rIns="0" bIns="0" rtlCol="0" anchor="t"/>
          <a:lstStyle/>
          <a:p>
            <a:pPr indent="0" marL="0">
              <a:buNone/>
            </a:pPr>
            <a:r>
              <a:rPr lang="en-US" sz="1100" b="1" spc="100" kern="0" dirty="0">
                <a:solidFill>
                  <a:srgbClr val="FF7C8E"/>
                </a:solidFill>
                <a:latin typeface="Segoe UI" pitchFamily="34" charset="0"/>
                <a:ea typeface="Segoe UI" pitchFamily="34" charset="-122"/>
                <a:cs typeface="Segoe UI" pitchFamily="34" charset="-120"/>
              </a:rPr>
              <a:t>OPERATIONS</a:t>
            </a:r>
            <a:endParaRPr lang="en-US" sz="1100" dirty="0"/>
          </a:p>
        </p:txBody>
      </p:sp>
      <p:sp>
        <p:nvSpPr>
          <p:cNvPr id="24" name="s2-text-18"/>
          <p:cNvSpPr/>
          <p:nvPr/>
        </p:nvSpPr>
        <p:spPr>
          <a:xfrm>
            <a:off x="9201150" y="2761488"/>
            <a:ext cx="2256282" cy="822960"/>
          </a:xfrm>
          <a:prstGeom prst="rect">
            <a:avLst/>
          </a:prstGeom>
          <a:noFill/>
          <a:ln/>
        </p:spPr>
        <p:txBody>
          <a:bodyPr wrap="square" lIns="0" tIns="0" rIns="0" bIns="0" rtlCol="0" anchor="t"/>
          <a:lstStyle/>
          <a:p>
            <a:pPr indent="0" marL="0">
              <a:buNone/>
            </a:pPr>
            <a:r>
              <a:rPr lang="en-US" sz="2000" b="1" dirty="0">
                <a:solidFill>
                  <a:srgbClr val="F3F7FC"/>
                </a:solidFill>
                <a:latin typeface="Segoe UI" pitchFamily="34" charset="0"/>
                <a:ea typeface="Segoe UI" pitchFamily="34" charset="-122"/>
                <a:cs typeface="Segoe UI" pitchFamily="34" charset="-120"/>
              </a:rPr>
              <a:t>Trigger effects</a:t>
            </a:r>
            <a:endParaRPr lang="en-US" sz="2000" dirty="0"/>
          </a:p>
        </p:txBody>
      </p:sp>
      <p:sp>
        <p:nvSpPr>
          <p:cNvPr id="25" name="s2-text-19"/>
          <p:cNvSpPr/>
          <p:nvPr/>
        </p:nvSpPr>
        <p:spPr>
          <a:xfrm>
            <a:off x="9246870" y="3739896"/>
            <a:ext cx="2256282" cy="1417320"/>
          </a:xfrm>
          <a:prstGeom prst="rect">
            <a:avLst/>
          </a:prstGeom>
          <a:noFill/>
          <a:ln/>
        </p:spPr>
        <p:txBody>
          <a:bodyPr wrap="square" lIns="0" tIns="0" rIns="0" bIns="0" rtlCol="0" anchor="t"/>
          <a:lstStyle/>
          <a:p>
            <a:pPr indent="0" marL="0">
              <a:buNone/>
            </a:pPr>
            <a:r>
              <a:rPr lang="en-US" sz="1600" dirty="0">
                <a:solidFill>
                  <a:srgbClr val="F3F7FC"/>
                </a:solidFill>
                <a:latin typeface="Segoe UI" pitchFamily="34" charset="0"/>
                <a:ea typeface="Segoe UI" pitchFamily="34" charset="-122"/>
                <a:cs typeface="Segoe UI" pitchFamily="34" charset="-120"/>
              </a:rPr>
              <a:t>Push, publish, invoke models and call external tools.</a:t>
            </a:r>
            <a:endParaRPr lang="en-US" sz="1600" dirty="0"/>
          </a:p>
        </p:txBody>
      </p:sp>
      <p:sp>
        <p:nvSpPr>
          <p:cNvPr id="26" name="Shape 24"/>
          <p:cNvSpPr/>
          <p:nvPr/>
        </p:nvSpPr>
        <p:spPr>
          <a:xfrm>
            <a:off x="548640" y="5687568"/>
            <a:ext cx="11091672" cy="585216"/>
          </a:xfrm>
          <a:prstGeom prst="roundRect">
            <a:avLst>
              <a:gd name="adj" fmla="val 25000"/>
            </a:avLst>
          </a:prstGeom>
          <a:solidFill>
            <a:srgbClr val="142238"/>
          </a:solidFill>
          <a:ln w="10160">
            <a:solidFill>
              <a:srgbClr val="2B405B"/>
            </a:solidFill>
            <a:prstDash val="solid"/>
          </a:ln>
        </p:spPr>
      </p:sp>
      <p:sp>
        <p:nvSpPr>
          <p:cNvPr id="27" name="Shape 25"/>
          <p:cNvSpPr/>
          <p:nvPr/>
        </p:nvSpPr>
        <p:spPr>
          <a:xfrm>
            <a:off x="548640" y="5687568"/>
            <a:ext cx="41148" cy="585216"/>
          </a:xfrm>
          <a:prstGeom prst="rect">
            <a:avLst/>
          </a:prstGeom>
          <a:solidFill>
            <a:srgbClr val="53DDF2"/>
          </a:solidFill>
          <a:ln w="12700">
            <a:solidFill>
              <a:srgbClr val="2B405B">
                <a:alpha val="0"/>
              </a:srgbClr>
            </a:solidFill>
            <a:prstDash val="solid"/>
          </a:ln>
        </p:spPr>
      </p:sp>
      <p:sp>
        <p:nvSpPr>
          <p:cNvPr id="28" name="s2-text-20"/>
          <p:cNvSpPr/>
          <p:nvPr/>
        </p:nvSpPr>
        <p:spPr>
          <a:xfrm>
            <a:off x="758952" y="5833872"/>
            <a:ext cx="10652760" cy="292608"/>
          </a:xfrm>
          <a:prstGeom prst="rect">
            <a:avLst/>
          </a:prstGeom>
          <a:noFill/>
          <a:ln/>
        </p:spPr>
        <p:txBody>
          <a:bodyPr wrap="square" lIns="0" tIns="0" rIns="0" bIns="0" rtlCol="0" anchor="t"/>
          <a:lstStyle/>
          <a:p>
            <a:pPr indent="0" marL="0">
              <a:buNone/>
            </a:pPr>
            <a:r>
              <a:rPr lang="en-US" sz="1600" dirty="0">
                <a:solidFill>
                  <a:srgbClr val="53DDF2"/>
                </a:solidFill>
                <a:latin typeface="Segoe UI" pitchFamily="34" charset="0"/>
                <a:ea typeface="Segoe UI" pitchFamily="34" charset="-122"/>
                <a:cs typeface="Segoe UI" pitchFamily="34" charset="-120"/>
              </a:rPr>
              <a:t>The risk is not that the agent can reason. The risk is that reasoning can become an effect.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s3-text-1"/>
          <p:cNvSpPr/>
          <p:nvPr/>
        </p:nvSpPr>
        <p:spPr>
          <a:xfrm>
            <a:off x="548640" y="219456"/>
            <a:ext cx="2834640" cy="219456"/>
          </a:xfrm>
          <a:prstGeom prst="rect">
            <a:avLst/>
          </a:prstGeom>
          <a:noFill/>
          <a:ln/>
        </p:spPr>
        <p:txBody>
          <a:bodyPr wrap="square" lIns="0" tIns="0" rIns="0" bIns="0" rtlCol="0" anchor="t"/>
          <a:lstStyle/>
          <a:p>
            <a:pPr indent="0" marL="0">
              <a:buNone/>
            </a:pPr>
            <a:r>
              <a:rPr lang="en-US" sz="1300" b="1" spc="80" kern="0" dirty="0">
                <a:solidFill>
                  <a:srgbClr val="53DDF2"/>
                </a:solidFill>
                <a:latin typeface="Segoe UI" pitchFamily="34" charset="0"/>
                <a:ea typeface="Segoe UI" pitchFamily="34" charset="-122"/>
                <a:cs typeface="Segoe UI" pitchFamily="34" charset="-120"/>
              </a:rPr>
              <a:t>AGENT AIRLOCK</a:t>
            </a:r>
            <a:endParaRPr lang="en-US" sz="1300" dirty="0"/>
          </a:p>
        </p:txBody>
      </p:sp>
      <p:sp>
        <p:nvSpPr>
          <p:cNvPr id="3" name="s3-text-2"/>
          <p:cNvSpPr/>
          <p:nvPr/>
        </p:nvSpPr>
        <p:spPr>
          <a:xfrm>
            <a:off x="3657600" y="237744"/>
            <a:ext cx="4663440" cy="201168"/>
          </a:xfrm>
          <a:prstGeom prst="rect">
            <a:avLst/>
          </a:prstGeom>
          <a:noFill/>
          <a:ln/>
        </p:spPr>
        <p:txBody>
          <a:bodyPr wrap="square" lIns="0" tIns="0" rIns="0" bIns="0" rtlCol="0" anchor="t"/>
          <a:lstStyle/>
          <a:p>
            <a:pPr algn="ctr" indent="0" marL="0">
              <a:buNone/>
            </a:pPr>
            <a:r>
              <a:rPr lang="en-US" sz="1100" spc="100" kern="0" dirty="0">
                <a:solidFill>
                  <a:srgbClr val="A8B8CF"/>
                </a:solidFill>
                <a:latin typeface="Segoe UI" pitchFamily="34" charset="0"/>
                <a:ea typeface="Segoe UI" pitchFamily="34" charset="-122"/>
                <a:cs typeface="Segoe UI" pitchFamily="34" charset="-120"/>
              </a:rPr>
              <a:t>WHY</a:t>
            </a:r>
            <a:endParaRPr lang="en-US" sz="1100" dirty="0"/>
          </a:p>
        </p:txBody>
      </p:sp>
      <p:sp>
        <p:nvSpPr>
          <p:cNvPr id="4" name="s3-text-3"/>
          <p:cNvSpPr/>
          <p:nvPr/>
        </p:nvSpPr>
        <p:spPr>
          <a:xfrm>
            <a:off x="8412480" y="237744"/>
            <a:ext cx="3227832" cy="201168"/>
          </a:xfrm>
          <a:prstGeom prst="rect">
            <a:avLst/>
          </a:prstGeom>
          <a:noFill/>
          <a:ln/>
        </p:spPr>
        <p:txBody>
          <a:bodyPr wrap="square" lIns="0" tIns="0" rIns="0" bIns="0" rtlCol="0" anchor="t"/>
          <a:lstStyle/>
          <a:p>
            <a:pPr algn="r" indent="0" marL="0">
              <a:buNone/>
            </a:pPr>
            <a:r>
              <a:rPr lang="en-US" sz="1050" dirty="0">
                <a:solidFill>
                  <a:srgbClr val="A8B8CF"/>
                </a:solidFill>
                <a:latin typeface="Segoe UI" pitchFamily="34" charset="0"/>
                <a:ea typeface="Segoe UI" pitchFamily="34" charset="-122"/>
                <a:cs typeface="Segoe UI" pitchFamily="34" charset="-120"/>
              </a:rPr>
              <a:t>TEAM SHOWCASE</a:t>
            </a:r>
            <a:endParaRPr lang="en-US" sz="1050" dirty="0"/>
          </a:p>
        </p:txBody>
      </p:sp>
      <p:sp>
        <p:nvSpPr>
          <p:cNvPr id="5" name="s3-text-4"/>
          <p:cNvSpPr/>
          <p:nvPr/>
        </p:nvSpPr>
        <p:spPr>
          <a:xfrm>
            <a:off x="548640" y="640080"/>
            <a:ext cx="11091672" cy="914400"/>
          </a:xfrm>
          <a:prstGeom prst="rect">
            <a:avLst/>
          </a:prstGeom>
          <a:noFill/>
          <a:ln/>
        </p:spPr>
        <p:txBody>
          <a:bodyPr wrap="square" lIns="0" tIns="0" rIns="0" bIns="0" rtlCol="0" anchor="t"/>
          <a:lstStyle/>
          <a:p>
            <a:pPr indent="0" marL="0">
              <a:buNone/>
            </a:pPr>
            <a:r>
              <a:rPr lang="en-US" sz="2800" b="1" dirty="0">
                <a:solidFill>
                  <a:srgbClr val="F3F7FC"/>
                </a:solidFill>
                <a:latin typeface="Segoe UI" pitchFamily="34" charset="0"/>
                <a:ea typeface="Segoe UI" pitchFamily="34" charset="-122"/>
                <a:cs typeface="Segoe UI" pitchFamily="34" charset="-120"/>
              </a:rPr>
              <a:t>Instructions shape behavior. They do not create a security boundary.</a:t>
            </a:r>
            <a:endParaRPr lang="en-US" sz="2800" dirty="0"/>
          </a:p>
        </p:txBody>
      </p:sp>
      <p:sp>
        <p:nvSpPr>
          <p:cNvPr id="6" name="s3-text-5"/>
          <p:cNvSpPr/>
          <p:nvPr/>
        </p:nvSpPr>
        <p:spPr>
          <a:xfrm>
            <a:off x="548640" y="1600200"/>
            <a:ext cx="11091672" cy="338328"/>
          </a:xfrm>
          <a:prstGeom prst="rect">
            <a:avLst/>
          </a:prstGeom>
          <a:noFill/>
          <a:ln/>
        </p:spPr>
        <p:txBody>
          <a:bodyPr wrap="square" lIns="0" tIns="0" rIns="0" bIns="0" rtlCol="0" anchor="t"/>
          <a:lstStyle/>
          <a:p>
            <a:pPr indent="0" marL="0">
              <a:buNone/>
            </a:pPr>
            <a:r>
              <a:rPr lang="en-US" sz="1550" dirty="0">
                <a:solidFill>
                  <a:srgbClr val="A8B8CF"/>
                </a:solidFill>
                <a:latin typeface="Segoe UI" pitchFamily="34" charset="0"/>
                <a:ea typeface="Segoe UI" pitchFamily="34" charset="-122"/>
                <a:cs typeface="Segoe UI" pitchFamily="34" charset="-120"/>
              </a:rPr>
              <a:t>Repository and personal instructions are useful guidance, but the agent still needs a separate permission layer.</a:t>
            </a:r>
            <a:endParaRPr lang="en-US" sz="1550" dirty="0"/>
          </a:p>
        </p:txBody>
      </p:sp>
      <p:sp>
        <p:nvSpPr>
          <p:cNvPr id="7" name="Shape 5"/>
          <p:cNvSpPr/>
          <p:nvPr/>
        </p:nvSpPr>
        <p:spPr>
          <a:xfrm>
            <a:off x="548640" y="6446520"/>
            <a:ext cx="11091672" cy="0"/>
          </a:xfrm>
          <a:prstGeom prst="line">
            <a:avLst/>
          </a:prstGeom>
          <a:solidFill>
            <a:srgbClr val="142238"/>
          </a:solidFill>
          <a:ln w="7620">
            <a:solidFill>
              <a:srgbClr val="2B405B"/>
            </a:solidFill>
            <a:prstDash val="solid"/>
          </a:ln>
        </p:spPr>
      </p:sp>
      <p:sp>
        <p:nvSpPr>
          <p:cNvPr id="8" name="s3-text-6"/>
          <p:cNvSpPr/>
          <p:nvPr/>
        </p:nvSpPr>
        <p:spPr>
          <a:xfrm>
            <a:off x="548640" y="6556248"/>
            <a:ext cx="5852160" cy="164592"/>
          </a:xfrm>
          <a:prstGeom prst="rect">
            <a:avLst/>
          </a:prstGeom>
          <a:noFill/>
          <a:ln/>
        </p:spPr>
        <p:txBody>
          <a:bodyPr wrap="square" lIns="0" tIns="0" rIns="0" bIns="0" rtlCol="0" anchor="t"/>
          <a:lstStyle/>
          <a:p>
            <a:pPr indent="0" marL="0">
              <a:buNone/>
            </a:pPr>
            <a:r>
              <a:rPr lang="en-US" sz="950" dirty="0">
                <a:solidFill>
                  <a:srgbClr val="A8B8CF"/>
                </a:solidFill>
                <a:latin typeface="Segoe UI" pitchFamily="34" charset="0"/>
                <a:ea typeface="Segoe UI" pitchFamily="34" charset="-122"/>
                <a:cs typeface="Segoe UI" pitchFamily="34" charset="-120"/>
              </a:rPr>
              <a:t>PROTOTYPE  |  POLICY-GOVERNED AGENT ACTIONS</a:t>
            </a:r>
            <a:endParaRPr lang="en-US" sz="950" dirty="0"/>
          </a:p>
        </p:txBody>
      </p:sp>
      <p:sp>
        <p:nvSpPr>
          <p:cNvPr id="9" name="s3-text-7"/>
          <p:cNvSpPr/>
          <p:nvPr/>
        </p:nvSpPr>
        <p:spPr>
          <a:xfrm>
            <a:off x="10863072" y="6528816"/>
            <a:ext cx="777240" cy="210312"/>
          </a:xfrm>
          <a:prstGeom prst="rect">
            <a:avLst/>
          </a:prstGeom>
          <a:noFill/>
          <a:ln/>
        </p:spPr>
        <p:txBody>
          <a:bodyPr wrap="square" lIns="0" tIns="0" rIns="0" bIns="0" rtlCol="0" anchor="t"/>
          <a:lstStyle/>
          <a:p>
            <a:pPr algn="r" indent="0" marL="0">
              <a:buNone/>
            </a:pPr>
            <a:r>
              <a:rPr lang="en-US" sz="1100" dirty="0">
                <a:solidFill>
                  <a:srgbClr val="53DDF2"/>
                </a:solidFill>
                <a:latin typeface="Segoe UI" pitchFamily="34" charset="0"/>
                <a:ea typeface="Segoe UI" pitchFamily="34" charset="-122"/>
                <a:cs typeface="Segoe UI" pitchFamily="34" charset="-120"/>
              </a:rPr>
              <a:t>03 / 17</a:t>
            </a:r>
            <a:endParaRPr lang="en-US" sz="1100" dirty="0"/>
          </a:p>
        </p:txBody>
      </p:sp>
      <p:sp>
        <p:nvSpPr>
          <p:cNvPr id="10" name="Shape 8"/>
          <p:cNvSpPr/>
          <p:nvPr/>
        </p:nvSpPr>
        <p:spPr>
          <a:xfrm>
            <a:off x="548640" y="2011680"/>
            <a:ext cx="2194560" cy="420624"/>
          </a:xfrm>
          <a:prstGeom prst="rect">
            <a:avLst/>
          </a:prstGeom>
          <a:solidFill>
            <a:srgbClr val="203650"/>
          </a:solidFill>
          <a:ln w="12700">
            <a:solidFill>
              <a:srgbClr val="2B405B">
                <a:alpha val="0"/>
              </a:srgbClr>
            </a:solidFill>
            <a:prstDash val="solid"/>
          </a:ln>
        </p:spPr>
      </p:sp>
      <p:sp>
        <p:nvSpPr>
          <p:cNvPr id="11" name="s3-text-8"/>
          <p:cNvSpPr/>
          <p:nvPr/>
        </p:nvSpPr>
        <p:spPr>
          <a:xfrm>
            <a:off x="713232" y="2121408"/>
            <a:ext cx="1865376" cy="201168"/>
          </a:xfrm>
          <a:prstGeom prst="rect">
            <a:avLst/>
          </a:prstGeom>
          <a:noFill/>
          <a:ln/>
        </p:spPr>
        <p:txBody>
          <a:bodyPr wrap="square" lIns="0" tIns="0" rIns="0" bIns="0" rtlCol="0" anchor="t"/>
          <a:lstStyle/>
          <a:p>
            <a:pPr indent="0" marL="0">
              <a:buNone/>
            </a:pPr>
            <a:r>
              <a:rPr lang="en-US" sz="1100" b="1" dirty="0">
                <a:solidFill>
                  <a:srgbClr val="53DDF2"/>
                </a:solidFill>
                <a:latin typeface="Segoe UI" pitchFamily="34" charset="0"/>
                <a:ea typeface="Segoe UI" pitchFamily="34" charset="-122"/>
                <a:cs typeface="Segoe UI" pitchFamily="34" charset="-120"/>
              </a:rPr>
              <a:t>CONTROL</a:t>
            </a:r>
            <a:endParaRPr lang="en-US" sz="1100" dirty="0"/>
          </a:p>
        </p:txBody>
      </p:sp>
      <p:sp>
        <p:nvSpPr>
          <p:cNvPr id="12" name="Shape 10"/>
          <p:cNvSpPr/>
          <p:nvPr/>
        </p:nvSpPr>
        <p:spPr>
          <a:xfrm>
            <a:off x="2743200" y="2011680"/>
            <a:ext cx="3840480" cy="420624"/>
          </a:xfrm>
          <a:prstGeom prst="rect">
            <a:avLst/>
          </a:prstGeom>
          <a:solidFill>
            <a:srgbClr val="203650"/>
          </a:solidFill>
          <a:ln w="12700">
            <a:solidFill>
              <a:srgbClr val="2B405B">
                <a:alpha val="0"/>
              </a:srgbClr>
            </a:solidFill>
            <a:prstDash val="solid"/>
          </a:ln>
        </p:spPr>
      </p:sp>
      <p:sp>
        <p:nvSpPr>
          <p:cNvPr id="13" name="s3-text-9"/>
          <p:cNvSpPr/>
          <p:nvPr/>
        </p:nvSpPr>
        <p:spPr>
          <a:xfrm>
            <a:off x="2907792" y="2121408"/>
            <a:ext cx="3511296" cy="201168"/>
          </a:xfrm>
          <a:prstGeom prst="rect">
            <a:avLst/>
          </a:prstGeom>
          <a:noFill/>
          <a:ln/>
        </p:spPr>
        <p:txBody>
          <a:bodyPr wrap="square" lIns="0" tIns="0" rIns="0" bIns="0" rtlCol="0" anchor="t"/>
          <a:lstStyle/>
          <a:p>
            <a:pPr indent="0" marL="0">
              <a:buNone/>
            </a:pPr>
            <a:r>
              <a:rPr lang="en-US" sz="1100" b="1" dirty="0">
                <a:solidFill>
                  <a:srgbClr val="53DDF2"/>
                </a:solidFill>
                <a:latin typeface="Segoe UI" pitchFamily="34" charset="0"/>
                <a:ea typeface="Segoe UI" pitchFamily="34" charset="-122"/>
                <a:cs typeface="Segoe UI" pitchFamily="34" charset="-120"/>
              </a:rPr>
              <a:t>GOOD FOR</a:t>
            </a:r>
            <a:endParaRPr lang="en-US" sz="1100" dirty="0"/>
          </a:p>
        </p:txBody>
      </p:sp>
      <p:sp>
        <p:nvSpPr>
          <p:cNvPr id="14" name="Shape 12"/>
          <p:cNvSpPr/>
          <p:nvPr/>
        </p:nvSpPr>
        <p:spPr>
          <a:xfrm>
            <a:off x="6583680" y="2011680"/>
            <a:ext cx="5056632" cy="420624"/>
          </a:xfrm>
          <a:prstGeom prst="rect">
            <a:avLst/>
          </a:prstGeom>
          <a:solidFill>
            <a:srgbClr val="203650"/>
          </a:solidFill>
          <a:ln w="12700">
            <a:solidFill>
              <a:srgbClr val="2B405B">
                <a:alpha val="0"/>
              </a:srgbClr>
            </a:solidFill>
            <a:prstDash val="solid"/>
          </a:ln>
        </p:spPr>
      </p:sp>
      <p:sp>
        <p:nvSpPr>
          <p:cNvPr id="15" name="s3-text-10"/>
          <p:cNvSpPr/>
          <p:nvPr/>
        </p:nvSpPr>
        <p:spPr>
          <a:xfrm>
            <a:off x="6748272" y="2121408"/>
            <a:ext cx="4727448" cy="201168"/>
          </a:xfrm>
          <a:prstGeom prst="rect">
            <a:avLst/>
          </a:prstGeom>
          <a:noFill/>
          <a:ln/>
        </p:spPr>
        <p:txBody>
          <a:bodyPr wrap="square" lIns="0" tIns="0" rIns="0" bIns="0" rtlCol="0" anchor="t"/>
          <a:lstStyle/>
          <a:p>
            <a:pPr indent="0" marL="0">
              <a:buNone/>
            </a:pPr>
            <a:r>
              <a:rPr lang="en-US" sz="1100" b="1" dirty="0">
                <a:solidFill>
                  <a:srgbClr val="53DDF2"/>
                </a:solidFill>
                <a:latin typeface="Segoe UI" pitchFamily="34" charset="0"/>
                <a:ea typeface="Segoe UI" pitchFamily="34" charset="-122"/>
                <a:cs typeface="Segoe UI" pitchFamily="34" charset="-120"/>
              </a:rPr>
              <a:t>WHY IT IS NOT ENFORCEMENT</a:t>
            </a:r>
            <a:endParaRPr lang="en-US" sz="1100" dirty="0"/>
          </a:p>
        </p:txBody>
      </p:sp>
      <p:sp>
        <p:nvSpPr>
          <p:cNvPr id="16" name="Shape 14"/>
          <p:cNvSpPr/>
          <p:nvPr/>
        </p:nvSpPr>
        <p:spPr>
          <a:xfrm>
            <a:off x="548640" y="2459736"/>
            <a:ext cx="2162556" cy="690372"/>
          </a:xfrm>
          <a:prstGeom prst="rect">
            <a:avLst/>
          </a:prstGeom>
          <a:solidFill>
            <a:srgbClr val="142238"/>
          </a:solidFill>
          <a:ln w="12700">
            <a:solidFill>
              <a:srgbClr val="2B405B">
                <a:alpha val="0"/>
              </a:srgbClr>
            </a:solidFill>
            <a:prstDash val="solid"/>
          </a:ln>
        </p:spPr>
      </p:sp>
      <p:sp>
        <p:nvSpPr>
          <p:cNvPr id="17" name="s3-text-11"/>
          <p:cNvSpPr/>
          <p:nvPr/>
        </p:nvSpPr>
        <p:spPr>
          <a:xfrm>
            <a:off x="694944" y="2551176"/>
            <a:ext cx="2011680" cy="603504"/>
          </a:xfrm>
          <a:prstGeom prst="rect">
            <a:avLst/>
          </a:prstGeom>
          <a:noFill/>
          <a:ln/>
        </p:spPr>
        <p:txBody>
          <a:bodyPr wrap="square" lIns="0" tIns="0" rIns="0" bIns="0" rtlCol="0" anchor="t"/>
          <a:lstStyle/>
          <a:p>
            <a:pPr indent="0" marL="0">
              <a:buNone/>
            </a:pPr>
            <a:r>
              <a:rPr lang="en-US" sz="1500" b="1" dirty="0">
                <a:solidFill>
                  <a:srgbClr val="F3F7FC"/>
                </a:solidFill>
                <a:latin typeface="Segoe UI" pitchFamily="34" charset="0"/>
                <a:ea typeface="Segoe UI" pitchFamily="34" charset="-122"/>
                <a:cs typeface="Segoe UI" pitchFamily="34" charset="-120"/>
              </a:rPr>
              <a:t>Prompt</a:t>
            </a:r>
            <a:endParaRPr lang="en-US" sz="1500" dirty="0"/>
          </a:p>
        </p:txBody>
      </p:sp>
      <p:sp>
        <p:nvSpPr>
          <p:cNvPr id="18" name="Shape 16"/>
          <p:cNvSpPr/>
          <p:nvPr/>
        </p:nvSpPr>
        <p:spPr>
          <a:xfrm>
            <a:off x="2743200" y="2459736"/>
            <a:ext cx="3808476" cy="690372"/>
          </a:xfrm>
          <a:prstGeom prst="rect">
            <a:avLst/>
          </a:prstGeom>
          <a:solidFill>
            <a:srgbClr val="142238"/>
          </a:solidFill>
          <a:ln w="12700">
            <a:solidFill>
              <a:srgbClr val="2B405B">
                <a:alpha val="0"/>
              </a:srgbClr>
            </a:solidFill>
            <a:prstDash val="solid"/>
          </a:ln>
        </p:spPr>
      </p:sp>
      <p:sp>
        <p:nvSpPr>
          <p:cNvPr id="19" name="s3-text-12"/>
          <p:cNvSpPr/>
          <p:nvPr/>
        </p:nvSpPr>
        <p:spPr>
          <a:xfrm>
            <a:off x="2889504" y="2551176"/>
            <a:ext cx="3657600" cy="603504"/>
          </a:xfrm>
          <a:prstGeom prst="rect">
            <a:avLst/>
          </a:prstGeom>
          <a:noFill/>
          <a:ln/>
        </p:spPr>
        <p:txBody>
          <a:bodyPr wrap="square" lIns="0" tIns="0" rIns="0" bIns="0" rtlCol="0" anchor="t"/>
          <a:lstStyle/>
          <a:p>
            <a:pPr indent="0" marL="0">
              <a:buNone/>
            </a:pPr>
            <a:r>
              <a:rPr lang="en-US" sz="1500" dirty="0">
                <a:solidFill>
                  <a:srgbClr val="A8B8CF"/>
                </a:solidFill>
                <a:latin typeface="Segoe UI" pitchFamily="34" charset="0"/>
                <a:ea typeface="Segoe UI" pitchFamily="34" charset="-122"/>
                <a:cs typeface="Segoe UI" pitchFamily="34" charset="-120"/>
              </a:rPr>
              <a:t>Describing the desired outcome</a:t>
            </a:r>
            <a:endParaRPr lang="en-US" sz="1500" dirty="0"/>
          </a:p>
        </p:txBody>
      </p:sp>
      <p:sp>
        <p:nvSpPr>
          <p:cNvPr id="20" name="Shape 18"/>
          <p:cNvSpPr/>
          <p:nvPr/>
        </p:nvSpPr>
        <p:spPr>
          <a:xfrm>
            <a:off x="6583680" y="2459736"/>
            <a:ext cx="5024628" cy="690372"/>
          </a:xfrm>
          <a:prstGeom prst="rect">
            <a:avLst/>
          </a:prstGeom>
          <a:solidFill>
            <a:srgbClr val="142238"/>
          </a:solidFill>
          <a:ln w="12700">
            <a:solidFill>
              <a:srgbClr val="2B405B">
                <a:alpha val="0"/>
              </a:srgbClr>
            </a:solidFill>
            <a:prstDash val="solid"/>
          </a:ln>
        </p:spPr>
      </p:sp>
      <p:sp>
        <p:nvSpPr>
          <p:cNvPr id="21" name="s3-text-13"/>
          <p:cNvSpPr/>
          <p:nvPr/>
        </p:nvSpPr>
        <p:spPr>
          <a:xfrm>
            <a:off x="6729984" y="2551176"/>
            <a:ext cx="4873752" cy="603504"/>
          </a:xfrm>
          <a:prstGeom prst="rect">
            <a:avLst/>
          </a:prstGeom>
          <a:noFill/>
          <a:ln/>
        </p:spPr>
        <p:txBody>
          <a:bodyPr wrap="square" lIns="0" tIns="0" rIns="0" bIns="0" rtlCol="0" anchor="t"/>
          <a:lstStyle/>
          <a:p>
            <a:pPr indent="0" marL="0">
              <a:buNone/>
            </a:pPr>
            <a:r>
              <a:rPr lang="en-US" sz="1500" dirty="0">
                <a:solidFill>
                  <a:srgbClr val="A8B8CF"/>
                </a:solidFill>
                <a:latin typeface="Segoe UI" pitchFamily="34" charset="0"/>
                <a:ea typeface="Segoe UI" pitchFamily="34" charset="-122"/>
                <a:cs typeface="Segoe UI" pitchFamily="34" charset="-120"/>
              </a:rPr>
              <a:t>Untrusted text can request exceptions or conflict with policy</a:t>
            </a:r>
            <a:endParaRPr lang="en-US" sz="1500" dirty="0"/>
          </a:p>
        </p:txBody>
      </p:sp>
      <p:sp>
        <p:nvSpPr>
          <p:cNvPr id="22" name="Shape 20"/>
          <p:cNvSpPr/>
          <p:nvPr/>
        </p:nvSpPr>
        <p:spPr>
          <a:xfrm>
            <a:off x="548640" y="3191256"/>
            <a:ext cx="2162556" cy="690372"/>
          </a:xfrm>
          <a:prstGeom prst="rect">
            <a:avLst/>
          </a:prstGeom>
          <a:solidFill>
            <a:srgbClr val="0F1B2D"/>
          </a:solidFill>
          <a:ln w="12700">
            <a:solidFill>
              <a:srgbClr val="2B405B">
                <a:alpha val="0"/>
              </a:srgbClr>
            </a:solidFill>
            <a:prstDash val="solid"/>
          </a:ln>
        </p:spPr>
      </p:sp>
      <p:sp>
        <p:nvSpPr>
          <p:cNvPr id="23" name="s3-text-14"/>
          <p:cNvSpPr/>
          <p:nvPr/>
        </p:nvSpPr>
        <p:spPr>
          <a:xfrm>
            <a:off x="694944" y="3282696"/>
            <a:ext cx="2011680" cy="603504"/>
          </a:xfrm>
          <a:prstGeom prst="rect">
            <a:avLst/>
          </a:prstGeom>
          <a:noFill/>
          <a:ln/>
        </p:spPr>
        <p:txBody>
          <a:bodyPr wrap="square" lIns="0" tIns="0" rIns="0" bIns="0" rtlCol="0" anchor="t"/>
          <a:lstStyle/>
          <a:p>
            <a:pPr indent="0" marL="0">
              <a:buNone/>
            </a:pPr>
            <a:r>
              <a:rPr lang="en-US" sz="1500" b="1" dirty="0">
                <a:solidFill>
                  <a:srgbClr val="F3F7FC"/>
                </a:solidFill>
                <a:latin typeface="Segoe UI" pitchFamily="34" charset="0"/>
                <a:ea typeface="Segoe UI" pitchFamily="34" charset="-122"/>
                <a:cs typeface="Segoe UI" pitchFamily="34" charset="-120"/>
              </a:rPr>
              <a:t>Repo instructions</a:t>
            </a:r>
            <a:endParaRPr lang="en-US" sz="1500" dirty="0"/>
          </a:p>
        </p:txBody>
      </p:sp>
      <p:sp>
        <p:nvSpPr>
          <p:cNvPr id="24" name="Shape 22"/>
          <p:cNvSpPr/>
          <p:nvPr/>
        </p:nvSpPr>
        <p:spPr>
          <a:xfrm>
            <a:off x="2743200" y="3191256"/>
            <a:ext cx="3808476" cy="690372"/>
          </a:xfrm>
          <a:prstGeom prst="rect">
            <a:avLst/>
          </a:prstGeom>
          <a:solidFill>
            <a:srgbClr val="0F1B2D"/>
          </a:solidFill>
          <a:ln w="12700">
            <a:solidFill>
              <a:srgbClr val="2B405B">
                <a:alpha val="0"/>
              </a:srgbClr>
            </a:solidFill>
            <a:prstDash val="solid"/>
          </a:ln>
        </p:spPr>
      </p:sp>
      <p:sp>
        <p:nvSpPr>
          <p:cNvPr id="25" name="s3-text-15"/>
          <p:cNvSpPr/>
          <p:nvPr/>
        </p:nvSpPr>
        <p:spPr>
          <a:xfrm>
            <a:off x="2889504" y="3282696"/>
            <a:ext cx="3657600" cy="603504"/>
          </a:xfrm>
          <a:prstGeom prst="rect">
            <a:avLst/>
          </a:prstGeom>
          <a:noFill/>
          <a:ln/>
        </p:spPr>
        <p:txBody>
          <a:bodyPr wrap="square" lIns="0" tIns="0" rIns="0" bIns="0" rtlCol="0" anchor="t"/>
          <a:lstStyle/>
          <a:p>
            <a:pPr indent="0" marL="0">
              <a:buNone/>
            </a:pPr>
            <a:r>
              <a:rPr lang="en-US" sz="1500" dirty="0">
                <a:solidFill>
                  <a:srgbClr val="A8B8CF"/>
                </a:solidFill>
                <a:latin typeface="Segoe UI" pitchFamily="34" charset="0"/>
                <a:ea typeface="Segoe UI" pitchFamily="34" charset="-122"/>
                <a:cs typeface="Segoe UI" pitchFamily="34" charset="-120"/>
              </a:rPr>
              <a:t>Coding conventions and workflow</a:t>
            </a:r>
            <a:endParaRPr lang="en-US" sz="1500" dirty="0"/>
          </a:p>
        </p:txBody>
      </p:sp>
      <p:sp>
        <p:nvSpPr>
          <p:cNvPr id="26" name="Shape 24"/>
          <p:cNvSpPr/>
          <p:nvPr/>
        </p:nvSpPr>
        <p:spPr>
          <a:xfrm>
            <a:off x="6583680" y="3191256"/>
            <a:ext cx="5024628" cy="690372"/>
          </a:xfrm>
          <a:prstGeom prst="rect">
            <a:avLst/>
          </a:prstGeom>
          <a:solidFill>
            <a:srgbClr val="0F1B2D"/>
          </a:solidFill>
          <a:ln w="12700">
            <a:solidFill>
              <a:srgbClr val="2B405B">
                <a:alpha val="0"/>
              </a:srgbClr>
            </a:solidFill>
            <a:prstDash val="solid"/>
          </a:ln>
        </p:spPr>
      </p:sp>
      <p:sp>
        <p:nvSpPr>
          <p:cNvPr id="27" name="s3-text-16"/>
          <p:cNvSpPr/>
          <p:nvPr/>
        </p:nvSpPr>
        <p:spPr>
          <a:xfrm>
            <a:off x="6729984" y="3282696"/>
            <a:ext cx="4873752" cy="603504"/>
          </a:xfrm>
          <a:prstGeom prst="rect">
            <a:avLst/>
          </a:prstGeom>
          <a:noFill/>
          <a:ln/>
        </p:spPr>
        <p:txBody>
          <a:bodyPr wrap="square" lIns="0" tIns="0" rIns="0" bIns="0" rtlCol="0" anchor="t"/>
          <a:lstStyle/>
          <a:p>
            <a:pPr indent="0" marL="0">
              <a:buNone/>
            </a:pPr>
            <a:r>
              <a:rPr lang="en-US" sz="1500" dirty="0">
                <a:solidFill>
                  <a:srgbClr val="A8B8CF"/>
                </a:solidFill>
                <a:latin typeface="Segoe UI" pitchFamily="34" charset="0"/>
                <a:ea typeface="Segoe UI" pitchFamily="34" charset="-122"/>
                <a:cs typeface="Segoe UI" pitchFamily="34" charset="-120"/>
              </a:rPr>
              <a:t>Owned with the workload and interpreted by the model</a:t>
            </a:r>
            <a:endParaRPr lang="en-US" sz="1500" dirty="0"/>
          </a:p>
        </p:txBody>
      </p:sp>
      <p:sp>
        <p:nvSpPr>
          <p:cNvPr id="28" name="Shape 26"/>
          <p:cNvSpPr/>
          <p:nvPr/>
        </p:nvSpPr>
        <p:spPr>
          <a:xfrm>
            <a:off x="548640" y="3922776"/>
            <a:ext cx="2162556" cy="690372"/>
          </a:xfrm>
          <a:prstGeom prst="rect">
            <a:avLst/>
          </a:prstGeom>
          <a:solidFill>
            <a:srgbClr val="142238"/>
          </a:solidFill>
          <a:ln w="12700">
            <a:solidFill>
              <a:srgbClr val="2B405B">
                <a:alpha val="0"/>
              </a:srgbClr>
            </a:solidFill>
            <a:prstDash val="solid"/>
          </a:ln>
        </p:spPr>
      </p:sp>
      <p:sp>
        <p:nvSpPr>
          <p:cNvPr id="29" name="s3-text-17"/>
          <p:cNvSpPr/>
          <p:nvPr/>
        </p:nvSpPr>
        <p:spPr>
          <a:xfrm>
            <a:off x="694944" y="4014216"/>
            <a:ext cx="2011680" cy="603504"/>
          </a:xfrm>
          <a:prstGeom prst="rect">
            <a:avLst/>
          </a:prstGeom>
          <a:noFill/>
          <a:ln/>
        </p:spPr>
        <p:txBody>
          <a:bodyPr wrap="square" lIns="0" tIns="0" rIns="0" bIns="0" rtlCol="0" anchor="t"/>
          <a:lstStyle/>
          <a:p>
            <a:pPr indent="0" marL="0">
              <a:buNone/>
            </a:pPr>
            <a:r>
              <a:rPr lang="en-US" sz="1500" b="1" dirty="0">
                <a:solidFill>
                  <a:srgbClr val="F3F7FC"/>
                </a:solidFill>
                <a:latin typeface="Segoe UI" pitchFamily="34" charset="0"/>
                <a:ea typeface="Segoe UI" pitchFamily="34" charset="-122"/>
                <a:cs typeface="Segoe UI" pitchFamily="34" charset="-120"/>
              </a:rPr>
              <a:t>Personal instructions</a:t>
            </a:r>
            <a:endParaRPr lang="en-US" sz="1500" dirty="0"/>
          </a:p>
        </p:txBody>
      </p:sp>
      <p:sp>
        <p:nvSpPr>
          <p:cNvPr id="30" name="Shape 28"/>
          <p:cNvSpPr/>
          <p:nvPr/>
        </p:nvSpPr>
        <p:spPr>
          <a:xfrm>
            <a:off x="2743200" y="3922776"/>
            <a:ext cx="3808476" cy="690372"/>
          </a:xfrm>
          <a:prstGeom prst="rect">
            <a:avLst/>
          </a:prstGeom>
          <a:solidFill>
            <a:srgbClr val="142238"/>
          </a:solidFill>
          <a:ln w="12700">
            <a:solidFill>
              <a:srgbClr val="2B405B">
                <a:alpha val="0"/>
              </a:srgbClr>
            </a:solidFill>
            <a:prstDash val="solid"/>
          </a:ln>
        </p:spPr>
      </p:sp>
      <p:sp>
        <p:nvSpPr>
          <p:cNvPr id="31" name="s3-text-18"/>
          <p:cNvSpPr/>
          <p:nvPr/>
        </p:nvSpPr>
        <p:spPr>
          <a:xfrm>
            <a:off x="2889504" y="4014216"/>
            <a:ext cx="3657600" cy="603504"/>
          </a:xfrm>
          <a:prstGeom prst="rect">
            <a:avLst/>
          </a:prstGeom>
          <a:noFill/>
          <a:ln/>
        </p:spPr>
        <p:txBody>
          <a:bodyPr wrap="square" lIns="0" tIns="0" rIns="0" bIns="0" rtlCol="0" anchor="t"/>
          <a:lstStyle/>
          <a:p>
            <a:pPr indent="0" marL="0">
              <a:buNone/>
            </a:pPr>
            <a:r>
              <a:rPr lang="en-US" sz="1500" dirty="0">
                <a:solidFill>
                  <a:srgbClr val="A8B8CF"/>
                </a:solidFill>
                <a:latin typeface="Segoe UI" pitchFamily="34" charset="0"/>
                <a:ea typeface="Segoe UI" pitchFamily="34" charset="-122"/>
                <a:cs typeface="Segoe UI" pitchFamily="34" charset="-120"/>
              </a:rPr>
              <a:t>Developer preferences</a:t>
            </a:r>
            <a:endParaRPr lang="en-US" sz="1500" dirty="0"/>
          </a:p>
        </p:txBody>
      </p:sp>
      <p:sp>
        <p:nvSpPr>
          <p:cNvPr id="32" name="Shape 30"/>
          <p:cNvSpPr/>
          <p:nvPr/>
        </p:nvSpPr>
        <p:spPr>
          <a:xfrm>
            <a:off x="6583680" y="3922776"/>
            <a:ext cx="5024628" cy="690372"/>
          </a:xfrm>
          <a:prstGeom prst="rect">
            <a:avLst/>
          </a:prstGeom>
          <a:solidFill>
            <a:srgbClr val="142238"/>
          </a:solidFill>
          <a:ln w="12700">
            <a:solidFill>
              <a:srgbClr val="2B405B">
                <a:alpha val="0"/>
              </a:srgbClr>
            </a:solidFill>
            <a:prstDash val="solid"/>
          </a:ln>
        </p:spPr>
      </p:sp>
      <p:sp>
        <p:nvSpPr>
          <p:cNvPr id="33" name="s3-text-19"/>
          <p:cNvSpPr/>
          <p:nvPr/>
        </p:nvSpPr>
        <p:spPr>
          <a:xfrm>
            <a:off x="6729984" y="4014216"/>
            <a:ext cx="4873752" cy="603504"/>
          </a:xfrm>
          <a:prstGeom prst="rect">
            <a:avLst/>
          </a:prstGeom>
          <a:noFill/>
          <a:ln/>
        </p:spPr>
        <p:txBody>
          <a:bodyPr wrap="square" lIns="0" tIns="0" rIns="0" bIns="0" rtlCol="0" anchor="t"/>
          <a:lstStyle/>
          <a:p>
            <a:pPr indent="0" marL="0">
              <a:buNone/>
            </a:pPr>
            <a:r>
              <a:rPr lang="en-US" sz="1500" dirty="0">
                <a:solidFill>
                  <a:srgbClr val="A8B8CF"/>
                </a:solidFill>
                <a:latin typeface="Segoe UI" pitchFamily="34" charset="0"/>
                <a:ea typeface="Segoe UI" pitchFamily="34" charset="-122"/>
                <a:cs typeface="Segoe UI" pitchFamily="34" charset="-120"/>
              </a:rPr>
              <a:t>Different users can carry different guidance</a:t>
            </a:r>
            <a:endParaRPr lang="en-US" sz="1500" dirty="0"/>
          </a:p>
        </p:txBody>
      </p:sp>
      <p:sp>
        <p:nvSpPr>
          <p:cNvPr id="34" name="Shape 32"/>
          <p:cNvSpPr/>
          <p:nvPr/>
        </p:nvSpPr>
        <p:spPr>
          <a:xfrm>
            <a:off x="548640" y="4654296"/>
            <a:ext cx="2162556" cy="690372"/>
          </a:xfrm>
          <a:prstGeom prst="rect">
            <a:avLst/>
          </a:prstGeom>
          <a:solidFill>
            <a:srgbClr val="0F1B2D"/>
          </a:solidFill>
          <a:ln w="12700">
            <a:solidFill>
              <a:srgbClr val="2B405B">
                <a:alpha val="0"/>
              </a:srgbClr>
            </a:solidFill>
            <a:prstDash val="solid"/>
          </a:ln>
        </p:spPr>
      </p:sp>
      <p:sp>
        <p:nvSpPr>
          <p:cNvPr id="35" name="s3-text-20"/>
          <p:cNvSpPr/>
          <p:nvPr/>
        </p:nvSpPr>
        <p:spPr>
          <a:xfrm>
            <a:off x="694944" y="4745736"/>
            <a:ext cx="2011680" cy="603504"/>
          </a:xfrm>
          <a:prstGeom prst="rect">
            <a:avLst/>
          </a:prstGeom>
          <a:noFill/>
          <a:ln/>
        </p:spPr>
        <p:txBody>
          <a:bodyPr wrap="square" lIns="0" tIns="0" rIns="0" bIns="0" rtlCol="0" anchor="t"/>
          <a:lstStyle/>
          <a:p>
            <a:pPr indent="0" marL="0">
              <a:buNone/>
            </a:pPr>
            <a:r>
              <a:rPr lang="en-US" sz="1500" b="1" dirty="0">
                <a:solidFill>
                  <a:srgbClr val="F3F7FC"/>
                </a:solidFill>
                <a:latin typeface="Segoe UI" pitchFamily="34" charset="0"/>
                <a:ea typeface="Segoe UI" pitchFamily="34" charset="-122"/>
                <a:cs typeface="Segoe UI" pitchFamily="34" charset="-120"/>
              </a:rPr>
              <a:t>Airlock policy</a:t>
            </a:r>
            <a:endParaRPr lang="en-US" sz="1500" dirty="0"/>
          </a:p>
        </p:txBody>
      </p:sp>
      <p:sp>
        <p:nvSpPr>
          <p:cNvPr id="36" name="Shape 34"/>
          <p:cNvSpPr/>
          <p:nvPr/>
        </p:nvSpPr>
        <p:spPr>
          <a:xfrm>
            <a:off x="2743200" y="4654296"/>
            <a:ext cx="3808476" cy="690372"/>
          </a:xfrm>
          <a:prstGeom prst="rect">
            <a:avLst/>
          </a:prstGeom>
          <a:solidFill>
            <a:srgbClr val="0F1B2D"/>
          </a:solidFill>
          <a:ln w="12700">
            <a:solidFill>
              <a:srgbClr val="2B405B">
                <a:alpha val="0"/>
              </a:srgbClr>
            </a:solidFill>
            <a:prstDash val="solid"/>
          </a:ln>
        </p:spPr>
      </p:sp>
      <p:sp>
        <p:nvSpPr>
          <p:cNvPr id="37" name="s3-text-21"/>
          <p:cNvSpPr/>
          <p:nvPr/>
        </p:nvSpPr>
        <p:spPr>
          <a:xfrm>
            <a:off x="2889504" y="4745736"/>
            <a:ext cx="3657600" cy="603504"/>
          </a:xfrm>
          <a:prstGeom prst="rect">
            <a:avLst/>
          </a:prstGeom>
          <a:noFill/>
          <a:ln/>
        </p:spPr>
        <p:txBody>
          <a:bodyPr wrap="square" lIns="0" tIns="0" rIns="0" bIns="0" rtlCol="0" anchor="t"/>
          <a:lstStyle/>
          <a:p>
            <a:pPr indent="0" marL="0">
              <a:buNone/>
            </a:pPr>
            <a:r>
              <a:rPr lang="en-US" sz="1500" dirty="0">
                <a:solidFill>
                  <a:srgbClr val="A8B8CF"/>
                </a:solidFill>
                <a:latin typeface="Segoe UI" pitchFamily="34" charset="0"/>
                <a:ea typeface="Segoe UI" pitchFamily="34" charset="-122"/>
                <a:cs typeface="Segoe UI" pitchFamily="34" charset="-120"/>
              </a:rPr>
              <a:t>Permission for protected effects</a:t>
            </a:r>
            <a:endParaRPr lang="en-US" sz="1500" dirty="0"/>
          </a:p>
        </p:txBody>
      </p:sp>
      <p:sp>
        <p:nvSpPr>
          <p:cNvPr id="38" name="Shape 36"/>
          <p:cNvSpPr/>
          <p:nvPr/>
        </p:nvSpPr>
        <p:spPr>
          <a:xfrm>
            <a:off x="6583680" y="4654296"/>
            <a:ext cx="5024628" cy="690372"/>
          </a:xfrm>
          <a:prstGeom prst="rect">
            <a:avLst/>
          </a:prstGeom>
          <a:solidFill>
            <a:srgbClr val="0F1B2D"/>
          </a:solidFill>
          <a:ln w="12700">
            <a:solidFill>
              <a:srgbClr val="2B405B">
                <a:alpha val="0"/>
              </a:srgbClr>
            </a:solidFill>
            <a:prstDash val="solid"/>
          </a:ln>
        </p:spPr>
      </p:sp>
      <p:sp>
        <p:nvSpPr>
          <p:cNvPr id="39" name="s3-text-22"/>
          <p:cNvSpPr/>
          <p:nvPr/>
        </p:nvSpPr>
        <p:spPr>
          <a:xfrm>
            <a:off x="6729984" y="4745736"/>
            <a:ext cx="4873752" cy="603504"/>
          </a:xfrm>
          <a:prstGeom prst="rect">
            <a:avLst/>
          </a:prstGeom>
          <a:noFill/>
          <a:ln/>
        </p:spPr>
        <p:txBody>
          <a:bodyPr wrap="square" lIns="0" tIns="0" rIns="0" bIns="0" rtlCol="0" anchor="t"/>
          <a:lstStyle/>
          <a:p>
            <a:pPr indent="0" marL="0">
              <a:buNone/>
            </a:pPr>
            <a:r>
              <a:rPr lang="en-US" sz="1500" dirty="0">
                <a:solidFill>
                  <a:srgbClr val="A8B8CF"/>
                </a:solidFill>
                <a:latin typeface="Segoe UI" pitchFamily="34" charset="0"/>
                <a:ea typeface="Segoe UI" pitchFamily="34" charset="-122"/>
                <a:cs typeface="Segoe UI" pitchFamily="34" charset="-120"/>
              </a:rPr>
              <a:t>Trusted code evaluates a structured action before execution</a:t>
            </a:r>
            <a:endParaRPr lang="en-US" sz="1500" dirty="0"/>
          </a:p>
        </p:txBody>
      </p:sp>
      <p:sp>
        <p:nvSpPr>
          <p:cNvPr id="40" name="Shape 38"/>
          <p:cNvSpPr/>
          <p:nvPr/>
        </p:nvSpPr>
        <p:spPr>
          <a:xfrm>
            <a:off x="548640" y="5687568"/>
            <a:ext cx="11091672" cy="585216"/>
          </a:xfrm>
          <a:prstGeom prst="roundRect">
            <a:avLst>
              <a:gd name="adj" fmla="val 25000"/>
            </a:avLst>
          </a:prstGeom>
          <a:solidFill>
            <a:srgbClr val="142238"/>
          </a:solidFill>
          <a:ln w="10160">
            <a:solidFill>
              <a:srgbClr val="2B405B"/>
            </a:solidFill>
            <a:prstDash val="solid"/>
          </a:ln>
        </p:spPr>
      </p:sp>
      <p:sp>
        <p:nvSpPr>
          <p:cNvPr id="41" name="Shape 39"/>
          <p:cNvSpPr/>
          <p:nvPr/>
        </p:nvSpPr>
        <p:spPr>
          <a:xfrm>
            <a:off x="548640" y="5687568"/>
            <a:ext cx="41148" cy="585216"/>
          </a:xfrm>
          <a:prstGeom prst="rect">
            <a:avLst/>
          </a:prstGeom>
          <a:solidFill>
            <a:srgbClr val="53DDF2"/>
          </a:solidFill>
          <a:ln w="12700">
            <a:solidFill>
              <a:srgbClr val="2B405B">
                <a:alpha val="0"/>
              </a:srgbClr>
            </a:solidFill>
            <a:prstDash val="solid"/>
          </a:ln>
        </p:spPr>
      </p:sp>
      <p:sp>
        <p:nvSpPr>
          <p:cNvPr id="42" name="s3-text-23"/>
          <p:cNvSpPr/>
          <p:nvPr/>
        </p:nvSpPr>
        <p:spPr>
          <a:xfrm>
            <a:off x="758952" y="5833872"/>
            <a:ext cx="10652760" cy="292608"/>
          </a:xfrm>
          <a:prstGeom prst="rect">
            <a:avLst/>
          </a:prstGeom>
          <a:noFill/>
          <a:ln/>
        </p:spPr>
        <p:txBody>
          <a:bodyPr wrap="square" lIns="0" tIns="0" rIns="0" bIns="0" rtlCol="0" anchor="t"/>
          <a:lstStyle/>
          <a:p>
            <a:pPr indent="0" marL="0">
              <a:buNone/>
            </a:pPr>
            <a:r>
              <a:rPr lang="en-US" sz="1600" dirty="0">
                <a:solidFill>
                  <a:srgbClr val="53DDF2"/>
                </a:solidFill>
                <a:latin typeface="Segoe UI" pitchFamily="34" charset="0"/>
                <a:ea typeface="Segoe UI" pitchFamily="34" charset="-122"/>
                <a:cs typeface="Segoe UI" pitchFamily="34" charset="-120"/>
              </a:rPr>
              <a:t>Guidance can influence the proposal. Only the guarded path controls the effect.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s4-text-1"/>
          <p:cNvSpPr/>
          <p:nvPr/>
        </p:nvSpPr>
        <p:spPr>
          <a:xfrm>
            <a:off x="548640" y="219456"/>
            <a:ext cx="2834640" cy="219456"/>
          </a:xfrm>
          <a:prstGeom prst="rect">
            <a:avLst/>
          </a:prstGeom>
          <a:noFill/>
          <a:ln/>
        </p:spPr>
        <p:txBody>
          <a:bodyPr wrap="square" lIns="0" tIns="0" rIns="0" bIns="0" rtlCol="0" anchor="t"/>
          <a:lstStyle/>
          <a:p>
            <a:pPr indent="0" marL="0">
              <a:buNone/>
            </a:pPr>
            <a:r>
              <a:rPr lang="en-US" sz="1300" b="1" spc="80" kern="0" dirty="0">
                <a:solidFill>
                  <a:srgbClr val="53DDF2"/>
                </a:solidFill>
                <a:latin typeface="Segoe UI" pitchFamily="34" charset="0"/>
                <a:ea typeface="Segoe UI" pitchFamily="34" charset="-122"/>
                <a:cs typeface="Segoe UI" pitchFamily="34" charset="-120"/>
              </a:rPr>
              <a:t>AGENT AIRLOCK</a:t>
            </a:r>
            <a:endParaRPr lang="en-US" sz="1300" dirty="0"/>
          </a:p>
        </p:txBody>
      </p:sp>
      <p:sp>
        <p:nvSpPr>
          <p:cNvPr id="3" name="s4-text-2"/>
          <p:cNvSpPr/>
          <p:nvPr/>
        </p:nvSpPr>
        <p:spPr>
          <a:xfrm>
            <a:off x="3657600" y="237744"/>
            <a:ext cx="4663440" cy="201168"/>
          </a:xfrm>
          <a:prstGeom prst="rect">
            <a:avLst/>
          </a:prstGeom>
          <a:noFill/>
          <a:ln/>
        </p:spPr>
        <p:txBody>
          <a:bodyPr wrap="square" lIns="0" tIns="0" rIns="0" bIns="0" rtlCol="0" anchor="t"/>
          <a:lstStyle/>
          <a:p>
            <a:pPr algn="ctr" indent="0" marL="0">
              <a:buNone/>
            </a:pPr>
            <a:r>
              <a:rPr lang="en-US" sz="1100" spc="100" kern="0" dirty="0">
                <a:solidFill>
                  <a:srgbClr val="A8B8CF"/>
                </a:solidFill>
                <a:latin typeface="Segoe UI" pitchFamily="34" charset="0"/>
                <a:ea typeface="Segoe UI" pitchFamily="34" charset="-122"/>
                <a:cs typeface="Segoe UI" pitchFamily="34" charset="-120"/>
              </a:rPr>
              <a:t>CONCEPT</a:t>
            </a:r>
            <a:endParaRPr lang="en-US" sz="1100" dirty="0"/>
          </a:p>
        </p:txBody>
      </p:sp>
      <p:sp>
        <p:nvSpPr>
          <p:cNvPr id="4" name="s4-text-3"/>
          <p:cNvSpPr/>
          <p:nvPr/>
        </p:nvSpPr>
        <p:spPr>
          <a:xfrm>
            <a:off x="8412480" y="237744"/>
            <a:ext cx="3227832" cy="201168"/>
          </a:xfrm>
          <a:prstGeom prst="rect">
            <a:avLst/>
          </a:prstGeom>
          <a:noFill/>
          <a:ln/>
        </p:spPr>
        <p:txBody>
          <a:bodyPr wrap="square" lIns="0" tIns="0" rIns="0" bIns="0" rtlCol="0" anchor="t"/>
          <a:lstStyle/>
          <a:p>
            <a:pPr algn="r" indent="0" marL="0">
              <a:buNone/>
            </a:pPr>
            <a:r>
              <a:rPr lang="en-US" sz="1050" dirty="0">
                <a:solidFill>
                  <a:srgbClr val="A8B8CF"/>
                </a:solidFill>
                <a:latin typeface="Segoe UI" pitchFamily="34" charset="0"/>
                <a:ea typeface="Segoe UI" pitchFamily="34" charset="-122"/>
                <a:cs typeface="Segoe UI" pitchFamily="34" charset="-120"/>
              </a:rPr>
              <a:t>TEAM SHOWCASE</a:t>
            </a:r>
            <a:endParaRPr lang="en-US" sz="1050" dirty="0"/>
          </a:p>
        </p:txBody>
      </p:sp>
      <p:sp>
        <p:nvSpPr>
          <p:cNvPr id="5" name="s4-text-4"/>
          <p:cNvSpPr/>
          <p:nvPr/>
        </p:nvSpPr>
        <p:spPr>
          <a:xfrm>
            <a:off x="548640" y="640080"/>
            <a:ext cx="11091672" cy="914400"/>
          </a:xfrm>
          <a:prstGeom prst="rect">
            <a:avLst/>
          </a:prstGeom>
          <a:noFill/>
          <a:ln/>
        </p:spPr>
        <p:txBody>
          <a:bodyPr wrap="square" lIns="0" tIns="0" rIns="0" bIns="0" rtlCol="0" anchor="t"/>
          <a:lstStyle/>
          <a:p>
            <a:pPr indent="0" marL="0">
              <a:buNone/>
            </a:pPr>
            <a:r>
              <a:rPr lang="en-US" sz="3000" b="1" dirty="0">
                <a:solidFill>
                  <a:srgbClr val="F3F7FC"/>
                </a:solidFill>
                <a:latin typeface="Segoe UI" pitchFamily="34" charset="0"/>
                <a:ea typeface="Segoe UI" pitchFamily="34" charset="-122"/>
                <a:cs typeface="Segoe UI" pitchFamily="34" charset="-120"/>
              </a:rPr>
              <a:t>Put a controlled boundary between intent and effect</a:t>
            </a:r>
            <a:endParaRPr lang="en-US" sz="3000" dirty="0"/>
          </a:p>
        </p:txBody>
      </p:sp>
      <p:sp>
        <p:nvSpPr>
          <p:cNvPr id="6" name="s4-text-5"/>
          <p:cNvSpPr/>
          <p:nvPr/>
        </p:nvSpPr>
        <p:spPr>
          <a:xfrm>
            <a:off x="548640" y="1600200"/>
            <a:ext cx="11091672" cy="338328"/>
          </a:xfrm>
          <a:prstGeom prst="rect">
            <a:avLst/>
          </a:prstGeom>
          <a:noFill/>
          <a:ln/>
        </p:spPr>
        <p:txBody>
          <a:bodyPr wrap="square" lIns="0" tIns="0" rIns="0" bIns="0" rtlCol="0" anchor="t"/>
          <a:lstStyle/>
          <a:p>
            <a:pPr indent="0" marL="0">
              <a:buNone/>
            </a:pPr>
            <a:r>
              <a:rPr lang="en-US" sz="1550" dirty="0">
                <a:solidFill>
                  <a:srgbClr val="A8B8CF"/>
                </a:solidFill>
                <a:latin typeface="Segoe UI" pitchFamily="34" charset="0"/>
                <a:ea typeface="Segoe UI" pitchFamily="34" charset="-122"/>
                <a:cs typeface="Segoe UI" pitchFamily="34" charset="-120"/>
              </a:rPr>
              <a:t>Let the agent explore inside; guard the operations that leave the chamber.</a:t>
            </a:r>
            <a:endParaRPr lang="en-US" sz="1550" dirty="0"/>
          </a:p>
        </p:txBody>
      </p:sp>
      <p:sp>
        <p:nvSpPr>
          <p:cNvPr id="7" name="Shape 5"/>
          <p:cNvSpPr/>
          <p:nvPr/>
        </p:nvSpPr>
        <p:spPr>
          <a:xfrm>
            <a:off x="548640" y="6446520"/>
            <a:ext cx="11091672" cy="0"/>
          </a:xfrm>
          <a:prstGeom prst="line">
            <a:avLst/>
          </a:prstGeom>
          <a:solidFill>
            <a:srgbClr val="142238"/>
          </a:solidFill>
          <a:ln w="7620">
            <a:solidFill>
              <a:srgbClr val="2B405B"/>
            </a:solidFill>
            <a:prstDash val="solid"/>
          </a:ln>
        </p:spPr>
      </p:sp>
      <p:sp>
        <p:nvSpPr>
          <p:cNvPr id="8" name="s4-text-6"/>
          <p:cNvSpPr/>
          <p:nvPr/>
        </p:nvSpPr>
        <p:spPr>
          <a:xfrm>
            <a:off x="548640" y="6556248"/>
            <a:ext cx="5852160" cy="164592"/>
          </a:xfrm>
          <a:prstGeom prst="rect">
            <a:avLst/>
          </a:prstGeom>
          <a:noFill/>
          <a:ln/>
        </p:spPr>
        <p:txBody>
          <a:bodyPr wrap="square" lIns="0" tIns="0" rIns="0" bIns="0" rtlCol="0" anchor="t"/>
          <a:lstStyle/>
          <a:p>
            <a:pPr indent="0" marL="0">
              <a:buNone/>
            </a:pPr>
            <a:r>
              <a:rPr lang="en-US" sz="950" dirty="0">
                <a:solidFill>
                  <a:srgbClr val="A8B8CF"/>
                </a:solidFill>
                <a:latin typeface="Segoe UI" pitchFamily="34" charset="0"/>
                <a:ea typeface="Segoe UI" pitchFamily="34" charset="-122"/>
                <a:cs typeface="Segoe UI" pitchFamily="34" charset="-120"/>
              </a:rPr>
              <a:t>PROTOTYPE  |  POLICY-GOVERNED AGENT ACTIONS</a:t>
            </a:r>
            <a:endParaRPr lang="en-US" sz="950" dirty="0"/>
          </a:p>
        </p:txBody>
      </p:sp>
      <p:sp>
        <p:nvSpPr>
          <p:cNvPr id="9" name="s4-text-7"/>
          <p:cNvSpPr/>
          <p:nvPr/>
        </p:nvSpPr>
        <p:spPr>
          <a:xfrm>
            <a:off x="10863072" y="6528816"/>
            <a:ext cx="777240" cy="210312"/>
          </a:xfrm>
          <a:prstGeom prst="rect">
            <a:avLst/>
          </a:prstGeom>
          <a:noFill/>
          <a:ln/>
        </p:spPr>
        <p:txBody>
          <a:bodyPr wrap="square" lIns="0" tIns="0" rIns="0" bIns="0" rtlCol="0" anchor="t"/>
          <a:lstStyle/>
          <a:p>
            <a:pPr algn="r" indent="0" marL="0">
              <a:buNone/>
            </a:pPr>
            <a:r>
              <a:rPr lang="en-US" sz="1100" dirty="0">
                <a:solidFill>
                  <a:srgbClr val="53DDF2"/>
                </a:solidFill>
                <a:latin typeface="Segoe UI" pitchFamily="34" charset="0"/>
                <a:ea typeface="Segoe UI" pitchFamily="34" charset="-122"/>
                <a:cs typeface="Segoe UI" pitchFamily="34" charset="-120"/>
              </a:rPr>
              <a:t>04 / 17</a:t>
            </a:r>
            <a:endParaRPr lang="en-US" sz="1100" dirty="0"/>
          </a:p>
        </p:txBody>
      </p:sp>
      <p:sp>
        <p:nvSpPr>
          <p:cNvPr id="10" name="Shape 8"/>
          <p:cNvSpPr/>
          <p:nvPr/>
        </p:nvSpPr>
        <p:spPr>
          <a:xfrm>
            <a:off x="640080" y="1965960"/>
            <a:ext cx="2880360" cy="3154680"/>
          </a:xfrm>
          <a:prstGeom prst="roundRect">
            <a:avLst>
              <a:gd name="adj" fmla="val 5079"/>
            </a:avLst>
          </a:prstGeom>
          <a:solidFill>
            <a:srgbClr val="142238"/>
          </a:solidFill>
          <a:ln w="10160">
            <a:solidFill>
              <a:srgbClr val="53DDF2"/>
            </a:solidFill>
            <a:prstDash val="solid"/>
          </a:ln>
        </p:spPr>
      </p:sp>
      <p:sp>
        <p:nvSpPr>
          <p:cNvPr id="11" name="s4-text-8"/>
          <p:cNvSpPr/>
          <p:nvPr/>
        </p:nvSpPr>
        <p:spPr>
          <a:xfrm>
            <a:off x="868680" y="2221992"/>
            <a:ext cx="2423160" cy="274320"/>
          </a:xfrm>
          <a:prstGeom prst="rect">
            <a:avLst/>
          </a:prstGeom>
          <a:noFill/>
          <a:ln/>
        </p:spPr>
        <p:txBody>
          <a:bodyPr wrap="square" lIns="0" tIns="0" rIns="0" bIns="0" rtlCol="0" anchor="t"/>
          <a:lstStyle/>
          <a:p>
            <a:pPr indent="0" marL="0">
              <a:buNone/>
            </a:pPr>
            <a:r>
              <a:rPr lang="en-US" sz="1300" b="1" spc="100" kern="0" dirty="0">
                <a:solidFill>
                  <a:srgbClr val="53DDF2"/>
                </a:solidFill>
                <a:latin typeface="Segoe UI" pitchFamily="34" charset="0"/>
                <a:ea typeface="Segoe UI" pitchFamily="34" charset="-122"/>
                <a:cs typeface="Segoe UI" pitchFamily="34" charset="-120"/>
              </a:rPr>
              <a:t>AGENT CHAMBER</a:t>
            </a:r>
            <a:endParaRPr lang="en-US" sz="1300" dirty="0"/>
          </a:p>
        </p:txBody>
      </p:sp>
      <p:sp>
        <p:nvSpPr>
          <p:cNvPr id="12" name="s4-text-9"/>
          <p:cNvSpPr/>
          <p:nvPr/>
        </p:nvSpPr>
        <p:spPr>
          <a:xfrm>
            <a:off x="896112" y="2788920"/>
            <a:ext cx="2240280" cy="1691640"/>
          </a:xfrm>
          <a:prstGeom prst="rect">
            <a:avLst/>
          </a:prstGeom>
          <a:noFill/>
          <a:ln/>
        </p:spPr>
        <p:txBody>
          <a:bodyPr wrap="square" lIns="0" tIns="0" rIns="0" bIns="0" rtlCol="0" anchor="t"/>
          <a:lstStyle/>
          <a:p>
            <a:pPr indent="0" marL="0">
              <a:buNone/>
            </a:pPr>
            <a:r>
              <a:rPr lang="en-US" sz="2500" b="1" dirty="0">
                <a:solidFill>
                  <a:srgbClr val="F3F7FC"/>
                </a:solidFill>
                <a:latin typeface="Segoe UI" pitchFamily="34" charset="0"/>
                <a:ea typeface="Segoe UI" pitchFamily="34" charset="-122"/>
                <a:cs typeface="Segoe UI" pitchFamily="34" charset="-120"/>
              </a:rPr>
              <a:t>code edits</a:t>
            </a:r>
            <a:endParaRPr lang="en-US" sz="2500" dirty="0"/>
          </a:p>
          <a:p>
            <a:pPr indent="0" marL="0">
              <a:buNone/>
            </a:pPr>
            <a:r>
              <a:rPr lang="en-US" sz="2500" b="1" dirty="0">
                <a:solidFill>
                  <a:srgbClr val="F3F7FC"/>
                </a:solidFill>
                <a:latin typeface="Segoe UI" pitchFamily="34" charset="0"/>
                <a:ea typeface="Segoe UI" pitchFamily="34" charset="-122"/>
                <a:cs typeface="Segoe UI" pitchFamily="34" charset="-120"/>
              </a:rPr>
              <a:t>tests</a:t>
            </a:r>
            <a:endParaRPr lang="en-US" sz="2500" dirty="0"/>
          </a:p>
          <a:p>
            <a:pPr indent="0" marL="0">
              <a:buNone/>
            </a:pPr>
            <a:r>
              <a:rPr lang="en-US" sz="2500" b="1" dirty="0">
                <a:solidFill>
                  <a:srgbClr val="F3F7FC"/>
                </a:solidFill>
                <a:latin typeface="Segoe UI" pitchFamily="34" charset="0"/>
                <a:ea typeface="Segoe UI" pitchFamily="34" charset="-122"/>
                <a:cs typeface="Segoe UI" pitchFamily="34" charset="-120"/>
              </a:rPr>
              <a:t>local analysis</a:t>
            </a:r>
            <a:endParaRPr lang="en-US" sz="2500" dirty="0"/>
          </a:p>
          <a:p>
            <a:pPr indent="0" marL="0">
              <a:buNone/>
            </a:pPr>
            <a:r>
              <a:rPr lang="en-US" sz="2500" b="1" dirty="0">
                <a:solidFill>
                  <a:srgbClr val="F3F7FC"/>
                </a:solidFill>
                <a:latin typeface="Segoe UI" pitchFamily="34" charset="0"/>
                <a:ea typeface="Segoe UI" pitchFamily="34" charset="-122"/>
                <a:cs typeface="Segoe UI" pitchFamily="34" charset="-120"/>
              </a:rPr>
              <a:t>PR draft</a:t>
            </a:r>
            <a:endParaRPr lang="en-US" sz="2500" dirty="0"/>
          </a:p>
        </p:txBody>
      </p:sp>
      <p:sp>
        <p:nvSpPr>
          <p:cNvPr id="13" name="Shape 11"/>
          <p:cNvSpPr/>
          <p:nvPr/>
        </p:nvSpPr>
        <p:spPr>
          <a:xfrm>
            <a:off x="3611880" y="3547872"/>
            <a:ext cx="960120" cy="0"/>
          </a:xfrm>
          <a:prstGeom prst="line">
            <a:avLst/>
          </a:prstGeom>
          <a:solidFill>
            <a:srgbClr val="142238"/>
          </a:solidFill>
          <a:ln w="22860">
            <a:solidFill>
              <a:srgbClr val="53DDF2"/>
            </a:solidFill>
            <a:prstDash val="solid"/>
            <a:headEnd type="none"/>
            <a:tailEnd type="triangle"/>
          </a:ln>
        </p:spPr>
      </p:sp>
      <p:sp>
        <p:nvSpPr>
          <p:cNvPr id="14" name="Shape 12"/>
          <p:cNvSpPr/>
          <p:nvPr/>
        </p:nvSpPr>
        <p:spPr>
          <a:xfrm>
            <a:off x="4617720" y="2148840"/>
            <a:ext cx="2788920" cy="2788920"/>
          </a:xfrm>
          <a:prstGeom prst="chevron">
            <a:avLst/>
          </a:prstGeom>
          <a:solidFill>
            <a:srgbClr val="142238"/>
          </a:solidFill>
          <a:ln w="25400">
            <a:solidFill>
              <a:srgbClr val="FFCE67"/>
            </a:solidFill>
            <a:prstDash val="solid"/>
          </a:ln>
        </p:spPr>
      </p:sp>
      <p:sp>
        <p:nvSpPr>
          <p:cNvPr id="15" name="s4-text-10"/>
          <p:cNvSpPr/>
          <p:nvPr/>
        </p:nvSpPr>
        <p:spPr>
          <a:xfrm>
            <a:off x="4937760" y="2779776"/>
            <a:ext cx="2148840" cy="347472"/>
          </a:xfrm>
          <a:prstGeom prst="rect">
            <a:avLst/>
          </a:prstGeom>
          <a:noFill/>
          <a:ln/>
        </p:spPr>
        <p:txBody>
          <a:bodyPr wrap="square" lIns="0" tIns="0" rIns="0" bIns="0" rtlCol="0" anchor="t"/>
          <a:lstStyle/>
          <a:p>
            <a:pPr algn="ctr" indent="0" marL="0">
              <a:buNone/>
            </a:pPr>
            <a:r>
              <a:rPr lang="en-US" sz="2300" b="1" dirty="0">
                <a:solidFill>
                  <a:srgbClr val="FFCE67"/>
                </a:solidFill>
                <a:latin typeface="Segoe UI" pitchFamily="34" charset="0"/>
                <a:ea typeface="Segoe UI" pitchFamily="34" charset="-122"/>
                <a:cs typeface="Segoe UI" pitchFamily="34" charset="-120"/>
              </a:rPr>
              <a:t>AIRLOCK</a:t>
            </a:r>
            <a:endParaRPr lang="en-US" sz="2300" dirty="0"/>
          </a:p>
        </p:txBody>
      </p:sp>
      <p:sp>
        <p:nvSpPr>
          <p:cNvPr id="16" name="s4-text-11"/>
          <p:cNvSpPr/>
          <p:nvPr/>
        </p:nvSpPr>
        <p:spPr>
          <a:xfrm>
            <a:off x="5102352" y="3246120"/>
            <a:ext cx="1828800" cy="1143000"/>
          </a:xfrm>
          <a:prstGeom prst="rect">
            <a:avLst/>
          </a:prstGeom>
          <a:noFill/>
          <a:ln/>
        </p:spPr>
        <p:txBody>
          <a:bodyPr wrap="square" lIns="0" tIns="0" rIns="0" bIns="0" rtlCol="0" anchor="t"/>
          <a:lstStyle/>
          <a:p>
            <a:pPr algn="ctr" indent="0" marL="0">
              <a:buNone/>
            </a:pPr>
            <a:r>
              <a:rPr lang="en-US" sz="2300" dirty="0">
                <a:solidFill>
                  <a:srgbClr val="F3F7FC"/>
                </a:solidFill>
                <a:latin typeface="Segoe UI" pitchFamily="34" charset="0"/>
                <a:ea typeface="Segoe UI" pitchFamily="34" charset="-122"/>
                <a:cs typeface="Segoe UI" pitchFamily="34" charset="-120"/>
              </a:rPr>
              <a:t>policy</a:t>
            </a:r>
            <a:endParaRPr lang="en-US" sz="2300" dirty="0"/>
          </a:p>
          <a:p>
            <a:pPr algn="ctr" indent="0" marL="0">
              <a:buNone/>
            </a:pPr>
            <a:r>
              <a:rPr lang="en-US" sz="2300" dirty="0">
                <a:solidFill>
                  <a:srgbClr val="F3F7FC"/>
                </a:solidFill>
                <a:latin typeface="Segoe UI" pitchFamily="34" charset="0"/>
                <a:ea typeface="Segoe UI" pitchFamily="34" charset="-122"/>
                <a:cs typeface="Segoe UI" pitchFamily="34" charset="-120"/>
              </a:rPr>
              <a:t>checks</a:t>
            </a:r>
            <a:endParaRPr lang="en-US" sz="2300" dirty="0"/>
          </a:p>
          <a:p>
            <a:pPr algn="ctr" indent="0" marL="0">
              <a:buNone/>
            </a:pPr>
            <a:r>
              <a:rPr lang="en-US" sz="2300" dirty="0">
                <a:solidFill>
                  <a:srgbClr val="F3F7FC"/>
                </a:solidFill>
                <a:latin typeface="Segoe UI" pitchFamily="34" charset="0"/>
                <a:ea typeface="Segoe UI" pitchFamily="34" charset="-122"/>
                <a:cs typeface="Segoe UI" pitchFamily="34" charset="-120"/>
              </a:rPr>
              <a:t>receipts</a:t>
            </a:r>
            <a:endParaRPr lang="en-US" sz="2300" dirty="0"/>
          </a:p>
        </p:txBody>
      </p:sp>
      <p:sp>
        <p:nvSpPr>
          <p:cNvPr id="17" name="Shape 15"/>
          <p:cNvSpPr/>
          <p:nvPr/>
        </p:nvSpPr>
        <p:spPr>
          <a:xfrm>
            <a:off x="7498080" y="3547872"/>
            <a:ext cx="960120" cy="0"/>
          </a:xfrm>
          <a:prstGeom prst="line">
            <a:avLst/>
          </a:prstGeom>
          <a:solidFill>
            <a:srgbClr val="142238"/>
          </a:solidFill>
          <a:ln w="22860">
            <a:solidFill>
              <a:srgbClr val="49DCA2"/>
            </a:solidFill>
            <a:prstDash val="solid"/>
            <a:headEnd type="none"/>
            <a:tailEnd type="triangle"/>
          </a:ln>
        </p:spPr>
      </p:sp>
      <p:sp>
        <p:nvSpPr>
          <p:cNvPr id="18" name="Shape 16"/>
          <p:cNvSpPr/>
          <p:nvPr/>
        </p:nvSpPr>
        <p:spPr>
          <a:xfrm>
            <a:off x="8549640" y="1965960"/>
            <a:ext cx="2880360" cy="3154680"/>
          </a:xfrm>
          <a:prstGeom prst="roundRect">
            <a:avLst>
              <a:gd name="adj" fmla="val 5079"/>
            </a:avLst>
          </a:prstGeom>
          <a:solidFill>
            <a:srgbClr val="142238"/>
          </a:solidFill>
          <a:ln w="10160">
            <a:solidFill>
              <a:srgbClr val="49DCA2"/>
            </a:solidFill>
            <a:prstDash val="solid"/>
          </a:ln>
        </p:spPr>
      </p:sp>
      <p:sp>
        <p:nvSpPr>
          <p:cNvPr id="19" name="s4-text-12"/>
          <p:cNvSpPr/>
          <p:nvPr/>
        </p:nvSpPr>
        <p:spPr>
          <a:xfrm>
            <a:off x="8796528" y="2221992"/>
            <a:ext cx="2377440" cy="274320"/>
          </a:xfrm>
          <a:prstGeom prst="rect">
            <a:avLst/>
          </a:prstGeom>
          <a:noFill/>
          <a:ln/>
        </p:spPr>
        <p:txBody>
          <a:bodyPr wrap="square" lIns="0" tIns="0" rIns="0" bIns="0" rtlCol="0" anchor="t"/>
          <a:lstStyle/>
          <a:p>
            <a:pPr indent="0" marL="0">
              <a:buNone/>
            </a:pPr>
            <a:r>
              <a:rPr lang="en-US" sz="1300" b="1" spc="100" kern="0" dirty="0">
                <a:solidFill>
                  <a:srgbClr val="49DCA2"/>
                </a:solidFill>
                <a:latin typeface="Segoe UI" pitchFamily="34" charset="0"/>
                <a:ea typeface="Segoe UI" pitchFamily="34" charset="-122"/>
                <a:cs typeface="Segoe UI" pitchFamily="34" charset="-120"/>
              </a:rPr>
              <a:t>OUTSIDE WORLD</a:t>
            </a:r>
            <a:endParaRPr lang="en-US" sz="1300" dirty="0"/>
          </a:p>
        </p:txBody>
      </p:sp>
      <p:sp>
        <p:nvSpPr>
          <p:cNvPr id="20" name="s4-text-13"/>
          <p:cNvSpPr/>
          <p:nvPr/>
        </p:nvSpPr>
        <p:spPr>
          <a:xfrm>
            <a:off x="8842248" y="2788920"/>
            <a:ext cx="2194560" cy="1691640"/>
          </a:xfrm>
          <a:prstGeom prst="rect">
            <a:avLst/>
          </a:prstGeom>
          <a:noFill/>
          <a:ln/>
        </p:spPr>
        <p:txBody>
          <a:bodyPr wrap="square" lIns="0" tIns="0" rIns="0" bIns="0" rtlCol="0" anchor="t"/>
          <a:lstStyle/>
          <a:p>
            <a:pPr indent="0" marL="0">
              <a:buNone/>
            </a:pPr>
            <a:r>
              <a:rPr lang="en-US" sz="2500" b="1" dirty="0">
                <a:solidFill>
                  <a:srgbClr val="F3F7FC"/>
                </a:solidFill>
                <a:latin typeface="Segoe UI" pitchFamily="34" charset="0"/>
                <a:ea typeface="Segoe UI" pitchFamily="34" charset="-122"/>
                <a:cs typeface="Segoe UI" pitchFamily="34" charset="-120"/>
              </a:rPr>
              <a:t>GitHub</a:t>
            </a:r>
            <a:endParaRPr lang="en-US" sz="2500" dirty="0"/>
          </a:p>
          <a:p>
            <a:pPr indent="0" marL="0">
              <a:buNone/>
            </a:pPr>
            <a:r>
              <a:rPr lang="en-US" sz="2500" b="1" dirty="0">
                <a:solidFill>
                  <a:srgbClr val="F3F7FC"/>
                </a:solidFill>
                <a:latin typeface="Segoe UI" pitchFamily="34" charset="0"/>
                <a:ea typeface="Segoe UI" pitchFamily="34" charset="-122"/>
                <a:cs typeface="Segoe UI" pitchFamily="34" charset="-120"/>
              </a:rPr>
              <a:t>packages</a:t>
            </a:r>
            <a:endParaRPr lang="en-US" sz="2500" dirty="0"/>
          </a:p>
          <a:p>
            <a:pPr indent="0" marL="0">
              <a:buNone/>
            </a:pPr>
            <a:r>
              <a:rPr lang="en-US" sz="2500" b="1" dirty="0">
                <a:solidFill>
                  <a:srgbClr val="F3F7FC"/>
                </a:solidFill>
                <a:latin typeface="Segoe UI" pitchFamily="34" charset="0"/>
                <a:ea typeface="Segoe UI" pitchFamily="34" charset="-122"/>
                <a:cs typeface="Segoe UI" pitchFamily="34" charset="-120"/>
              </a:rPr>
              <a:t>models</a:t>
            </a:r>
            <a:endParaRPr lang="en-US" sz="2500" dirty="0"/>
          </a:p>
          <a:p>
            <a:pPr indent="0" marL="0">
              <a:buNone/>
            </a:pPr>
            <a:r>
              <a:rPr lang="en-US" sz="2500" b="1" dirty="0">
                <a:solidFill>
                  <a:srgbClr val="F3F7FC"/>
                </a:solidFill>
                <a:latin typeface="Segoe UI" pitchFamily="34" charset="0"/>
                <a:ea typeface="Segoe UI" pitchFamily="34" charset="-122"/>
                <a:cs typeface="Segoe UI" pitchFamily="34" charset="-120"/>
              </a:rPr>
              <a:t>messages</a:t>
            </a:r>
            <a:endParaRPr lang="en-US" sz="2500" dirty="0"/>
          </a:p>
        </p:txBody>
      </p:sp>
      <p:sp>
        <p:nvSpPr>
          <p:cNvPr id="21" name="Shape 19"/>
          <p:cNvSpPr/>
          <p:nvPr/>
        </p:nvSpPr>
        <p:spPr>
          <a:xfrm>
            <a:off x="4453128" y="1920240"/>
            <a:ext cx="3127248" cy="3255264"/>
          </a:xfrm>
          <a:prstGeom prst="arc">
            <a:avLst/>
          </a:prstGeom>
          <a:solidFill>
            <a:srgbClr val="0B1220">
              <a:alpha val="0"/>
            </a:srgbClr>
          </a:solidFill>
          <a:ln w="50800">
            <a:solidFill>
              <a:srgbClr val="53DDF2"/>
            </a:solidFill>
            <a:prstDash val="solid"/>
          </a:ln>
        </p:spPr>
      </p:sp>
      <p:sp>
        <p:nvSpPr>
          <p:cNvPr id="22" name="Shape 20"/>
          <p:cNvSpPr/>
          <p:nvPr/>
        </p:nvSpPr>
        <p:spPr>
          <a:xfrm>
            <a:off x="4315968" y="1783080"/>
            <a:ext cx="3401568" cy="3529584"/>
          </a:xfrm>
          <a:prstGeom prst="arc">
            <a:avLst/>
          </a:prstGeom>
          <a:solidFill>
            <a:srgbClr val="0B1220">
              <a:alpha val="0"/>
            </a:srgbClr>
          </a:solidFill>
          <a:ln w="25400">
            <a:solidFill>
              <a:srgbClr val="FF7C8E"/>
            </a:solidFill>
            <a:prstDash val="solid"/>
          </a:ln>
        </p:spPr>
      </p:sp>
      <p:sp>
        <p:nvSpPr>
          <p:cNvPr id="23" name="s4-text-14"/>
          <p:cNvSpPr/>
          <p:nvPr/>
        </p:nvSpPr>
        <p:spPr>
          <a:xfrm>
            <a:off x="749808" y="5321808"/>
            <a:ext cx="10424160" cy="438912"/>
          </a:xfrm>
          <a:prstGeom prst="rect">
            <a:avLst/>
          </a:prstGeom>
          <a:noFill/>
          <a:ln/>
        </p:spPr>
        <p:txBody>
          <a:bodyPr wrap="square" lIns="0" tIns="0" rIns="0" bIns="0" rtlCol="0" anchor="t"/>
          <a:lstStyle/>
          <a:p>
            <a:pPr algn="ctr" indent="0" marL="0">
              <a:buNone/>
            </a:pPr>
            <a:r>
              <a:rPr lang="en-US" sz="2300" b="1" dirty="0">
                <a:solidFill>
                  <a:srgbClr val="F3F7FC"/>
                </a:solidFill>
                <a:latin typeface="Segoe UI" pitchFamily="34" charset="0"/>
                <a:ea typeface="Segoe UI" pitchFamily="34" charset="-122"/>
                <a:cs typeface="Segoe UI" pitchFamily="34" charset="-120"/>
              </a:rPr>
              <a:t>Nothing leaves until it clears policy.</a:t>
            </a:r>
            <a:endParaRPr lang="en-US" sz="2300" dirty="0"/>
          </a:p>
        </p:txBody>
      </p:sp>
      <p:sp>
        <p:nvSpPr>
          <p:cNvPr id="24" name="Shape 22"/>
          <p:cNvSpPr/>
          <p:nvPr/>
        </p:nvSpPr>
        <p:spPr>
          <a:xfrm>
            <a:off x="548640" y="5687568"/>
            <a:ext cx="11091672" cy="585216"/>
          </a:xfrm>
          <a:prstGeom prst="roundRect">
            <a:avLst>
              <a:gd name="adj" fmla="val 25000"/>
            </a:avLst>
          </a:prstGeom>
          <a:solidFill>
            <a:srgbClr val="142238"/>
          </a:solidFill>
          <a:ln w="10160">
            <a:solidFill>
              <a:srgbClr val="2B405B"/>
            </a:solidFill>
            <a:prstDash val="solid"/>
          </a:ln>
        </p:spPr>
      </p:sp>
      <p:sp>
        <p:nvSpPr>
          <p:cNvPr id="25" name="Shape 23"/>
          <p:cNvSpPr/>
          <p:nvPr/>
        </p:nvSpPr>
        <p:spPr>
          <a:xfrm>
            <a:off x="548640" y="5687568"/>
            <a:ext cx="41148" cy="585216"/>
          </a:xfrm>
          <a:prstGeom prst="rect">
            <a:avLst/>
          </a:prstGeom>
          <a:solidFill>
            <a:srgbClr val="53DDF2"/>
          </a:solidFill>
          <a:ln w="12700">
            <a:solidFill>
              <a:srgbClr val="2B405B">
                <a:alpha val="0"/>
              </a:srgbClr>
            </a:solidFill>
            <a:prstDash val="solid"/>
          </a:ln>
        </p:spPr>
      </p:sp>
      <p:sp>
        <p:nvSpPr>
          <p:cNvPr id="26" name="s4-text-15"/>
          <p:cNvSpPr/>
          <p:nvPr/>
        </p:nvSpPr>
        <p:spPr>
          <a:xfrm>
            <a:off x="758952" y="5833872"/>
            <a:ext cx="10652760" cy="292608"/>
          </a:xfrm>
          <a:prstGeom prst="rect">
            <a:avLst/>
          </a:prstGeom>
          <a:noFill/>
          <a:ln/>
        </p:spPr>
        <p:txBody>
          <a:bodyPr wrap="square" lIns="0" tIns="0" rIns="0" bIns="0" rtlCol="0" anchor="t"/>
          <a:lstStyle/>
          <a:p>
            <a:pPr indent="0" marL="0">
              <a:buNone/>
            </a:pPr>
            <a:r>
              <a:rPr lang="en-US" sz="1600" dirty="0">
                <a:solidFill>
                  <a:srgbClr val="53DDF2"/>
                </a:solidFill>
                <a:latin typeface="Segoe UI" pitchFamily="34" charset="0"/>
                <a:ea typeface="Segoe UI" pitchFamily="34" charset="-122"/>
                <a:cs typeface="Segoe UI" pitchFamily="34" charset="-120"/>
              </a:rPr>
              <a:t>The airlock is a transition point: propose freely, execute only after policy clears the action.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s5-text-1"/>
          <p:cNvSpPr/>
          <p:nvPr/>
        </p:nvSpPr>
        <p:spPr>
          <a:xfrm>
            <a:off x="548640" y="219456"/>
            <a:ext cx="2834640" cy="219456"/>
          </a:xfrm>
          <a:prstGeom prst="rect">
            <a:avLst/>
          </a:prstGeom>
          <a:noFill/>
          <a:ln/>
        </p:spPr>
        <p:txBody>
          <a:bodyPr wrap="square" lIns="0" tIns="0" rIns="0" bIns="0" rtlCol="0" anchor="t"/>
          <a:lstStyle/>
          <a:p>
            <a:pPr indent="0" marL="0">
              <a:buNone/>
            </a:pPr>
            <a:r>
              <a:rPr lang="en-US" sz="1300" b="1" spc="80" kern="0" dirty="0">
                <a:solidFill>
                  <a:srgbClr val="53DDF2"/>
                </a:solidFill>
                <a:latin typeface="Segoe UI" pitchFamily="34" charset="0"/>
                <a:ea typeface="Segoe UI" pitchFamily="34" charset="-122"/>
                <a:cs typeface="Segoe UI" pitchFamily="34" charset="-120"/>
              </a:rPr>
              <a:t>AGENT AIRLOCK</a:t>
            </a:r>
            <a:endParaRPr lang="en-US" sz="1300" dirty="0"/>
          </a:p>
        </p:txBody>
      </p:sp>
      <p:sp>
        <p:nvSpPr>
          <p:cNvPr id="3" name="s5-text-2"/>
          <p:cNvSpPr/>
          <p:nvPr/>
        </p:nvSpPr>
        <p:spPr>
          <a:xfrm>
            <a:off x="3657600" y="237744"/>
            <a:ext cx="4663440" cy="201168"/>
          </a:xfrm>
          <a:prstGeom prst="rect">
            <a:avLst/>
          </a:prstGeom>
          <a:noFill/>
          <a:ln/>
        </p:spPr>
        <p:txBody>
          <a:bodyPr wrap="square" lIns="0" tIns="0" rIns="0" bIns="0" rtlCol="0" anchor="t"/>
          <a:lstStyle/>
          <a:p>
            <a:pPr algn="ctr" indent="0" marL="0">
              <a:buNone/>
            </a:pPr>
            <a:r>
              <a:rPr lang="en-US" sz="1100" spc="100" kern="0" dirty="0">
                <a:solidFill>
                  <a:srgbClr val="A8B8CF"/>
                </a:solidFill>
                <a:latin typeface="Segoe UI" pitchFamily="34" charset="0"/>
                <a:ea typeface="Segoe UI" pitchFamily="34" charset="-122"/>
                <a:cs typeface="Segoe UI" pitchFamily="34" charset="-120"/>
              </a:rPr>
              <a:t>STRUCTURE</a:t>
            </a:r>
            <a:endParaRPr lang="en-US" sz="1100" dirty="0"/>
          </a:p>
        </p:txBody>
      </p:sp>
      <p:sp>
        <p:nvSpPr>
          <p:cNvPr id="4" name="s5-text-3"/>
          <p:cNvSpPr/>
          <p:nvPr/>
        </p:nvSpPr>
        <p:spPr>
          <a:xfrm>
            <a:off x="8412480" y="237744"/>
            <a:ext cx="3227832" cy="201168"/>
          </a:xfrm>
          <a:prstGeom prst="rect">
            <a:avLst/>
          </a:prstGeom>
          <a:noFill/>
          <a:ln/>
        </p:spPr>
        <p:txBody>
          <a:bodyPr wrap="square" lIns="0" tIns="0" rIns="0" bIns="0" rtlCol="0" anchor="t"/>
          <a:lstStyle/>
          <a:p>
            <a:pPr algn="r" indent="0" marL="0">
              <a:buNone/>
            </a:pPr>
            <a:r>
              <a:rPr lang="en-US" sz="1050" dirty="0">
                <a:solidFill>
                  <a:srgbClr val="A8B8CF"/>
                </a:solidFill>
                <a:latin typeface="Segoe UI" pitchFamily="34" charset="0"/>
                <a:ea typeface="Segoe UI" pitchFamily="34" charset="-122"/>
                <a:cs typeface="Segoe UI" pitchFamily="34" charset="-120"/>
              </a:rPr>
              <a:t>TEAM SHOWCASE</a:t>
            </a:r>
            <a:endParaRPr lang="en-US" sz="1050" dirty="0"/>
          </a:p>
        </p:txBody>
      </p:sp>
      <p:sp>
        <p:nvSpPr>
          <p:cNvPr id="5" name="s5-text-4"/>
          <p:cNvSpPr/>
          <p:nvPr/>
        </p:nvSpPr>
        <p:spPr>
          <a:xfrm>
            <a:off x="548640" y="640080"/>
            <a:ext cx="11091672" cy="914400"/>
          </a:xfrm>
          <a:prstGeom prst="rect">
            <a:avLst/>
          </a:prstGeom>
          <a:noFill/>
          <a:ln/>
        </p:spPr>
        <p:txBody>
          <a:bodyPr wrap="square" lIns="0" tIns="0" rIns="0" bIns="0" rtlCol="0" anchor="t"/>
          <a:lstStyle/>
          <a:p>
            <a:pPr indent="0" marL="0">
              <a:buNone/>
            </a:pPr>
            <a:r>
              <a:rPr lang="en-US" sz="3000" b="1" dirty="0">
                <a:solidFill>
                  <a:srgbClr val="F3F7FC"/>
                </a:solidFill>
                <a:latin typeface="Segoe UI" pitchFamily="34" charset="0"/>
                <a:ea typeface="Segoe UI" pitchFamily="34" charset="-122"/>
                <a:cs typeface="Segoe UI" pitchFamily="34" charset="-120"/>
              </a:rPr>
              <a:t>The system is structured around one enforcement owner</a:t>
            </a:r>
            <a:endParaRPr lang="en-US" sz="3000" dirty="0"/>
          </a:p>
        </p:txBody>
      </p:sp>
      <p:sp>
        <p:nvSpPr>
          <p:cNvPr id="6" name="s5-text-5"/>
          <p:cNvSpPr/>
          <p:nvPr/>
        </p:nvSpPr>
        <p:spPr>
          <a:xfrm>
            <a:off x="548640" y="1600200"/>
            <a:ext cx="11091672" cy="338328"/>
          </a:xfrm>
          <a:prstGeom prst="rect">
            <a:avLst/>
          </a:prstGeom>
          <a:noFill/>
          <a:ln/>
        </p:spPr>
        <p:txBody>
          <a:bodyPr wrap="square" lIns="0" tIns="0" rIns="0" bIns="0" rtlCol="0" anchor="t"/>
          <a:lstStyle/>
          <a:p>
            <a:pPr indent="0" marL="0">
              <a:buNone/>
            </a:pPr>
            <a:r>
              <a:rPr lang="en-US" sz="1550" dirty="0">
                <a:solidFill>
                  <a:srgbClr val="A8B8CF"/>
                </a:solidFill>
                <a:latin typeface="Segoe UI" pitchFamily="34" charset="0"/>
                <a:ea typeface="Segoe UI" pitchFamily="34" charset="-122"/>
                <a:cs typeface="Segoe UI" pitchFamily="34" charset="-120"/>
              </a:rPr>
              <a:t>Each component has one job; only the broker controls execution.</a:t>
            </a:r>
            <a:endParaRPr lang="en-US" sz="1550" dirty="0"/>
          </a:p>
        </p:txBody>
      </p:sp>
      <p:sp>
        <p:nvSpPr>
          <p:cNvPr id="7" name="Shape 5"/>
          <p:cNvSpPr/>
          <p:nvPr/>
        </p:nvSpPr>
        <p:spPr>
          <a:xfrm>
            <a:off x="548640" y="6446520"/>
            <a:ext cx="11091672" cy="0"/>
          </a:xfrm>
          <a:prstGeom prst="line">
            <a:avLst/>
          </a:prstGeom>
          <a:solidFill>
            <a:srgbClr val="142238"/>
          </a:solidFill>
          <a:ln w="7620">
            <a:solidFill>
              <a:srgbClr val="2B405B"/>
            </a:solidFill>
            <a:prstDash val="solid"/>
          </a:ln>
        </p:spPr>
      </p:sp>
      <p:sp>
        <p:nvSpPr>
          <p:cNvPr id="8" name="s5-text-6"/>
          <p:cNvSpPr/>
          <p:nvPr/>
        </p:nvSpPr>
        <p:spPr>
          <a:xfrm>
            <a:off x="548640" y="6556248"/>
            <a:ext cx="5852160" cy="164592"/>
          </a:xfrm>
          <a:prstGeom prst="rect">
            <a:avLst/>
          </a:prstGeom>
          <a:noFill/>
          <a:ln/>
        </p:spPr>
        <p:txBody>
          <a:bodyPr wrap="square" lIns="0" tIns="0" rIns="0" bIns="0" rtlCol="0" anchor="t"/>
          <a:lstStyle/>
          <a:p>
            <a:pPr indent="0" marL="0">
              <a:buNone/>
            </a:pPr>
            <a:r>
              <a:rPr lang="en-US" sz="950" dirty="0">
                <a:solidFill>
                  <a:srgbClr val="A8B8CF"/>
                </a:solidFill>
                <a:latin typeface="Segoe UI" pitchFamily="34" charset="0"/>
                <a:ea typeface="Segoe UI" pitchFamily="34" charset="-122"/>
                <a:cs typeface="Segoe UI" pitchFamily="34" charset="-120"/>
              </a:rPr>
              <a:t>PROTOTYPE  |  POLICY-GOVERNED AGENT ACTIONS</a:t>
            </a:r>
            <a:endParaRPr lang="en-US" sz="950" dirty="0"/>
          </a:p>
        </p:txBody>
      </p:sp>
      <p:sp>
        <p:nvSpPr>
          <p:cNvPr id="9" name="s5-text-7"/>
          <p:cNvSpPr/>
          <p:nvPr/>
        </p:nvSpPr>
        <p:spPr>
          <a:xfrm>
            <a:off x="10863072" y="6528816"/>
            <a:ext cx="777240" cy="210312"/>
          </a:xfrm>
          <a:prstGeom prst="rect">
            <a:avLst/>
          </a:prstGeom>
          <a:noFill/>
          <a:ln/>
        </p:spPr>
        <p:txBody>
          <a:bodyPr wrap="square" lIns="0" tIns="0" rIns="0" bIns="0" rtlCol="0" anchor="t"/>
          <a:lstStyle/>
          <a:p>
            <a:pPr algn="r" indent="0" marL="0">
              <a:buNone/>
            </a:pPr>
            <a:r>
              <a:rPr lang="en-US" sz="1100" dirty="0">
                <a:solidFill>
                  <a:srgbClr val="53DDF2"/>
                </a:solidFill>
                <a:latin typeface="Segoe UI" pitchFamily="34" charset="0"/>
                <a:ea typeface="Segoe UI" pitchFamily="34" charset="-122"/>
                <a:cs typeface="Segoe UI" pitchFamily="34" charset="-120"/>
              </a:rPr>
              <a:t>05 / 17</a:t>
            </a:r>
            <a:endParaRPr lang="en-US" sz="1100" dirty="0"/>
          </a:p>
        </p:txBody>
      </p:sp>
      <p:sp>
        <p:nvSpPr>
          <p:cNvPr id="10" name="Shape 8"/>
          <p:cNvSpPr/>
          <p:nvPr/>
        </p:nvSpPr>
        <p:spPr>
          <a:xfrm>
            <a:off x="2553005" y="2871216"/>
            <a:ext cx="246888" cy="0"/>
          </a:xfrm>
          <a:prstGeom prst="line">
            <a:avLst/>
          </a:prstGeom>
          <a:solidFill>
            <a:srgbClr val="142238"/>
          </a:solidFill>
          <a:ln w="22860">
            <a:solidFill>
              <a:srgbClr val="53DDF2"/>
            </a:solidFill>
            <a:prstDash val="solid"/>
            <a:headEnd type="none"/>
            <a:tailEnd type="triangle"/>
          </a:ln>
        </p:spPr>
      </p:sp>
      <p:sp>
        <p:nvSpPr>
          <p:cNvPr id="11" name="Shape 9"/>
          <p:cNvSpPr/>
          <p:nvPr/>
        </p:nvSpPr>
        <p:spPr>
          <a:xfrm>
            <a:off x="548640" y="2377440"/>
            <a:ext cx="1976933" cy="1143000"/>
          </a:xfrm>
          <a:prstGeom prst="roundRect">
            <a:avLst>
              <a:gd name="adj" fmla="val 12800"/>
            </a:avLst>
          </a:prstGeom>
          <a:solidFill>
            <a:srgbClr val="142238"/>
          </a:solidFill>
          <a:ln w="10160">
            <a:solidFill>
              <a:srgbClr val="53DDF2"/>
            </a:solidFill>
            <a:prstDash val="solid"/>
          </a:ln>
        </p:spPr>
      </p:sp>
      <p:sp>
        <p:nvSpPr>
          <p:cNvPr id="12" name="s5-text-8"/>
          <p:cNvSpPr/>
          <p:nvPr/>
        </p:nvSpPr>
        <p:spPr>
          <a:xfrm>
            <a:off x="713232" y="2542032"/>
            <a:ext cx="1647749" cy="228600"/>
          </a:xfrm>
          <a:prstGeom prst="rect">
            <a:avLst/>
          </a:prstGeom>
          <a:noFill/>
          <a:ln/>
        </p:spPr>
        <p:txBody>
          <a:bodyPr wrap="square" lIns="0" tIns="0" rIns="0" bIns="0" rtlCol="0" anchor="t"/>
          <a:lstStyle/>
          <a:p>
            <a:pPr indent="0" marL="0">
              <a:buNone/>
            </a:pPr>
            <a:r>
              <a:rPr lang="en-US" sz="1100" dirty="0">
                <a:solidFill>
                  <a:srgbClr val="53DDF2"/>
                </a:solidFill>
                <a:latin typeface="Segoe UI" pitchFamily="34" charset="0"/>
                <a:ea typeface="Segoe UI" pitchFamily="34" charset="-122"/>
                <a:cs typeface="Segoe UI" pitchFamily="34" charset="-120"/>
              </a:rPr>
              <a:t>01</a:t>
            </a:r>
            <a:endParaRPr lang="en-US" sz="1100" dirty="0"/>
          </a:p>
        </p:txBody>
      </p:sp>
      <p:sp>
        <p:nvSpPr>
          <p:cNvPr id="13" name="s5-text-9"/>
          <p:cNvSpPr/>
          <p:nvPr/>
        </p:nvSpPr>
        <p:spPr>
          <a:xfrm>
            <a:off x="713232" y="2834640"/>
            <a:ext cx="1647749" cy="502920"/>
          </a:xfrm>
          <a:prstGeom prst="rect">
            <a:avLst/>
          </a:prstGeom>
          <a:noFill/>
          <a:ln/>
        </p:spPr>
        <p:txBody>
          <a:bodyPr wrap="square" lIns="0" tIns="0" rIns="0" bIns="0" rtlCol="0" anchor="t"/>
          <a:lstStyle/>
          <a:p>
            <a:pPr indent="0" marL="0">
              <a:buNone/>
            </a:pPr>
            <a:r>
              <a:rPr lang="en-US" sz="1800" b="1" dirty="0">
                <a:solidFill>
                  <a:srgbClr val="F3F7FC"/>
                </a:solidFill>
                <a:latin typeface="Segoe UI" pitchFamily="34" charset="0"/>
                <a:ea typeface="Segoe UI" pitchFamily="34" charset="-122"/>
                <a:cs typeface="Segoe UI" pitchFamily="34" charset="-120"/>
              </a:rPr>
              <a:t>Tool adapter</a:t>
            </a:r>
            <a:endParaRPr lang="en-US" sz="1800" dirty="0"/>
          </a:p>
        </p:txBody>
      </p:sp>
      <p:sp>
        <p:nvSpPr>
          <p:cNvPr id="14" name="s5-text-10"/>
          <p:cNvSpPr/>
          <p:nvPr/>
        </p:nvSpPr>
        <p:spPr>
          <a:xfrm>
            <a:off x="594360" y="3749040"/>
            <a:ext cx="1885493" cy="1207008"/>
          </a:xfrm>
          <a:prstGeom prst="rect">
            <a:avLst/>
          </a:prstGeom>
          <a:noFill/>
          <a:ln/>
        </p:spPr>
        <p:txBody>
          <a:bodyPr wrap="square" lIns="0" tIns="0" rIns="0" bIns="0" rtlCol="0" anchor="t"/>
          <a:lstStyle/>
          <a:p>
            <a:pPr indent="0" marL="0">
              <a:buNone/>
            </a:pPr>
            <a:r>
              <a:rPr lang="en-US" sz="1600" dirty="0">
                <a:solidFill>
                  <a:srgbClr val="A8B8CF"/>
                </a:solidFill>
                <a:latin typeface="Segoe UI" pitchFamily="34" charset="0"/>
                <a:ea typeface="Segoe UI" pitchFamily="34" charset="-122"/>
                <a:cs typeface="Segoe UI" pitchFamily="34" charset="-120"/>
              </a:rPr>
              <a:t>Validates input and constructs a fixed action.</a:t>
            </a:r>
            <a:endParaRPr lang="en-US" sz="1600" dirty="0"/>
          </a:p>
        </p:txBody>
      </p:sp>
      <p:sp>
        <p:nvSpPr>
          <p:cNvPr id="15" name="Shape 13"/>
          <p:cNvSpPr/>
          <p:nvPr/>
        </p:nvSpPr>
        <p:spPr>
          <a:xfrm>
            <a:off x="4831690" y="2871216"/>
            <a:ext cx="246888" cy="0"/>
          </a:xfrm>
          <a:prstGeom prst="line">
            <a:avLst/>
          </a:prstGeom>
          <a:solidFill>
            <a:srgbClr val="142238"/>
          </a:solidFill>
          <a:ln w="22860">
            <a:solidFill>
              <a:srgbClr val="53DDF2"/>
            </a:solidFill>
            <a:prstDash val="solid"/>
            <a:headEnd type="none"/>
            <a:tailEnd type="triangle"/>
          </a:ln>
        </p:spPr>
      </p:sp>
      <p:sp>
        <p:nvSpPr>
          <p:cNvPr id="16" name="Shape 14"/>
          <p:cNvSpPr/>
          <p:nvPr/>
        </p:nvSpPr>
        <p:spPr>
          <a:xfrm>
            <a:off x="2827325" y="2377440"/>
            <a:ext cx="1976933" cy="1143000"/>
          </a:xfrm>
          <a:prstGeom prst="roundRect">
            <a:avLst>
              <a:gd name="adj" fmla="val 12800"/>
            </a:avLst>
          </a:prstGeom>
          <a:solidFill>
            <a:srgbClr val="142238"/>
          </a:solidFill>
          <a:ln w="10160">
            <a:solidFill>
              <a:srgbClr val="B5A0FF"/>
            </a:solidFill>
            <a:prstDash val="solid"/>
          </a:ln>
        </p:spPr>
      </p:sp>
      <p:sp>
        <p:nvSpPr>
          <p:cNvPr id="17" name="s5-text-11"/>
          <p:cNvSpPr/>
          <p:nvPr/>
        </p:nvSpPr>
        <p:spPr>
          <a:xfrm>
            <a:off x="2991917" y="2542032"/>
            <a:ext cx="1647749" cy="228600"/>
          </a:xfrm>
          <a:prstGeom prst="rect">
            <a:avLst/>
          </a:prstGeom>
          <a:noFill/>
          <a:ln/>
        </p:spPr>
        <p:txBody>
          <a:bodyPr wrap="square" lIns="0" tIns="0" rIns="0" bIns="0" rtlCol="0" anchor="t"/>
          <a:lstStyle/>
          <a:p>
            <a:pPr indent="0" marL="0">
              <a:buNone/>
            </a:pPr>
            <a:r>
              <a:rPr lang="en-US" sz="1100" dirty="0">
                <a:solidFill>
                  <a:srgbClr val="B5A0FF"/>
                </a:solidFill>
                <a:latin typeface="Segoe UI" pitchFamily="34" charset="0"/>
                <a:ea typeface="Segoe UI" pitchFamily="34" charset="-122"/>
                <a:cs typeface="Segoe UI" pitchFamily="34" charset="-120"/>
              </a:rPr>
              <a:t>02</a:t>
            </a:r>
            <a:endParaRPr lang="en-US" sz="1100" dirty="0"/>
          </a:p>
        </p:txBody>
      </p:sp>
      <p:sp>
        <p:nvSpPr>
          <p:cNvPr id="18" name="s5-text-12"/>
          <p:cNvSpPr/>
          <p:nvPr/>
        </p:nvSpPr>
        <p:spPr>
          <a:xfrm>
            <a:off x="2991917" y="2834640"/>
            <a:ext cx="1647749" cy="502920"/>
          </a:xfrm>
          <a:prstGeom prst="rect">
            <a:avLst/>
          </a:prstGeom>
          <a:noFill/>
          <a:ln/>
        </p:spPr>
        <p:txBody>
          <a:bodyPr wrap="square" lIns="0" tIns="0" rIns="0" bIns="0" rtlCol="0" anchor="t"/>
          <a:lstStyle/>
          <a:p>
            <a:pPr indent="0" marL="0">
              <a:buNone/>
            </a:pPr>
            <a:r>
              <a:rPr lang="en-US" sz="1800" b="1" dirty="0">
                <a:solidFill>
                  <a:srgbClr val="F3F7FC"/>
                </a:solidFill>
                <a:latin typeface="Segoe UI" pitchFamily="34" charset="0"/>
                <a:ea typeface="Segoe UI" pitchFamily="34" charset="-122"/>
                <a:cs typeface="Segoe UI" pitchFamily="34" charset="-120"/>
              </a:rPr>
              <a:t>Policy</a:t>
            </a:r>
            <a:endParaRPr lang="en-US" sz="1800" dirty="0"/>
          </a:p>
        </p:txBody>
      </p:sp>
      <p:sp>
        <p:nvSpPr>
          <p:cNvPr id="19" name="s5-text-13"/>
          <p:cNvSpPr/>
          <p:nvPr/>
        </p:nvSpPr>
        <p:spPr>
          <a:xfrm>
            <a:off x="2873045" y="3749040"/>
            <a:ext cx="1885493" cy="1207008"/>
          </a:xfrm>
          <a:prstGeom prst="rect">
            <a:avLst/>
          </a:prstGeom>
          <a:noFill/>
          <a:ln/>
        </p:spPr>
        <p:txBody>
          <a:bodyPr wrap="square" lIns="0" tIns="0" rIns="0" bIns="0" rtlCol="0" anchor="t"/>
          <a:lstStyle/>
          <a:p>
            <a:pPr indent="0" marL="0">
              <a:buNone/>
            </a:pPr>
            <a:r>
              <a:rPr lang="en-US" sz="1600" dirty="0">
                <a:solidFill>
                  <a:srgbClr val="A8B8CF"/>
                </a:solidFill>
                <a:latin typeface="Segoe UI" pitchFamily="34" charset="0"/>
                <a:ea typeface="Segoe UI" pitchFamily="34" charset="-122"/>
                <a:cs typeface="Segoe UI" pitchFamily="34" charset="-120"/>
              </a:rPr>
              <a:t>Binds the action to required gates.</a:t>
            </a:r>
            <a:endParaRPr lang="en-US" sz="1600" dirty="0"/>
          </a:p>
        </p:txBody>
      </p:sp>
      <p:sp>
        <p:nvSpPr>
          <p:cNvPr id="20" name="Shape 18"/>
          <p:cNvSpPr/>
          <p:nvPr/>
        </p:nvSpPr>
        <p:spPr>
          <a:xfrm>
            <a:off x="7110374" y="2871216"/>
            <a:ext cx="246888" cy="0"/>
          </a:xfrm>
          <a:prstGeom prst="line">
            <a:avLst/>
          </a:prstGeom>
          <a:solidFill>
            <a:srgbClr val="142238"/>
          </a:solidFill>
          <a:ln w="22860">
            <a:solidFill>
              <a:srgbClr val="53DDF2"/>
            </a:solidFill>
            <a:prstDash val="solid"/>
            <a:headEnd type="none"/>
            <a:tailEnd type="triangle"/>
          </a:ln>
        </p:spPr>
      </p:sp>
      <p:sp>
        <p:nvSpPr>
          <p:cNvPr id="21" name="Shape 19"/>
          <p:cNvSpPr/>
          <p:nvPr/>
        </p:nvSpPr>
        <p:spPr>
          <a:xfrm>
            <a:off x="5106010" y="2377440"/>
            <a:ext cx="1976933" cy="1143000"/>
          </a:xfrm>
          <a:prstGeom prst="roundRect">
            <a:avLst>
              <a:gd name="adj" fmla="val 12800"/>
            </a:avLst>
          </a:prstGeom>
          <a:solidFill>
            <a:srgbClr val="142238"/>
          </a:solidFill>
          <a:ln w="10160">
            <a:solidFill>
              <a:srgbClr val="FFCE67"/>
            </a:solidFill>
            <a:prstDash val="solid"/>
          </a:ln>
        </p:spPr>
      </p:sp>
      <p:sp>
        <p:nvSpPr>
          <p:cNvPr id="22" name="s5-text-14"/>
          <p:cNvSpPr/>
          <p:nvPr/>
        </p:nvSpPr>
        <p:spPr>
          <a:xfrm>
            <a:off x="5270602" y="2542032"/>
            <a:ext cx="1647749" cy="228600"/>
          </a:xfrm>
          <a:prstGeom prst="rect">
            <a:avLst/>
          </a:prstGeom>
          <a:noFill/>
          <a:ln/>
        </p:spPr>
        <p:txBody>
          <a:bodyPr wrap="square" lIns="0" tIns="0" rIns="0" bIns="0" rtlCol="0" anchor="t"/>
          <a:lstStyle/>
          <a:p>
            <a:pPr indent="0" marL="0">
              <a:buNone/>
            </a:pPr>
            <a:r>
              <a:rPr lang="en-US" sz="1100" dirty="0">
                <a:solidFill>
                  <a:srgbClr val="FFCE67"/>
                </a:solidFill>
                <a:latin typeface="Segoe UI" pitchFamily="34" charset="0"/>
                <a:ea typeface="Segoe UI" pitchFamily="34" charset="-122"/>
                <a:cs typeface="Segoe UI" pitchFamily="34" charset="-120"/>
              </a:rPr>
              <a:t>03</a:t>
            </a:r>
            <a:endParaRPr lang="en-US" sz="1100" dirty="0"/>
          </a:p>
        </p:txBody>
      </p:sp>
      <p:sp>
        <p:nvSpPr>
          <p:cNvPr id="23" name="s5-text-15"/>
          <p:cNvSpPr/>
          <p:nvPr/>
        </p:nvSpPr>
        <p:spPr>
          <a:xfrm>
            <a:off x="5270602" y="2834640"/>
            <a:ext cx="1647749" cy="502920"/>
          </a:xfrm>
          <a:prstGeom prst="rect">
            <a:avLst/>
          </a:prstGeom>
          <a:noFill/>
          <a:ln/>
        </p:spPr>
        <p:txBody>
          <a:bodyPr wrap="square" lIns="0" tIns="0" rIns="0" bIns="0" rtlCol="0" anchor="t"/>
          <a:lstStyle/>
          <a:p>
            <a:pPr indent="0" marL="0">
              <a:buNone/>
            </a:pPr>
            <a:r>
              <a:rPr lang="en-US" sz="1800" b="1" dirty="0">
                <a:solidFill>
                  <a:srgbClr val="F3F7FC"/>
                </a:solidFill>
                <a:latin typeface="Segoe UI" pitchFamily="34" charset="0"/>
                <a:ea typeface="Segoe UI" pitchFamily="34" charset="-122"/>
                <a:cs typeface="Segoe UI" pitchFamily="34" charset="-120"/>
              </a:rPr>
              <a:t>Gates</a:t>
            </a:r>
            <a:endParaRPr lang="en-US" sz="1800" dirty="0"/>
          </a:p>
        </p:txBody>
      </p:sp>
      <p:sp>
        <p:nvSpPr>
          <p:cNvPr id="24" name="s5-text-16"/>
          <p:cNvSpPr/>
          <p:nvPr/>
        </p:nvSpPr>
        <p:spPr>
          <a:xfrm>
            <a:off x="5151730" y="3749040"/>
            <a:ext cx="1885493" cy="1207008"/>
          </a:xfrm>
          <a:prstGeom prst="rect">
            <a:avLst/>
          </a:prstGeom>
          <a:noFill/>
          <a:ln/>
        </p:spPr>
        <p:txBody>
          <a:bodyPr wrap="square" lIns="0" tIns="0" rIns="0" bIns="0" rtlCol="0" anchor="t"/>
          <a:lstStyle/>
          <a:p>
            <a:pPr indent="0" marL="0">
              <a:buNone/>
            </a:pPr>
            <a:r>
              <a:rPr lang="en-US" sz="1600" dirty="0">
                <a:solidFill>
                  <a:srgbClr val="A8B8CF"/>
                </a:solidFill>
                <a:latin typeface="Segoe UI" pitchFamily="34" charset="0"/>
                <a:ea typeface="Segoe UI" pitchFamily="34" charset="-122"/>
                <a:cs typeface="Segoe UI" pitchFamily="34" charset="-120"/>
              </a:rPr>
              <a:t>Return allow, block, ask-first or error.</a:t>
            </a:r>
            <a:endParaRPr lang="en-US" sz="1600" dirty="0"/>
          </a:p>
        </p:txBody>
      </p:sp>
      <p:sp>
        <p:nvSpPr>
          <p:cNvPr id="25" name="Shape 23"/>
          <p:cNvSpPr/>
          <p:nvPr/>
        </p:nvSpPr>
        <p:spPr>
          <a:xfrm>
            <a:off x="9389059" y="2871216"/>
            <a:ext cx="246888" cy="0"/>
          </a:xfrm>
          <a:prstGeom prst="line">
            <a:avLst/>
          </a:prstGeom>
          <a:solidFill>
            <a:srgbClr val="142238"/>
          </a:solidFill>
          <a:ln w="22860">
            <a:solidFill>
              <a:srgbClr val="53DDF2"/>
            </a:solidFill>
            <a:prstDash val="solid"/>
            <a:headEnd type="none"/>
            <a:tailEnd type="triangle"/>
          </a:ln>
        </p:spPr>
      </p:sp>
      <p:sp>
        <p:nvSpPr>
          <p:cNvPr id="26" name="Shape 24"/>
          <p:cNvSpPr/>
          <p:nvPr/>
        </p:nvSpPr>
        <p:spPr>
          <a:xfrm>
            <a:off x="7384694" y="2377440"/>
            <a:ext cx="1976933" cy="1143000"/>
          </a:xfrm>
          <a:prstGeom prst="roundRect">
            <a:avLst>
              <a:gd name="adj" fmla="val 12800"/>
            </a:avLst>
          </a:prstGeom>
          <a:solidFill>
            <a:srgbClr val="142238"/>
          </a:solidFill>
          <a:ln w="10160">
            <a:solidFill>
              <a:srgbClr val="FF7C8E"/>
            </a:solidFill>
            <a:prstDash val="solid"/>
          </a:ln>
        </p:spPr>
      </p:sp>
      <p:sp>
        <p:nvSpPr>
          <p:cNvPr id="27" name="s5-text-17"/>
          <p:cNvSpPr/>
          <p:nvPr/>
        </p:nvSpPr>
        <p:spPr>
          <a:xfrm>
            <a:off x="7549286" y="2542032"/>
            <a:ext cx="1647749" cy="228600"/>
          </a:xfrm>
          <a:prstGeom prst="rect">
            <a:avLst/>
          </a:prstGeom>
          <a:noFill/>
          <a:ln/>
        </p:spPr>
        <p:txBody>
          <a:bodyPr wrap="square" lIns="0" tIns="0" rIns="0" bIns="0" rtlCol="0" anchor="t"/>
          <a:lstStyle/>
          <a:p>
            <a:pPr indent="0" marL="0">
              <a:buNone/>
            </a:pPr>
            <a:r>
              <a:rPr lang="en-US" sz="1100" dirty="0">
                <a:solidFill>
                  <a:srgbClr val="FF7C8E"/>
                </a:solidFill>
                <a:latin typeface="Segoe UI" pitchFamily="34" charset="0"/>
                <a:ea typeface="Segoe UI" pitchFamily="34" charset="-122"/>
                <a:cs typeface="Segoe UI" pitchFamily="34" charset="-120"/>
              </a:rPr>
              <a:t>04</a:t>
            </a:r>
            <a:endParaRPr lang="en-US" sz="1100" dirty="0"/>
          </a:p>
        </p:txBody>
      </p:sp>
      <p:sp>
        <p:nvSpPr>
          <p:cNvPr id="28" name="s5-text-18"/>
          <p:cNvSpPr/>
          <p:nvPr/>
        </p:nvSpPr>
        <p:spPr>
          <a:xfrm>
            <a:off x="7549286" y="2834640"/>
            <a:ext cx="1647749" cy="502920"/>
          </a:xfrm>
          <a:prstGeom prst="rect">
            <a:avLst/>
          </a:prstGeom>
          <a:noFill/>
          <a:ln/>
        </p:spPr>
        <p:txBody>
          <a:bodyPr wrap="square" lIns="0" tIns="0" rIns="0" bIns="0" rtlCol="0" anchor="t"/>
          <a:lstStyle/>
          <a:p>
            <a:pPr indent="0" marL="0">
              <a:buNone/>
            </a:pPr>
            <a:r>
              <a:rPr lang="en-US" sz="1800" b="1" dirty="0">
                <a:solidFill>
                  <a:srgbClr val="F3F7FC"/>
                </a:solidFill>
                <a:latin typeface="Segoe UI" pitchFamily="34" charset="0"/>
                <a:ea typeface="Segoe UI" pitchFamily="34" charset="-122"/>
                <a:cs typeface="Segoe UI" pitchFamily="34" charset="-120"/>
              </a:rPr>
              <a:t>Broker</a:t>
            </a:r>
            <a:endParaRPr lang="en-US" sz="1800" dirty="0"/>
          </a:p>
        </p:txBody>
      </p:sp>
      <p:sp>
        <p:nvSpPr>
          <p:cNvPr id="29" name="s5-text-19"/>
          <p:cNvSpPr/>
          <p:nvPr/>
        </p:nvSpPr>
        <p:spPr>
          <a:xfrm>
            <a:off x="7430414" y="3749040"/>
            <a:ext cx="1885493" cy="1207008"/>
          </a:xfrm>
          <a:prstGeom prst="rect">
            <a:avLst/>
          </a:prstGeom>
          <a:noFill/>
          <a:ln/>
        </p:spPr>
        <p:txBody>
          <a:bodyPr wrap="square" lIns="0" tIns="0" rIns="0" bIns="0" rtlCol="0" anchor="t"/>
          <a:lstStyle/>
          <a:p>
            <a:pPr indent="0" marL="0">
              <a:buNone/>
            </a:pPr>
            <a:r>
              <a:rPr lang="en-US" sz="1600" dirty="0">
                <a:solidFill>
                  <a:srgbClr val="A8B8CF"/>
                </a:solidFill>
                <a:latin typeface="Segoe UI" pitchFamily="34" charset="0"/>
                <a:ea typeface="Segoe UI" pitchFamily="34" charset="-122"/>
                <a:cs typeface="Segoe UI" pitchFamily="34" charset="-120"/>
              </a:rPr>
              <a:t>Combines decisions and records evidence.</a:t>
            </a:r>
            <a:endParaRPr lang="en-US" sz="1600" dirty="0"/>
          </a:p>
        </p:txBody>
      </p:sp>
      <p:sp>
        <p:nvSpPr>
          <p:cNvPr id="30" name="Shape 28"/>
          <p:cNvSpPr/>
          <p:nvPr/>
        </p:nvSpPr>
        <p:spPr>
          <a:xfrm>
            <a:off x="9663379" y="2377440"/>
            <a:ext cx="1976933" cy="1143000"/>
          </a:xfrm>
          <a:prstGeom prst="roundRect">
            <a:avLst>
              <a:gd name="adj" fmla="val 12800"/>
            </a:avLst>
          </a:prstGeom>
          <a:solidFill>
            <a:srgbClr val="142238"/>
          </a:solidFill>
          <a:ln w="10160">
            <a:solidFill>
              <a:srgbClr val="49DCA2"/>
            </a:solidFill>
            <a:prstDash val="solid"/>
          </a:ln>
        </p:spPr>
      </p:sp>
      <p:sp>
        <p:nvSpPr>
          <p:cNvPr id="31" name="s5-text-20"/>
          <p:cNvSpPr/>
          <p:nvPr/>
        </p:nvSpPr>
        <p:spPr>
          <a:xfrm>
            <a:off x="9827971" y="2542032"/>
            <a:ext cx="1647749" cy="228600"/>
          </a:xfrm>
          <a:prstGeom prst="rect">
            <a:avLst/>
          </a:prstGeom>
          <a:noFill/>
          <a:ln/>
        </p:spPr>
        <p:txBody>
          <a:bodyPr wrap="square" lIns="0" tIns="0" rIns="0" bIns="0" rtlCol="0" anchor="t"/>
          <a:lstStyle/>
          <a:p>
            <a:pPr indent="0" marL="0">
              <a:buNone/>
            </a:pPr>
            <a:r>
              <a:rPr lang="en-US" sz="1100" dirty="0">
                <a:solidFill>
                  <a:srgbClr val="49DCA2"/>
                </a:solidFill>
                <a:latin typeface="Segoe UI" pitchFamily="34" charset="0"/>
                <a:ea typeface="Segoe UI" pitchFamily="34" charset="-122"/>
                <a:cs typeface="Segoe UI" pitchFamily="34" charset="-120"/>
              </a:rPr>
              <a:t>05</a:t>
            </a:r>
            <a:endParaRPr lang="en-US" sz="1100" dirty="0"/>
          </a:p>
        </p:txBody>
      </p:sp>
      <p:sp>
        <p:nvSpPr>
          <p:cNvPr id="32" name="s5-text-21"/>
          <p:cNvSpPr/>
          <p:nvPr/>
        </p:nvSpPr>
        <p:spPr>
          <a:xfrm>
            <a:off x="9827971" y="2834640"/>
            <a:ext cx="1647749" cy="502920"/>
          </a:xfrm>
          <a:prstGeom prst="rect">
            <a:avLst/>
          </a:prstGeom>
          <a:noFill/>
          <a:ln/>
        </p:spPr>
        <p:txBody>
          <a:bodyPr wrap="square" lIns="0" tIns="0" rIns="0" bIns="0" rtlCol="0" anchor="t"/>
          <a:lstStyle/>
          <a:p>
            <a:pPr indent="0" marL="0">
              <a:buNone/>
            </a:pPr>
            <a:r>
              <a:rPr lang="en-US" sz="1800" b="1" dirty="0">
                <a:solidFill>
                  <a:srgbClr val="F3F7FC"/>
                </a:solidFill>
                <a:latin typeface="Segoe UI" pitchFamily="34" charset="0"/>
                <a:ea typeface="Segoe UI" pitchFamily="34" charset="-122"/>
                <a:cs typeface="Segoe UI" pitchFamily="34" charset="-120"/>
              </a:rPr>
              <a:t>Executor</a:t>
            </a:r>
            <a:endParaRPr lang="en-US" sz="1800" dirty="0"/>
          </a:p>
        </p:txBody>
      </p:sp>
      <p:sp>
        <p:nvSpPr>
          <p:cNvPr id="33" name="s5-text-22"/>
          <p:cNvSpPr/>
          <p:nvPr/>
        </p:nvSpPr>
        <p:spPr>
          <a:xfrm>
            <a:off x="9709099" y="3749040"/>
            <a:ext cx="1885493" cy="1207008"/>
          </a:xfrm>
          <a:prstGeom prst="rect">
            <a:avLst/>
          </a:prstGeom>
          <a:noFill/>
          <a:ln/>
        </p:spPr>
        <p:txBody>
          <a:bodyPr wrap="square" lIns="0" tIns="0" rIns="0" bIns="0" rtlCol="0" anchor="t"/>
          <a:lstStyle/>
          <a:p>
            <a:pPr indent="0" marL="0">
              <a:buNone/>
            </a:pPr>
            <a:r>
              <a:rPr lang="en-US" sz="1600" dirty="0">
                <a:solidFill>
                  <a:srgbClr val="A8B8CF"/>
                </a:solidFill>
                <a:latin typeface="Segoe UI" pitchFamily="34" charset="0"/>
                <a:ea typeface="Segoe UI" pitchFamily="34" charset="-122"/>
                <a:cs typeface="Segoe UI" pitchFamily="34" charset="-120"/>
              </a:rPr>
              <a:t>Performs only the approved narrow effect.</a:t>
            </a:r>
            <a:endParaRPr lang="en-US" sz="1600" dirty="0"/>
          </a:p>
        </p:txBody>
      </p:sp>
      <p:sp>
        <p:nvSpPr>
          <p:cNvPr id="34" name="Shape 32"/>
          <p:cNvSpPr/>
          <p:nvPr/>
        </p:nvSpPr>
        <p:spPr>
          <a:xfrm>
            <a:off x="548640" y="5687568"/>
            <a:ext cx="11091672" cy="585216"/>
          </a:xfrm>
          <a:prstGeom prst="roundRect">
            <a:avLst>
              <a:gd name="adj" fmla="val 25000"/>
            </a:avLst>
          </a:prstGeom>
          <a:solidFill>
            <a:srgbClr val="142238"/>
          </a:solidFill>
          <a:ln w="10160">
            <a:solidFill>
              <a:srgbClr val="2B405B"/>
            </a:solidFill>
            <a:prstDash val="solid"/>
          </a:ln>
        </p:spPr>
      </p:sp>
      <p:sp>
        <p:nvSpPr>
          <p:cNvPr id="35" name="Shape 33"/>
          <p:cNvSpPr/>
          <p:nvPr/>
        </p:nvSpPr>
        <p:spPr>
          <a:xfrm>
            <a:off x="548640" y="5687568"/>
            <a:ext cx="41148" cy="585216"/>
          </a:xfrm>
          <a:prstGeom prst="rect">
            <a:avLst/>
          </a:prstGeom>
          <a:solidFill>
            <a:srgbClr val="53DDF2"/>
          </a:solidFill>
          <a:ln w="12700">
            <a:solidFill>
              <a:srgbClr val="2B405B">
                <a:alpha val="0"/>
              </a:srgbClr>
            </a:solidFill>
            <a:prstDash val="solid"/>
          </a:ln>
        </p:spPr>
      </p:sp>
      <p:sp>
        <p:nvSpPr>
          <p:cNvPr id="36" name="s5-text-23"/>
          <p:cNvSpPr/>
          <p:nvPr/>
        </p:nvSpPr>
        <p:spPr>
          <a:xfrm>
            <a:off x="758952" y="5833872"/>
            <a:ext cx="10652760" cy="292608"/>
          </a:xfrm>
          <a:prstGeom prst="rect">
            <a:avLst/>
          </a:prstGeom>
          <a:noFill/>
          <a:ln/>
        </p:spPr>
        <p:txBody>
          <a:bodyPr wrap="square" lIns="0" tIns="0" rIns="0" bIns="0" rtlCol="0" anchor="t"/>
          <a:lstStyle/>
          <a:p>
            <a:pPr indent="0" marL="0">
              <a:buNone/>
            </a:pPr>
            <a:r>
              <a:rPr lang="en-US" sz="1600" dirty="0">
                <a:solidFill>
                  <a:srgbClr val="53DDF2"/>
                </a:solidFill>
                <a:latin typeface="Segoe UI" pitchFamily="34" charset="0"/>
                <a:ea typeface="Segoe UI" pitchFamily="34" charset="-122"/>
                <a:cs typeface="Segoe UI" pitchFamily="34" charset="-120"/>
              </a:rPr>
              <a:t>The model can request a supported action. It cannot supply or invoke the executor.</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s6-text-1"/>
          <p:cNvSpPr/>
          <p:nvPr/>
        </p:nvSpPr>
        <p:spPr>
          <a:xfrm>
            <a:off x="548640" y="219456"/>
            <a:ext cx="2834640" cy="219456"/>
          </a:xfrm>
          <a:prstGeom prst="rect">
            <a:avLst/>
          </a:prstGeom>
          <a:noFill/>
          <a:ln/>
        </p:spPr>
        <p:txBody>
          <a:bodyPr wrap="square" lIns="0" tIns="0" rIns="0" bIns="0" rtlCol="0" anchor="t"/>
          <a:lstStyle/>
          <a:p>
            <a:pPr indent="0" marL="0">
              <a:buNone/>
            </a:pPr>
            <a:r>
              <a:rPr lang="en-US" sz="1300" b="1" spc="80" kern="0" dirty="0">
                <a:solidFill>
                  <a:srgbClr val="53DDF2"/>
                </a:solidFill>
                <a:latin typeface="Segoe UI" pitchFamily="34" charset="0"/>
                <a:ea typeface="Segoe UI" pitchFamily="34" charset="-122"/>
                <a:cs typeface="Segoe UI" pitchFamily="34" charset="-120"/>
              </a:rPr>
              <a:t>AGENT AIRLOCK</a:t>
            </a:r>
            <a:endParaRPr lang="en-US" sz="1300" dirty="0"/>
          </a:p>
        </p:txBody>
      </p:sp>
      <p:sp>
        <p:nvSpPr>
          <p:cNvPr id="3" name="s6-text-2"/>
          <p:cNvSpPr/>
          <p:nvPr/>
        </p:nvSpPr>
        <p:spPr>
          <a:xfrm>
            <a:off x="3657600" y="237744"/>
            <a:ext cx="4663440" cy="201168"/>
          </a:xfrm>
          <a:prstGeom prst="rect">
            <a:avLst/>
          </a:prstGeom>
          <a:noFill/>
          <a:ln/>
        </p:spPr>
        <p:txBody>
          <a:bodyPr wrap="square" lIns="0" tIns="0" rIns="0" bIns="0" rtlCol="0" anchor="t"/>
          <a:lstStyle/>
          <a:p>
            <a:pPr algn="ctr" indent="0" marL="0">
              <a:buNone/>
            </a:pPr>
            <a:r>
              <a:rPr lang="en-US" sz="1100" spc="100" kern="0" dirty="0">
                <a:solidFill>
                  <a:srgbClr val="A8B8CF"/>
                </a:solidFill>
                <a:latin typeface="Segoe UI" pitchFamily="34" charset="0"/>
                <a:ea typeface="Segoe UI" pitchFamily="34" charset="-122"/>
                <a:cs typeface="Segoe UI" pitchFamily="34" charset="-120"/>
              </a:rPr>
              <a:t>STRUCTURE</a:t>
            </a:r>
            <a:endParaRPr lang="en-US" sz="1100" dirty="0"/>
          </a:p>
        </p:txBody>
      </p:sp>
      <p:sp>
        <p:nvSpPr>
          <p:cNvPr id="4" name="s6-text-3"/>
          <p:cNvSpPr/>
          <p:nvPr/>
        </p:nvSpPr>
        <p:spPr>
          <a:xfrm>
            <a:off x="8412480" y="237744"/>
            <a:ext cx="3227832" cy="201168"/>
          </a:xfrm>
          <a:prstGeom prst="rect">
            <a:avLst/>
          </a:prstGeom>
          <a:noFill/>
          <a:ln/>
        </p:spPr>
        <p:txBody>
          <a:bodyPr wrap="square" lIns="0" tIns="0" rIns="0" bIns="0" rtlCol="0" anchor="t"/>
          <a:lstStyle/>
          <a:p>
            <a:pPr algn="r" indent="0" marL="0">
              <a:buNone/>
            </a:pPr>
            <a:r>
              <a:rPr lang="en-US" sz="1050" dirty="0">
                <a:solidFill>
                  <a:srgbClr val="A8B8CF"/>
                </a:solidFill>
                <a:latin typeface="Segoe UI" pitchFamily="34" charset="0"/>
                <a:ea typeface="Segoe UI" pitchFamily="34" charset="-122"/>
                <a:cs typeface="Segoe UI" pitchFamily="34" charset="-120"/>
              </a:rPr>
              <a:t>TEAM SHOWCASE</a:t>
            </a:r>
            <a:endParaRPr lang="en-US" sz="1050" dirty="0"/>
          </a:p>
        </p:txBody>
      </p:sp>
      <p:sp>
        <p:nvSpPr>
          <p:cNvPr id="5" name="s6-text-4"/>
          <p:cNvSpPr/>
          <p:nvPr/>
        </p:nvSpPr>
        <p:spPr>
          <a:xfrm>
            <a:off x="548640" y="640080"/>
            <a:ext cx="11091672" cy="914400"/>
          </a:xfrm>
          <a:prstGeom prst="rect">
            <a:avLst/>
          </a:prstGeom>
          <a:noFill/>
          <a:ln/>
        </p:spPr>
        <p:txBody>
          <a:bodyPr wrap="square" lIns="0" tIns="0" rIns="0" bIns="0" rtlCol="0" anchor="t"/>
          <a:lstStyle/>
          <a:p>
            <a:pPr indent="0" marL="0">
              <a:buNone/>
            </a:pPr>
            <a:r>
              <a:rPr lang="en-US" sz="3000" b="1" dirty="0">
                <a:solidFill>
                  <a:srgbClr val="F3F7FC"/>
                </a:solidFill>
                <a:latin typeface="Segoe UI" pitchFamily="34" charset="0"/>
                <a:ea typeface="Segoe UI" pitchFamily="34" charset="-122"/>
                <a:cs typeface="Segoe UI" pitchFamily="34" charset="-120"/>
              </a:rPr>
              <a:t>What happens when an action reaches Airlock</a:t>
            </a:r>
            <a:endParaRPr lang="en-US" sz="3000" dirty="0"/>
          </a:p>
        </p:txBody>
      </p:sp>
      <p:sp>
        <p:nvSpPr>
          <p:cNvPr id="6" name="s6-text-5"/>
          <p:cNvSpPr/>
          <p:nvPr/>
        </p:nvSpPr>
        <p:spPr>
          <a:xfrm>
            <a:off x="548640" y="1600200"/>
            <a:ext cx="11091672" cy="338328"/>
          </a:xfrm>
          <a:prstGeom prst="rect">
            <a:avLst/>
          </a:prstGeom>
          <a:noFill/>
          <a:ln/>
        </p:spPr>
        <p:txBody>
          <a:bodyPr wrap="square" lIns="0" tIns="0" rIns="0" bIns="0" rtlCol="0" anchor="t"/>
          <a:lstStyle/>
          <a:p>
            <a:pPr indent="0" marL="0">
              <a:buNone/>
            </a:pPr>
            <a:r>
              <a:rPr lang="en-US" sz="1550" dirty="0">
                <a:solidFill>
                  <a:srgbClr val="A8B8CF"/>
                </a:solidFill>
                <a:latin typeface="Segoe UI" pitchFamily="34" charset="0"/>
                <a:ea typeface="Segoe UI" pitchFamily="34" charset="-122"/>
                <a:cs typeface="Segoe UI" pitchFamily="34" charset="-120"/>
              </a:rPr>
              <a:t>The exact bytes that are checked are the bytes the executor receives.</a:t>
            </a:r>
            <a:endParaRPr lang="en-US" sz="1550" dirty="0"/>
          </a:p>
        </p:txBody>
      </p:sp>
      <p:sp>
        <p:nvSpPr>
          <p:cNvPr id="7" name="Shape 5"/>
          <p:cNvSpPr/>
          <p:nvPr/>
        </p:nvSpPr>
        <p:spPr>
          <a:xfrm>
            <a:off x="548640" y="6446520"/>
            <a:ext cx="11091672" cy="0"/>
          </a:xfrm>
          <a:prstGeom prst="line">
            <a:avLst/>
          </a:prstGeom>
          <a:solidFill>
            <a:srgbClr val="142238"/>
          </a:solidFill>
          <a:ln w="7620">
            <a:solidFill>
              <a:srgbClr val="2B405B"/>
            </a:solidFill>
            <a:prstDash val="solid"/>
          </a:ln>
        </p:spPr>
      </p:sp>
      <p:sp>
        <p:nvSpPr>
          <p:cNvPr id="8" name="s6-text-6"/>
          <p:cNvSpPr/>
          <p:nvPr/>
        </p:nvSpPr>
        <p:spPr>
          <a:xfrm>
            <a:off x="548640" y="6556248"/>
            <a:ext cx="5852160" cy="164592"/>
          </a:xfrm>
          <a:prstGeom prst="rect">
            <a:avLst/>
          </a:prstGeom>
          <a:noFill/>
          <a:ln/>
        </p:spPr>
        <p:txBody>
          <a:bodyPr wrap="square" lIns="0" tIns="0" rIns="0" bIns="0" rtlCol="0" anchor="t"/>
          <a:lstStyle/>
          <a:p>
            <a:pPr indent="0" marL="0">
              <a:buNone/>
            </a:pPr>
            <a:r>
              <a:rPr lang="en-US" sz="950" dirty="0">
                <a:solidFill>
                  <a:srgbClr val="A8B8CF"/>
                </a:solidFill>
                <a:latin typeface="Segoe UI" pitchFamily="34" charset="0"/>
                <a:ea typeface="Segoe UI" pitchFamily="34" charset="-122"/>
                <a:cs typeface="Segoe UI" pitchFamily="34" charset="-120"/>
              </a:rPr>
              <a:t>PROTOTYPE  |  POLICY-GOVERNED AGENT ACTIONS</a:t>
            </a:r>
            <a:endParaRPr lang="en-US" sz="950" dirty="0"/>
          </a:p>
        </p:txBody>
      </p:sp>
      <p:sp>
        <p:nvSpPr>
          <p:cNvPr id="9" name="s6-text-7"/>
          <p:cNvSpPr/>
          <p:nvPr/>
        </p:nvSpPr>
        <p:spPr>
          <a:xfrm>
            <a:off x="10863072" y="6528816"/>
            <a:ext cx="777240" cy="210312"/>
          </a:xfrm>
          <a:prstGeom prst="rect">
            <a:avLst/>
          </a:prstGeom>
          <a:noFill/>
          <a:ln/>
        </p:spPr>
        <p:txBody>
          <a:bodyPr wrap="square" lIns="0" tIns="0" rIns="0" bIns="0" rtlCol="0" anchor="t"/>
          <a:lstStyle/>
          <a:p>
            <a:pPr algn="r" indent="0" marL="0">
              <a:buNone/>
            </a:pPr>
            <a:r>
              <a:rPr lang="en-US" sz="1100" dirty="0">
                <a:solidFill>
                  <a:srgbClr val="53DDF2"/>
                </a:solidFill>
                <a:latin typeface="Segoe UI" pitchFamily="34" charset="0"/>
                <a:ea typeface="Segoe UI" pitchFamily="34" charset="-122"/>
                <a:cs typeface="Segoe UI" pitchFamily="34" charset="-120"/>
              </a:rPr>
              <a:t>06 / 17</a:t>
            </a:r>
            <a:endParaRPr lang="en-US" sz="1100" dirty="0"/>
          </a:p>
        </p:txBody>
      </p:sp>
      <p:sp>
        <p:nvSpPr>
          <p:cNvPr id="10" name="Shape 8"/>
          <p:cNvSpPr/>
          <p:nvPr/>
        </p:nvSpPr>
        <p:spPr>
          <a:xfrm>
            <a:off x="594360" y="2011680"/>
            <a:ext cx="2148840" cy="475488"/>
          </a:xfrm>
          <a:prstGeom prst="roundRect">
            <a:avLst>
              <a:gd name="adj" fmla="val 30769"/>
            </a:avLst>
          </a:prstGeom>
          <a:solidFill>
            <a:srgbClr val="142238"/>
          </a:solidFill>
          <a:ln w="10160">
            <a:solidFill>
              <a:srgbClr val="2B405B"/>
            </a:solidFill>
            <a:prstDash val="solid"/>
          </a:ln>
        </p:spPr>
      </p:sp>
      <p:sp>
        <p:nvSpPr>
          <p:cNvPr id="11" name="s6-text-8"/>
          <p:cNvSpPr/>
          <p:nvPr/>
        </p:nvSpPr>
        <p:spPr>
          <a:xfrm>
            <a:off x="731520" y="2157984"/>
            <a:ext cx="1874520" cy="201168"/>
          </a:xfrm>
          <a:prstGeom prst="rect">
            <a:avLst/>
          </a:prstGeom>
          <a:noFill/>
          <a:ln/>
        </p:spPr>
        <p:txBody>
          <a:bodyPr wrap="square" lIns="0" tIns="0" rIns="0" bIns="0" rtlCol="0" anchor="t"/>
          <a:lstStyle/>
          <a:p>
            <a:pPr algn="ctr" indent="0" marL="0">
              <a:buNone/>
            </a:pPr>
            <a:r>
              <a:rPr lang="en-US" sz="1200" b="1" dirty="0">
                <a:solidFill>
                  <a:srgbClr val="F3F7FC"/>
                </a:solidFill>
                <a:latin typeface="Segoe UI" pitchFamily="34" charset="0"/>
                <a:ea typeface="Segoe UI" pitchFamily="34" charset="-122"/>
                <a:cs typeface="Segoe UI" pitchFamily="34" charset="-120"/>
              </a:rPr>
              <a:t>Tool adapter</a:t>
            </a:r>
            <a:endParaRPr lang="en-US" sz="1200" dirty="0"/>
          </a:p>
        </p:txBody>
      </p:sp>
      <p:sp>
        <p:nvSpPr>
          <p:cNvPr id="12" name="Shape 10"/>
          <p:cNvSpPr/>
          <p:nvPr/>
        </p:nvSpPr>
        <p:spPr>
          <a:xfrm>
            <a:off x="1645920" y="2624328"/>
            <a:ext cx="0" cy="2651760"/>
          </a:xfrm>
          <a:prstGeom prst="line">
            <a:avLst/>
          </a:prstGeom>
          <a:solidFill>
            <a:srgbClr val="142238"/>
          </a:solidFill>
          <a:ln w="12700">
            <a:solidFill>
              <a:srgbClr val="2B405B"/>
            </a:solidFill>
            <a:prstDash val="dash"/>
          </a:ln>
        </p:spPr>
      </p:sp>
      <p:sp>
        <p:nvSpPr>
          <p:cNvPr id="13" name="Shape 11"/>
          <p:cNvSpPr/>
          <p:nvPr/>
        </p:nvSpPr>
        <p:spPr>
          <a:xfrm>
            <a:off x="3383280" y="2011680"/>
            <a:ext cx="2148840" cy="475488"/>
          </a:xfrm>
          <a:prstGeom prst="roundRect">
            <a:avLst>
              <a:gd name="adj" fmla="val 30769"/>
            </a:avLst>
          </a:prstGeom>
          <a:solidFill>
            <a:srgbClr val="142238"/>
          </a:solidFill>
          <a:ln w="10160">
            <a:solidFill>
              <a:srgbClr val="2B405B"/>
            </a:solidFill>
            <a:prstDash val="solid"/>
          </a:ln>
        </p:spPr>
      </p:sp>
      <p:sp>
        <p:nvSpPr>
          <p:cNvPr id="14" name="s6-text-9"/>
          <p:cNvSpPr/>
          <p:nvPr/>
        </p:nvSpPr>
        <p:spPr>
          <a:xfrm>
            <a:off x="3520440" y="2157984"/>
            <a:ext cx="1874520" cy="201168"/>
          </a:xfrm>
          <a:prstGeom prst="rect">
            <a:avLst/>
          </a:prstGeom>
          <a:noFill/>
          <a:ln/>
        </p:spPr>
        <p:txBody>
          <a:bodyPr wrap="square" lIns="0" tIns="0" rIns="0" bIns="0" rtlCol="0" anchor="t"/>
          <a:lstStyle/>
          <a:p>
            <a:pPr algn="ctr" indent="0" marL="0">
              <a:buNone/>
            </a:pPr>
            <a:r>
              <a:rPr lang="en-US" sz="1200" b="1" dirty="0">
                <a:solidFill>
                  <a:srgbClr val="F3F7FC"/>
                </a:solidFill>
                <a:latin typeface="Segoe UI" pitchFamily="34" charset="0"/>
                <a:ea typeface="Segoe UI" pitchFamily="34" charset="-122"/>
                <a:cs typeface="Segoe UI" pitchFamily="34" charset="-120"/>
              </a:rPr>
              <a:t>Broker</a:t>
            </a:r>
            <a:endParaRPr lang="en-US" sz="1200" dirty="0"/>
          </a:p>
        </p:txBody>
      </p:sp>
      <p:sp>
        <p:nvSpPr>
          <p:cNvPr id="15" name="Shape 13"/>
          <p:cNvSpPr/>
          <p:nvPr/>
        </p:nvSpPr>
        <p:spPr>
          <a:xfrm>
            <a:off x="4434840" y="2624328"/>
            <a:ext cx="0" cy="2651760"/>
          </a:xfrm>
          <a:prstGeom prst="line">
            <a:avLst/>
          </a:prstGeom>
          <a:solidFill>
            <a:srgbClr val="142238"/>
          </a:solidFill>
          <a:ln w="12700">
            <a:solidFill>
              <a:srgbClr val="2B405B"/>
            </a:solidFill>
            <a:prstDash val="dash"/>
          </a:ln>
        </p:spPr>
      </p:sp>
      <p:sp>
        <p:nvSpPr>
          <p:cNvPr id="16" name="Shape 14"/>
          <p:cNvSpPr/>
          <p:nvPr/>
        </p:nvSpPr>
        <p:spPr>
          <a:xfrm>
            <a:off x="6263640" y="2011680"/>
            <a:ext cx="2148840" cy="475488"/>
          </a:xfrm>
          <a:prstGeom prst="roundRect">
            <a:avLst>
              <a:gd name="adj" fmla="val 30769"/>
            </a:avLst>
          </a:prstGeom>
          <a:solidFill>
            <a:srgbClr val="142238"/>
          </a:solidFill>
          <a:ln w="10160">
            <a:solidFill>
              <a:srgbClr val="2B405B"/>
            </a:solidFill>
            <a:prstDash val="solid"/>
          </a:ln>
        </p:spPr>
      </p:sp>
      <p:sp>
        <p:nvSpPr>
          <p:cNvPr id="17" name="s6-text-10"/>
          <p:cNvSpPr/>
          <p:nvPr/>
        </p:nvSpPr>
        <p:spPr>
          <a:xfrm>
            <a:off x="6400800" y="2157984"/>
            <a:ext cx="1874520" cy="201168"/>
          </a:xfrm>
          <a:prstGeom prst="rect">
            <a:avLst/>
          </a:prstGeom>
          <a:noFill/>
          <a:ln/>
        </p:spPr>
        <p:txBody>
          <a:bodyPr wrap="square" lIns="0" tIns="0" rIns="0" bIns="0" rtlCol="0" anchor="t"/>
          <a:lstStyle/>
          <a:p>
            <a:pPr algn="ctr" indent="0" marL="0">
              <a:buNone/>
            </a:pPr>
            <a:r>
              <a:rPr lang="en-US" sz="1200" b="1" dirty="0">
                <a:solidFill>
                  <a:srgbClr val="F3F7FC"/>
                </a:solidFill>
                <a:latin typeface="Segoe UI" pitchFamily="34" charset="0"/>
                <a:ea typeface="Segoe UI" pitchFamily="34" charset="-122"/>
                <a:cs typeface="Segoe UI" pitchFamily="34" charset="-120"/>
              </a:rPr>
              <a:t>Evaluator + gates</a:t>
            </a:r>
            <a:endParaRPr lang="en-US" sz="1200" dirty="0"/>
          </a:p>
        </p:txBody>
      </p:sp>
      <p:sp>
        <p:nvSpPr>
          <p:cNvPr id="18" name="Shape 16"/>
          <p:cNvSpPr/>
          <p:nvPr/>
        </p:nvSpPr>
        <p:spPr>
          <a:xfrm>
            <a:off x="7315200" y="2624328"/>
            <a:ext cx="0" cy="2651760"/>
          </a:xfrm>
          <a:prstGeom prst="line">
            <a:avLst/>
          </a:prstGeom>
          <a:solidFill>
            <a:srgbClr val="142238"/>
          </a:solidFill>
          <a:ln w="12700">
            <a:solidFill>
              <a:srgbClr val="2B405B"/>
            </a:solidFill>
            <a:prstDash val="dash"/>
          </a:ln>
        </p:spPr>
      </p:sp>
      <p:sp>
        <p:nvSpPr>
          <p:cNvPr id="19" name="Shape 17"/>
          <p:cNvSpPr/>
          <p:nvPr/>
        </p:nvSpPr>
        <p:spPr>
          <a:xfrm>
            <a:off x="9235440" y="2011680"/>
            <a:ext cx="2148840" cy="475488"/>
          </a:xfrm>
          <a:prstGeom prst="roundRect">
            <a:avLst>
              <a:gd name="adj" fmla="val 30769"/>
            </a:avLst>
          </a:prstGeom>
          <a:solidFill>
            <a:srgbClr val="142238"/>
          </a:solidFill>
          <a:ln w="10160">
            <a:solidFill>
              <a:srgbClr val="2B405B"/>
            </a:solidFill>
            <a:prstDash val="solid"/>
          </a:ln>
        </p:spPr>
      </p:sp>
      <p:sp>
        <p:nvSpPr>
          <p:cNvPr id="20" name="s6-text-11"/>
          <p:cNvSpPr/>
          <p:nvPr/>
        </p:nvSpPr>
        <p:spPr>
          <a:xfrm>
            <a:off x="9372600" y="2157984"/>
            <a:ext cx="1874520" cy="201168"/>
          </a:xfrm>
          <a:prstGeom prst="rect">
            <a:avLst/>
          </a:prstGeom>
          <a:noFill/>
          <a:ln/>
        </p:spPr>
        <p:txBody>
          <a:bodyPr wrap="square" lIns="0" tIns="0" rIns="0" bIns="0" rtlCol="0" anchor="t"/>
          <a:lstStyle/>
          <a:p>
            <a:pPr algn="ctr" indent="0" marL="0">
              <a:buNone/>
            </a:pPr>
            <a:r>
              <a:rPr lang="en-US" sz="1200" b="1" dirty="0">
                <a:solidFill>
                  <a:srgbClr val="F3F7FC"/>
                </a:solidFill>
                <a:latin typeface="Segoe UI" pitchFamily="34" charset="0"/>
                <a:ea typeface="Segoe UI" pitchFamily="34" charset="-122"/>
                <a:cs typeface="Segoe UI" pitchFamily="34" charset="-120"/>
              </a:rPr>
              <a:t>Executor</a:t>
            </a:r>
            <a:endParaRPr lang="en-US" sz="1200" dirty="0"/>
          </a:p>
        </p:txBody>
      </p:sp>
      <p:sp>
        <p:nvSpPr>
          <p:cNvPr id="21" name="Shape 19"/>
          <p:cNvSpPr/>
          <p:nvPr/>
        </p:nvSpPr>
        <p:spPr>
          <a:xfrm>
            <a:off x="10287000" y="2624328"/>
            <a:ext cx="0" cy="2651760"/>
          </a:xfrm>
          <a:prstGeom prst="line">
            <a:avLst/>
          </a:prstGeom>
          <a:solidFill>
            <a:srgbClr val="142238"/>
          </a:solidFill>
          <a:ln w="12700">
            <a:solidFill>
              <a:srgbClr val="2B405B"/>
            </a:solidFill>
            <a:prstDash val="dash"/>
          </a:ln>
        </p:spPr>
      </p:sp>
      <p:sp>
        <p:nvSpPr>
          <p:cNvPr id="22" name="Shape 20"/>
          <p:cNvSpPr/>
          <p:nvPr/>
        </p:nvSpPr>
        <p:spPr>
          <a:xfrm>
            <a:off x="1645920" y="2834640"/>
            <a:ext cx="2788920" cy="0"/>
          </a:xfrm>
          <a:prstGeom prst="line">
            <a:avLst/>
          </a:prstGeom>
          <a:solidFill>
            <a:srgbClr val="142238"/>
          </a:solidFill>
          <a:ln w="20320">
            <a:solidFill>
              <a:srgbClr val="53DDF2"/>
            </a:solidFill>
            <a:prstDash val="solid"/>
            <a:headEnd type="none"/>
            <a:tailEnd type="triangle"/>
          </a:ln>
        </p:spPr>
      </p:sp>
      <p:sp>
        <p:nvSpPr>
          <p:cNvPr id="23" name="s6-text-12"/>
          <p:cNvSpPr/>
          <p:nvPr/>
        </p:nvSpPr>
        <p:spPr>
          <a:xfrm>
            <a:off x="1737360" y="2587752"/>
            <a:ext cx="2606040" cy="201168"/>
          </a:xfrm>
          <a:prstGeom prst="rect">
            <a:avLst/>
          </a:prstGeom>
          <a:noFill/>
          <a:ln/>
        </p:spPr>
        <p:txBody>
          <a:bodyPr wrap="square" lIns="0" tIns="0" rIns="0" bIns="0" rtlCol="0" anchor="t"/>
          <a:lstStyle/>
          <a:p>
            <a:pPr indent="0" marL="0">
              <a:buNone/>
            </a:pPr>
            <a:r>
              <a:rPr lang="en-US" sz="1150" dirty="0">
                <a:solidFill>
                  <a:srgbClr val="53DDF2"/>
                </a:solidFill>
                <a:latin typeface="Segoe UI" pitchFamily="34" charset="0"/>
                <a:ea typeface="Segoe UI" pitchFamily="34" charset="-122"/>
                <a:cs typeface="Segoe UI" pitchFamily="34" charset="-120"/>
              </a:rPr>
              <a:t>1  validated action + callback</a:t>
            </a:r>
            <a:endParaRPr lang="en-US" sz="1150" dirty="0"/>
          </a:p>
        </p:txBody>
      </p:sp>
      <p:sp>
        <p:nvSpPr>
          <p:cNvPr id="24" name="Shape 22"/>
          <p:cNvSpPr/>
          <p:nvPr/>
        </p:nvSpPr>
        <p:spPr>
          <a:xfrm>
            <a:off x="4434840" y="3337560"/>
            <a:ext cx="2880360" cy="0"/>
          </a:xfrm>
          <a:prstGeom prst="line">
            <a:avLst/>
          </a:prstGeom>
          <a:solidFill>
            <a:srgbClr val="142238"/>
          </a:solidFill>
          <a:ln w="20320">
            <a:solidFill>
              <a:srgbClr val="53DDF2"/>
            </a:solidFill>
            <a:prstDash val="solid"/>
            <a:headEnd type="none"/>
            <a:tailEnd type="triangle"/>
          </a:ln>
        </p:spPr>
      </p:sp>
      <p:sp>
        <p:nvSpPr>
          <p:cNvPr id="25" name="s6-text-13"/>
          <p:cNvSpPr/>
          <p:nvPr/>
        </p:nvSpPr>
        <p:spPr>
          <a:xfrm>
            <a:off x="4526280" y="3090672"/>
            <a:ext cx="2697480" cy="201168"/>
          </a:xfrm>
          <a:prstGeom prst="rect">
            <a:avLst/>
          </a:prstGeom>
          <a:noFill/>
          <a:ln/>
        </p:spPr>
        <p:txBody>
          <a:bodyPr wrap="square" lIns="0" tIns="0" rIns="0" bIns="0" rtlCol="0" anchor="t"/>
          <a:lstStyle/>
          <a:p>
            <a:pPr indent="0" marL="0">
              <a:buNone/>
            </a:pPr>
            <a:r>
              <a:rPr lang="en-US" sz="1150" dirty="0">
                <a:solidFill>
                  <a:srgbClr val="53DDF2"/>
                </a:solidFill>
                <a:latin typeface="Segoe UI" pitchFamily="34" charset="0"/>
                <a:ea typeface="Segoe UI" pitchFamily="34" charset="-122"/>
                <a:cs typeface="Segoe UI" pitchFamily="34" charset="-120"/>
              </a:rPr>
              <a:t>2  evaluate frozen snapshot</a:t>
            </a:r>
            <a:endParaRPr lang="en-US" sz="1150" dirty="0"/>
          </a:p>
        </p:txBody>
      </p:sp>
      <p:sp>
        <p:nvSpPr>
          <p:cNvPr id="26" name="Shape 24"/>
          <p:cNvSpPr/>
          <p:nvPr/>
        </p:nvSpPr>
        <p:spPr>
          <a:xfrm>
            <a:off x="4434840" y="3840480"/>
            <a:ext cx="2880360" cy="0"/>
          </a:xfrm>
          <a:prstGeom prst="line">
            <a:avLst/>
          </a:prstGeom>
          <a:solidFill>
            <a:srgbClr val="142238"/>
          </a:solidFill>
          <a:ln w="20320">
            <a:solidFill>
              <a:srgbClr val="B5A0FF"/>
            </a:solidFill>
            <a:prstDash val="solid"/>
            <a:headEnd type="triangle"/>
            <a:tailEnd type="none"/>
          </a:ln>
        </p:spPr>
      </p:sp>
      <p:sp>
        <p:nvSpPr>
          <p:cNvPr id="27" name="s6-text-14"/>
          <p:cNvSpPr/>
          <p:nvPr/>
        </p:nvSpPr>
        <p:spPr>
          <a:xfrm>
            <a:off x="4526280" y="3593592"/>
            <a:ext cx="2697480" cy="201168"/>
          </a:xfrm>
          <a:prstGeom prst="rect">
            <a:avLst/>
          </a:prstGeom>
          <a:noFill/>
          <a:ln/>
        </p:spPr>
        <p:txBody>
          <a:bodyPr wrap="square" lIns="0" tIns="0" rIns="0" bIns="0" rtlCol="0" anchor="t"/>
          <a:lstStyle/>
          <a:p>
            <a:pPr indent="0" marL="0">
              <a:buNone/>
            </a:pPr>
            <a:r>
              <a:rPr lang="en-US" sz="1150" dirty="0">
                <a:solidFill>
                  <a:srgbClr val="B5A0FF"/>
                </a:solidFill>
                <a:latin typeface="Segoe UI" pitchFamily="34" charset="0"/>
                <a:ea typeface="Segoe UI" pitchFamily="34" charset="-122"/>
                <a:cs typeface="Segoe UI" pitchFamily="34" charset="-120"/>
              </a:rPr>
              <a:t>3  combined decision + checks</a:t>
            </a:r>
            <a:endParaRPr lang="en-US" sz="1150" dirty="0"/>
          </a:p>
        </p:txBody>
      </p:sp>
      <p:sp>
        <p:nvSpPr>
          <p:cNvPr id="28" name="Shape 26"/>
          <p:cNvSpPr/>
          <p:nvPr/>
        </p:nvSpPr>
        <p:spPr>
          <a:xfrm>
            <a:off x="4434840" y="4892040"/>
            <a:ext cx="5852160" cy="0"/>
          </a:xfrm>
          <a:prstGeom prst="line">
            <a:avLst/>
          </a:prstGeom>
          <a:solidFill>
            <a:srgbClr val="142238"/>
          </a:solidFill>
          <a:ln w="20320">
            <a:solidFill>
              <a:srgbClr val="49DCA2"/>
            </a:solidFill>
            <a:prstDash val="solid"/>
            <a:headEnd type="none"/>
            <a:tailEnd type="triangle"/>
          </a:ln>
        </p:spPr>
      </p:sp>
      <p:sp>
        <p:nvSpPr>
          <p:cNvPr id="29" name="s6-text-15"/>
          <p:cNvSpPr/>
          <p:nvPr/>
        </p:nvSpPr>
        <p:spPr>
          <a:xfrm>
            <a:off x="4526280" y="4645152"/>
            <a:ext cx="5669280" cy="201168"/>
          </a:xfrm>
          <a:prstGeom prst="rect">
            <a:avLst/>
          </a:prstGeom>
          <a:noFill/>
          <a:ln/>
        </p:spPr>
        <p:txBody>
          <a:bodyPr wrap="square" lIns="0" tIns="0" rIns="0" bIns="0" rtlCol="0" anchor="t"/>
          <a:lstStyle/>
          <a:p>
            <a:pPr indent="0" marL="0">
              <a:buNone/>
            </a:pPr>
            <a:r>
              <a:rPr lang="en-US" sz="1150" dirty="0">
                <a:solidFill>
                  <a:srgbClr val="49DCA2"/>
                </a:solidFill>
                <a:latin typeface="Segoe UI" pitchFamily="34" charset="0"/>
                <a:ea typeface="Segoe UI" pitchFamily="34" charset="-122"/>
                <a:cs typeface="Segoe UI" pitchFamily="34" charset="-120"/>
              </a:rPr>
              <a:t>5  execute(snapshot, id) ONLY IF ALLOW</a:t>
            </a:r>
            <a:endParaRPr lang="en-US" sz="1150" dirty="0"/>
          </a:p>
        </p:txBody>
      </p:sp>
      <p:sp>
        <p:nvSpPr>
          <p:cNvPr id="30" name="Shape 28"/>
          <p:cNvSpPr/>
          <p:nvPr/>
        </p:nvSpPr>
        <p:spPr>
          <a:xfrm>
            <a:off x="3547872" y="4142232"/>
            <a:ext cx="4599432" cy="438912"/>
          </a:xfrm>
          <a:prstGeom prst="roundRect">
            <a:avLst>
              <a:gd name="adj" fmla="val 33333"/>
            </a:avLst>
          </a:prstGeom>
          <a:solidFill>
            <a:srgbClr val="142238"/>
          </a:solidFill>
          <a:ln w="10160">
            <a:solidFill>
              <a:srgbClr val="FFCE67"/>
            </a:solidFill>
            <a:prstDash val="solid"/>
          </a:ln>
        </p:spPr>
      </p:sp>
      <p:sp>
        <p:nvSpPr>
          <p:cNvPr id="31" name="s6-text-16"/>
          <p:cNvSpPr/>
          <p:nvPr/>
        </p:nvSpPr>
        <p:spPr>
          <a:xfrm>
            <a:off x="3721608" y="4279392"/>
            <a:ext cx="4261104" cy="182880"/>
          </a:xfrm>
          <a:prstGeom prst="rect">
            <a:avLst/>
          </a:prstGeom>
          <a:noFill/>
          <a:ln/>
        </p:spPr>
        <p:txBody>
          <a:bodyPr wrap="square" lIns="0" tIns="0" rIns="0" bIns="0" rtlCol="0" anchor="t"/>
          <a:lstStyle/>
          <a:p>
            <a:pPr indent="0" marL="0">
              <a:buNone/>
            </a:pPr>
            <a:r>
              <a:rPr lang="en-US" sz="1200" b="1" dirty="0">
                <a:solidFill>
                  <a:srgbClr val="FFCE67"/>
                </a:solidFill>
                <a:latin typeface="Segoe UI" pitchFamily="34" charset="0"/>
                <a:ea typeface="Segoe UI" pitchFamily="34" charset="-122"/>
                <a:cs typeface="Segoe UI" pitchFamily="34" charset="-120"/>
              </a:rPr>
              <a:t>4  SAVE RECEIPT  |  non-allow returns here</a:t>
            </a:r>
            <a:endParaRPr lang="en-US" sz="1200" dirty="0"/>
          </a:p>
        </p:txBody>
      </p:sp>
      <p:sp>
        <p:nvSpPr>
          <p:cNvPr id="32" name="Shape 30"/>
          <p:cNvSpPr/>
          <p:nvPr/>
        </p:nvSpPr>
        <p:spPr>
          <a:xfrm>
            <a:off x="548640" y="5687568"/>
            <a:ext cx="11091672" cy="585216"/>
          </a:xfrm>
          <a:prstGeom prst="roundRect">
            <a:avLst>
              <a:gd name="adj" fmla="val 25000"/>
            </a:avLst>
          </a:prstGeom>
          <a:solidFill>
            <a:srgbClr val="142238"/>
          </a:solidFill>
          <a:ln w="10160">
            <a:solidFill>
              <a:srgbClr val="2B405B"/>
            </a:solidFill>
            <a:prstDash val="solid"/>
          </a:ln>
        </p:spPr>
      </p:sp>
      <p:sp>
        <p:nvSpPr>
          <p:cNvPr id="33" name="Shape 31"/>
          <p:cNvSpPr/>
          <p:nvPr/>
        </p:nvSpPr>
        <p:spPr>
          <a:xfrm>
            <a:off x="548640" y="5687568"/>
            <a:ext cx="41148" cy="585216"/>
          </a:xfrm>
          <a:prstGeom prst="rect">
            <a:avLst/>
          </a:prstGeom>
          <a:solidFill>
            <a:srgbClr val="53DDF2"/>
          </a:solidFill>
          <a:ln w="12700">
            <a:solidFill>
              <a:srgbClr val="2B405B">
                <a:alpha val="0"/>
              </a:srgbClr>
            </a:solidFill>
            <a:prstDash val="solid"/>
          </a:ln>
        </p:spPr>
      </p:sp>
      <p:sp>
        <p:nvSpPr>
          <p:cNvPr id="34" name="s6-text-17"/>
          <p:cNvSpPr/>
          <p:nvPr/>
        </p:nvSpPr>
        <p:spPr>
          <a:xfrm>
            <a:off x="758952" y="5833872"/>
            <a:ext cx="10652760" cy="292608"/>
          </a:xfrm>
          <a:prstGeom prst="rect">
            <a:avLst/>
          </a:prstGeom>
          <a:noFill/>
          <a:ln/>
        </p:spPr>
        <p:txBody>
          <a:bodyPr wrap="square" lIns="0" tIns="0" rIns="0" bIns="0" rtlCol="0" anchor="t"/>
          <a:lstStyle/>
          <a:p>
            <a:pPr indent="0" marL="0">
              <a:buNone/>
            </a:pPr>
            <a:r>
              <a:rPr lang="en-US" sz="1600" dirty="0">
                <a:solidFill>
                  <a:srgbClr val="53DDF2"/>
                </a:solidFill>
                <a:latin typeface="Segoe UI" pitchFamily="34" charset="0"/>
                <a:ea typeface="Segoe UI" pitchFamily="34" charset="-122"/>
                <a:cs typeface="Segoe UI" pitchFamily="34" charset="-120"/>
              </a:rPr>
              <a:t>Decision receipt first. Executor second. Any non-allow result returns without opening the door.</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s7-text-1"/>
          <p:cNvSpPr/>
          <p:nvPr/>
        </p:nvSpPr>
        <p:spPr>
          <a:xfrm>
            <a:off x="548640" y="219456"/>
            <a:ext cx="2834640" cy="219456"/>
          </a:xfrm>
          <a:prstGeom prst="rect">
            <a:avLst/>
          </a:prstGeom>
          <a:noFill/>
          <a:ln/>
        </p:spPr>
        <p:txBody>
          <a:bodyPr wrap="square" lIns="0" tIns="0" rIns="0" bIns="0" rtlCol="0" anchor="t"/>
          <a:lstStyle/>
          <a:p>
            <a:pPr indent="0" marL="0">
              <a:buNone/>
            </a:pPr>
            <a:r>
              <a:rPr lang="en-US" sz="1300" b="1" spc="80" kern="0" dirty="0">
                <a:solidFill>
                  <a:srgbClr val="53DDF2"/>
                </a:solidFill>
                <a:latin typeface="Segoe UI" pitchFamily="34" charset="0"/>
                <a:ea typeface="Segoe UI" pitchFamily="34" charset="-122"/>
                <a:cs typeface="Segoe UI" pitchFamily="34" charset="-120"/>
              </a:rPr>
              <a:t>AGENT AIRLOCK</a:t>
            </a:r>
            <a:endParaRPr lang="en-US" sz="1300" dirty="0"/>
          </a:p>
        </p:txBody>
      </p:sp>
      <p:sp>
        <p:nvSpPr>
          <p:cNvPr id="3" name="s7-text-2"/>
          <p:cNvSpPr/>
          <p:nvPr/>
        </p:nvSpPr>
        <p:spPr>
          <a:xfrm>
            <a:off x="3657600" y="237744"/>
            <a:ext cx="4663440" cy="201168"/>
          </a:xfrm>
          <a:prstGeom prst="rect">
            <a:avLst/>
          </a:prstGeom>
          <a:noFill/>
          <a:ln/>
        </p:spPr>
        <p:txBody>
          <a:bodyPr wrap="square" lIns="0" tIns="0" rIns="0" bIns="0" rtlCol="0" anchor="t"/>
          <a:lstStyle/>
          <a:p>
            <a:pPr algn="ctr" indent="0" marL="0">
              <a:buNone/>
            </a:pPr>
            <a:r>
              <a:rPr lang="en-US" sz="1100" spc="100" kern="0" dirty="0">
                <a:solidFill>
                  <a:srgbClr val="A8B8CF"/>
                </a:solidFill>
                <a:latin typeface="Segoe UI" pitchFamily="34" charset="0"/>
                <a:ea typeface="Segoe UI" pitchFamily="34" charset="-122"/>
                <a:cs typeface="Segoe UI" pitchFamily="34" charset="-120"/>
              </a:rPr>
              <a:t>STRUCTURE</a:t>
            </a:r>
            <a:endParaRPr lang="en-US" sz="1100" dirty="0"/>
          </a:p>
        </p:txBody>
      </p:sp>
      <p:sp>
        <p:nvSpPr>
          <p:cNvPr id="4" name="s7-text-3"/>
          <p:cNvSpPr/>
          <p:nvPr/>
        </p:nvSpPr>
        <p:spPr>
          <a:xfrm>
            <a:off x="8412480" y="237744"/>
            <a:ext cx="3227832" cy="201168"/>
          </a:xfrm>
          <a:prstGeom prst="rect">
            <a:avLst/>
          </a:prstGeom>
          <a:noFill/>
          <a:ln/>
        </p:spPr>
        <p:txBody>
          <a:bodyPr wrap="square" lIns="0" tIns="0" rIns="0" bIns="0" rtlCol="0" anchor="t"/>
          <a:lstStyle/>
          <a:p>
            <a:pPr algn="r" indent="0" marL="0">
              <a:buNone/>
            </a:pPr>
            <a:r>
              <a:rPr lang="en-US" sz="1050" dirty="0">
                <a:solidFill>
                  <a:srgbClr val="A8B8CF"/>
                </a:solidFill>
                <a:latin typeface="Segoe UI" pitchFamily="34" charset="0"/>
                <a:ea typeface="Segoe UI" pitchFamily="34" charset="-122"/>
                <a:cs typeface="Segoe UI" pitchFamily="34" charset="-120"/>
              </a:rPr>
              <a:t>TEAM SHOWCASE</a:t>
            </a:r>
            <a:endParaRPr lang="en-US" sz="1050" dirty="0"/>
          </a:p>
        </p:txBody>
      </p:sp>
      <p:sp>
        <p:nvSpPr>
          <p:cNvPr id="5" name="s7-text-4"/>
          <p:cNvSpPr/>
          <p:nvPr/>
        </p:nvSpPr>
        <p:spPr>
          <a:xfrm>
            <a:off x="548640" y="640080"/>
            <a:ext cx="11091672" cy="914400"/>
          </a:xfrm>
          <a:prstGeom prst="rect">
            <a:avLst/>
          </a:prstGeom>
          <a:noFill/>
          <a:ln/>
        </p:spPr>
        <p:txBody>
          <a:bodyPr wrap="square" lIns="0" tIns="0" rIns="0" bIns="0" rtlCol="0" anchor="t"/>
          <a:lstStyle/>
          <a:p>
            <a:pPr indent="0" marL="0">
              <a:buNone/>
            </a:pPr>
            <a:r>
              <a:rPr lang="en-US" sz="3000" b="1" dirty="0">
                <a:solidFill>
                  <a:srgbClr val="F3F7FC"/>
                </a:solidFill>
                <a:latin typeface="Segoe UI" pitchFamily="34" charset="0"/>
                <a:ea typeface="Segoe UI" pitchFamily="34" charset="-122"/>
                <a:cs typeface="Segoe UI" pitchFamily="34" charset="-120"/>
              </a:rPr>
              <a:t>Every gate uses the same decision contract</a:t>
            </a:r>
            <a:endParaRPr lang="en-US" sz="3000" dirty="0"/>
          </a:p>
        </p:txBody>
      </p:sp>
      <p:sp>
        <p:nvSpPr>
          <p:cNvPr id="6" name="s7-text-5"/>
          <p:cNvSpPr/>
          <p:nvPr/>
        </p:nvSpPr>
        <p:spPr>
          <a:xfrm>
            <a:off x="548640" y="1600200"/>
            <a:ext cx="11091672" cy="338328"/>
          </a:xfrm>
          <a:prstGeom prst="rect">
            <a:avLst/>
          </a:prstGeom>
          <a:noFill/>
          <a:ln/>
        </p:spPr>
        <p:txBody>
          <a:bodyPr wrap="square" lIns="0" tIns="0" rIns="0" bIns="0" rtlCol="0" anchor="t"/>
          <a:lstStyle/>
          <a:p>
            <a:pPr indent="0" marL="0">
              <a:buNone/>
            </a:pPr>
            <a:r>
              <a:rPr lang="en-US" sz="1550" dirty="0">
                <a:solidFill>
                  <a:srgbClr val="A8B8CF"/>
                </a:solidFill>
                <a:latin typeface="Segoe UI" pitchFamily="34" charset="0"/>
                <a:ea typeface="Segoe UI" pitchFamily="34" charset="-122"/>
                <a:cs typeface="Segoe UI" pitchFamily="34" charset="-120"/>
              </a:rPr>
              <a:t>Different risks compose because their outputs are deliberately boring.</a:t>
            </a:r>
            <a:endParaRPr lang="en-US" sz="1550" dirty="0"/>
          </a:p>
        </p:txBody>
      </p:sp>
      <p:sp>
        <p:nvSpPr>
          <p:cNvPr id="7" name="Shape 5"/>
          <p:cNvSpPr/>
          <p:nvPr/>
        </p:nvSpPr>
        <p:spPr>
          <a:xfrm>
            <a:off x="548640" y="6446520"/>
            <a:ext cx="11091672" cy="0"/>
          </a:xfrm>
          <a:prstGeom prst="line">
            <a:avLst/>
          </a:prstGeom>
          <a:solidFill>
            <a:srgbClr val="142238"/>
          </a:solidFill>
          <a:ln w="7620">
            <a:solidFill>
              <a:srgbClr val="2B405B"/>
            </a:solidFill>
            <a:prstDash val="solid"/>
          </a:ln>
        </p:spPr>
      </p:sp>
      <p:sp>
        <p:nvSpPr>
          <p:cNvPr id="8" name="s7-text-6"/>
          <p:cNvSpPr/>
          <p:nvPr/>
        </p:nvSpPr>
        <p:spPr>
          <a:xfrm>
            <a:off x="548640" y="6556248"/>
            <a:ext cx="5852160" cy="164592"/>
          </a:xfrm>
          <a:prstGeom prst="rect">
            <a:avLst/>
          </a:prstGeom>
          <a:noFill/>
          <a:ln/>
        </p:spPr>
        <p:txBody>
          <a:bodyPr wrap="square" lIns="0" tIns="0" rIns="0" bIns="0" rtlCol="0" anchor="t"/>
          <a:lstStyle/>
          <a:p>
            <a:pPr indent="0" marL="0">
              <a:buNone/>
            </a:pPr>
            <a:r>
              <a:rPr lang="en-US" sz="950" dirty="0">
                <a:solidFill>
                  <a:srgbClr val="A8B8CF"/>
                </a:solidFill>
                <a:latin typeface="Segoe UI" pitchFamily="34" charset="0"/>
                <a:ea typeface="Segoe UI" pitchFamily="34" charset="-122"/>
                <a:cs typeface="Segoe UI" pitchFamily="34" charset="-120"/>
              </a:rPr>
              <a:t>PROTOTYPE  |  POLICY-GOVERNED AGENT ACTIONS</a:t>
            </a:r>
            <a:endParaRPr lang="en-US" sz="950" dirty="0"/>
          </a:p>
        </p:txBody>
      </p:sp>
      <p:sp>
        <p:nvSpPr>
          <p:cNvPr id="9" name="s7-text-7"/>
          <p:cNvSpPr/>
          <p:nvPr/>
        </p:nvSpPr>
        <p:spPr>
          <a:xfrm>
            <a:off x="10863072" y="6528816"/>
            <a:ext cx="777240" cy="210312"/>
          </a:xfrm>
          <a:prstGeom prst="rect">
            <a:avLst/>
          </a:prstGeom>
          <a:noFill/>
          <a:ln/>
        </p:spPr>
        <p:txBody>
          <a:bodyPr wrap="square" lIns="0" tIns="0" rIns="0" bIns="0" rtlCol="0" anchor="t"/>
          <a:lstStyle/>
          <a:p>
            <a:pPr algn="r" indent="0" marL="0">
              <a:buNone/>
            </a:pPr>
            <a:r>
              <a:rPr lang="en-US" sz="1100" dirty="0">
                <a:solidFill>
                  <a:srgbClr val="53DDF2"/>
                </a:solidFill>
                <a:latin typeface="Segoe UI" pitchFamily="34" charset="0"/>
                <a:ea typeface="Segoe UI" pitchFamily="34" charset="-122"/>
                <a:cs typeface="Segoe UI" pitchFamily="34" charset="-120"/>
              </a:rPr>
              <a:t>07 / 17</a:t>
            </a:r>
            <a:endParaRPr lang="en-US" sz="1100" dirty="0"/>
          </a:p>
        </p:txBody>
      </p:sp>
      <p:sp>
        <p:nvSpPr>
          <p:cNvPr id="10" name="Shape 8"/>
          <p:cNvSpPr/>
          <p:nvPr/>
        </p:nvSpPr>
        <p:spPr>
          <a:xfrm>
            <a:off x="548640" y="2057400"/>
            <a:ext cx="2622042" cy="3337560"/>
          </a:xfrm>
          <a:prstGeom prst="roundRect">
            <a:avLst>
              <a:gd name="adj" fmla="val 5580"/>
            </a:avLst>
          </a:prstGeom>
          <a:solidFill>
            <a:srgbClr val="142238"/>
          </a:solidFill>
          <a:ln w="10160">
            <a:solidFill>
              <a:srgbClr val="FF7C8E"/>
            </a:solidFill>
            <a:prstDash val="solid"/>
          </a:ln>
        </p:spPr>
      </p:sp>
      <p:sp>
        <p:nvSpPr>
          <p:cNvPr id="11" name="s7-text-8"/>
          <p:cNvSpPr/>
          <p:nvPr/>
        </p:nvSpPr>
        <p:spPr>
          <a:xfrm>
            <a:off x="777240" y="2267712"/>
            <a:ext cx="2164842" cy="256032"/>
          </a:xfrm>
          <a:prstGeom prst="rect">
            <a:avLst/>
          </a:prstGeom>
          <a:noFill/>
          <a:ln/>
        </p:spPr>
        <p:txBody>
          <a:bodyPr wrap="square" lIns="0" tIns="0" rIns="0" bIns="0" rtlCol="0" anchor="t"/>
          <a:lstStyle/>
          <a:p>
            <a:pPr indent="0" marL="0">
              <a:buNone/>
            </a:pPr>
            <a:r>
              <a:rPr lang="en-US" sz="1100" b="1" spc="100" kern="0" dirty="0">
                <a:solidFill>
                  <a:srgbClr val="FF7C8E"/>
                </a:solidFill>
                <a:latin typeface="Segoe UI" pitchFamily="34" charset="0"/>
                <a:ea typeface="Segoe UI" pitchFamily="34" charset="-122"/>
                <a:cs typeface="Segoe UI" pitchFamily="34" charset="-120"/>
              </a:rPr>
              <a:t>FORBIDDEN</a:t>
            </a:r>
            <a:endParaRPr lang="en-US" sz="1100" dirty="0"/>
          </a:p>
        </p:txBody>
      </p:sp>
      <p:sp>
        <p:nvSpPr>
          <p:cNvPr id="12" name="s7-text-9"/>
          <p:cNvSpPr/>
          <p:nvPr/>
        </p:nvSpPr>
        <p:spPr>
          <a:xfrm>
            <a:off x="731520" y="2761488"/>
            <a:ext cx="2256282" cy="822960"/>
          </a:xfrm>
          <a:prstGeom prst="rect">
            <a:avLst/>
          </a:prstGeom>
          <a:noFill/>
          <a:ln/>
        </p:spPr>
        <p:txBody>
          <a:bodyPr wrap="square" lIns="0" tIns="0" rIns="0" bIns="0" rtlCol="0" anchor="t"/>
          <a:lstStyle/>
          <a:p>
            <a:pPr indent="0" marL="0">
              <a:buNone/>
            </a:pPr>
            <a:r>
              <a:rPr lang="en-US" sz="2000" b="1" dirty="0">
                <a:solidFill>
                  <a:srgbClr val="F3F7FC"/>
                </a:solidFill>
                <a:latin typeface="Segoe UI" pitchFamily="34" charset="0"/>
                <a:ea typeface="Segoe UI" pitchFamily="34" charset="-122"/>
                <a:cs typeface="Segoe UI" pitchFamily="34" charset="-120"/>
              </a:rPr>
              <a:t>BLOCK</a:t>
            </a:r>
            <a:endParaRPr lang="en-US" sz="2000" dirty="0"/>
          </a:p>
        </p:txBody>
      </p:sp>
      <p:sp>
        <p:nvSpPr>
          <p:cNvPr id="13" name="s7-text-10"/>
          <p:cNvSpPr/>
          <p:nvPr/>
        </p:nvSpPr>
        <p:spPr>
          <a:xfrm>
            <a:off x="777240" y="3739896"/>
            <a:ext cx="2256282" cy="1417320"/>
          </a:xfrm>
          <a:prstGeom prst="rect">
            <a:avLst/>
          </a:prstGeom>
          <a:noFill/>
          <a:ln/>
        </p:spPr>
        <p:txBody>
          <a:bodyPr wrap="square" lIns="0" tIns="0" rIns="0" bIns="0" rtlCol="0" anchor="t"/>
          <a:lstStyle/>
          <a:p>
            <a:pPr indent="0" marL="0">
              <a:buNone/>
            </a:pPr>
            <a:r>
              <a:rPr lang="en-US" sz="1600" dirty="0">
                <a:solidFill>
                  <a:srgbClr val="F3F7FC"/>
                </a:solidFill>
                <a:latin typeface="Segoe UI" pitchFamily="34" charset="0"/>
                <a:ea typeface="Segoe UI" pitchFamily="34" charset="-122"/>
                <a:cs typeface="Segoe UI" pitchFamily="34" charset="-120"/>
              </a:rPr>
              <a:t>Policy rejects the action. Execution never starts.</a:t>
            </a:r>
            <a:endParaRPr lang="en-US" sz="1600" dirty="0"/>
          </a:p>
        </p:txBody>
      </p:sp>
      <p:sp>
        <p:nvSpPr>
          <p:cNvPr id="14" name="Shape 12"/>
          <p:cNvSpPr/>
          <p:nvPr/>
        </p:nvSpPr>
        <p:spPr>
          <a:xfrm>
            <a:off x="3371850" y="2057400"/>
            <a:ext cx="2622042" cy="3337560"/>
          </a:xfrm>
          <a:prstGeom prst="roundRect">
            <a:avLst>
              <a:gd name="adj" fmla="val 5580"/>
            </a:avLst>
          </a:prstGeom>
          <a:solidFill>
            <a:srgbClr val="142238"/>
          </a:solidFill>
          <a:ln w="10160">
            <a:solidFill>
              <a:srgbClr val="B5A0FF"/>
            </a:solidFill>
            <a:prstDash val="solid"/>
          </a:ln>
        </p:spPr>
      </p:sp>
      <p:sp>
        <p:nvSpPr>
          <p:cNvPr id="15" name="s7-text-11"/>
          <p:cNvSpPr/>
          <p:nvPr/>
        </p:nvSpPr>
        <p:spPr>
          <a:xfrm>
            <a:off x="3600450" y="2267712"/>
            <a:ext cx="2164842" cy="256032"/>
          </a:xfrm>
          <a:prstGeom prst="rect">
            <a:avLst/>
          </a:prstGeom>
          <a:noFill/>
          <a:ln/>
        </p:spPr>
        <p:txBody>
          <a:bodyPr wrap="square" lIns="0" tIns="0" rIns="0" bIns="0" rtlCol="0" anchor="t"/>
          <a:lstStyle/>
          <a:p>
            <a:pPr indent="0" marL="0">
              <a:buNone/>
            </a:pPr>
            <a:r>
              <a:rPr lang="en-US" sz="1100" b="1" spc="100" kern="0" dirty="0">
                <a:solidFill>
                  <a:srgbClr val="B5A0FF"/>
                </a:solidFill>
                <a:latin typeface="Segoe UI" pitchFamily="34" charset="0"/>
                <a:ea typeface="Segoe UI" pitchFamily="34" charset="-122"/>
                <a:cs typeface="Segoe UI" pitchFamily="34" charset="-120"/>
              </a:rPr>
              <a:t>CHECK FAILED</a:t>
            </a:r>
            <a:endParaRPr lang="en-US" sz="1100" dirty="0"/>
          </a:p>
        </p:txBody>
      </p:sp>
      <p:sp>
        <p:nvSpPr>
          <p:cNvPr id="16" name="s7-text-12"/>
          <p:cNvSpPr/>
          <p:nvPr/>
        </p:nvSpPr>
        <p:spPr>
          <a:xfrm>
            <a:off x="3554730" y="2761488"/>
            <a:ext cx="2256282" cy="822960"/>
          </a:xfrm>
          <a:prstGeom prst="rect">
            <a:avLst/>
          </a:prstGeom>
          <a:noFill/>
          <a:ln/>
        </p:spPr>
        <p:txBody>
          <a:bodyPr wrap="square" lIns="0" tIns="0" rIns="0" bIns="0" rtlCol="0" anchor="t"/>
          <a:lstStyle/>
          <a:p>
            <a:pPr indent="0" marL="0">
              <a:buNone/>
            </a:pPr>
            <a:r>
              <a:rPr lang="en-US" sz="2000" b="1" dirty="0">
                <a:solidFill>
                  <a:srgbClr val="F3F7FC"/>
                </a:solidFill>
                <a:latin typeface="Segoe UI" pitchFamily="34" charset="0"/>
                <a:ea typeface="Segoe UI" pitchFamily="34" charset="-122"/>
                <a:cs typeface="Segoe UI" pitchFamily="34" charset="-120"/>
              </a:rPr>
              <a:t>ERROR</a:t>
            </a:r>
            <a:endParaRPr lang="en-US" sz="2000" dirty="0"/>
          </a:p>
        </p:txBody>
      </p:sp>
      <p:sp>
        <p:nvSpPr>
          <p:cNvPr id="17" name="s7-text-13"/>
          <p:cNvSpPr/>
          <p:nvPr/>
        </p:nvSpPr>
        <p:spPr>
          <a:xfrm>
            <a:off x="3600450" y="3739896"/>
            <a:ext cx="2256282" cy="1417320"/>
          </a:xfrm>
          <a:prstGeom prst="rect">
            <a:avLst/>
          </a:prstGeom>
          <a:noFill/>
          <a:ln/>
        </p:spPr>
        <p:txBody>
          <a:bodyPr wrap="square" lIns="0" tIns="0" rIns="0" bIns="0" rtlCol="0" anchor="t"/>
          <a:lstStyle/>
          <a:p>
            <a:pPr indent="0" marL="0">
              <a:buNone/>
            </a:pPr>
            <a:r>
              <a:rPr lang="en-US" sz="1600" dirty="0">
                <a:solidFill>
                  <a:srgbClr val="F3F7FC"/>
                </a:solidFill>
                <a:latin typeface="Segoe UI" pitchFamily="34" charset="0"/>
                <a:ea typeface="Segoe UI" pitchFamily="34" charset="-122"/>
                <a:cs typeface="Segoe UI" pitchFamily="34" charset="-120"/>
              </a:rPr>
              <a:t>A required control failed. Fail closed before the effect.</a:t>
            </a:r>
            <a:endParaRPr lang="en-US" sz="1600" dirty="0"/>
          </a:p>
        </p:txBody>
      </p:sp>
      <p:sp>
        <p:nvSpPr>
          <p:cNvPr id="18" name="Shape 16"/>
          <p:cNvSpPr/>
          <p:nvPr/>
        </p:nvSpPr>
        <p:spPr>
          <a:xfrm>
            <a:off x="6195060" y="2057400"/>
            <a:ext cx="2622042" cy="3337560"/>
          </a:xfrm>
          <a:prstGeom prst="roundRect">
            <a:avLst>
              <a:gd name="adj" fmla="val 5580"/>
            </a:avLst>
          </a:prstGeom>
          <a:solidFill>
            <a:srgbClr val="142238"/>
          </a:solidFill>
          <a:ln w="10160">
            <a:solidFill>
              <a:srgbClr val="FFCE67"/>
            </a:solidFill>
            <a:prstDash val="solid"/>
          </a:ln>
        </p:spPr>
      </p:sp>
      <p:sp>
        <p:nvSpPr>
          <p:cNvPr id="19" name="s7-text-14"/>
          <p:cNvSpPr/>
          <p:nvPr/>
        </p:nvSpPr>
        <p:spPr>
          <a:xfrm>
            <a:off x="6423660" y="2267712"/>
            <a:ext cx="2164842" cy="256032"/>
          </a:xfrm>
          <a:prstGeom prst="rect">
            <a:avLst/>
          </a:prstGeom>
          <a:noFill/>
          <a:ln/>
        </p:spPr>
        <p:txBody>
          <a:bodyPr wrap="square" lIns="0" tIns="0" rIns="0" bIns="0" rtlCol="0" anchor="t"/>
          <a:lstStyle/>
          <a:p>
            <a:pPr indent="0" marL="0">
              <a:buNone/>
            </a:pPr>
            <a:r>
              <a:rPr lang="en-US" sz="1100" b="1" spc="100" kern="0" dirty="0">
                <a:solidFill>
                  <a:srgbClr val="FFCE67"/>
                </a:solidFill>
                <a:latin typeface="Segoe UI" pitchFamily="34" charset="0"/>
                <a:ea typeface="Segoe UI" pitchFamily="34" charset="-122"/>
                <a:cs typeface="Segoe UI" pitchFamily="34" charset="-120"/>
              </a:rPr>
              <a:t>HUMAN NEEDED</a:t>
            </a:r>
            <a:endParaRPr lang="en-US" sz="1100" dirty="0"/>
          </a:p>
        </p:txBody>
      </p:sp>
      <p:sp>
        <p:nvSpPr>
          <p:cNvPr id="20" name="s7-text-15"/>
          <p:cNvSpPr/>
          <p:nvPr/>
        </p:nvSpPr>
        <p:spPr>
          <a:xfrm>
            <a:off x="6377940" y="2761488"/>
            <a:ext cx="2256282" cy="822960"/>
          </a:xfrm>
          <a:prstGeom prst="rect">
            <a:avLst/>
          </a:prstGeom>
          <a:noFill/>
          <a:ln/>
        </p:spPr>
        <p:txBody>
          <a:bodyPr wrap="square" lIns="0" tIns="0" rIns="0" bIns="0" rtlCol="0" anchor="t"/>
          <a:lstStyle/>
          <a:p>
            <a:pPr indent="0" marL="0">
              <a:buNone/>
            </a:pPr>
            <a:r>
              <a:rPr lang="en-US" sz="2000" b="1" dirty="0">
                <a:solidFill>
                  <a:srgbClr val="F3F7FC"/>
                </a:solidFill>
                <a:latin typeface="Segoe UI" pitchFamily="34" charset="0"/>
                <a:ea typeface="Segoe UI" pitchFamily="34" charset="-122"/>
                <a:cs typeface="Segoe UI" pitchFamily="34" charset="-120"/>
              </a:rPr>
              <a:t>ASK-FIRST</a:t>
            </a:r>
            <a:endParaRPr lang="en-US" sz="2000" dirty="0"/>
          </a:p>
        </p:txBody>
      </p:sp>
      <p:sp>
        <p:nvSpPr>
          <p:cNvPr id="21" name="s7-text-16"/>
          <p:cNvSpPr/>
          <p:nvPr/>
        </p:nvSpPr>
        <p:spPr>
          <a:xfrm>
            <a:off x="6423660" y="3739896"/>
            <a:ext cx="2256282" cy="1417320"/>
          </a:xfrm>
          <a:prstGeom prst="rect">
            <a:avLst/>
          </a:prstGeom>
          <a:noFill/>
          <a:ln/>
        </p:spPr>
        <p:txBody>
          <a:bodyPr wrap="square" lIns="0" tIns="0" rIns="0" bIns="0" rtlCol="0" anchor="t"/>
          <a:lstStyle/>
          <a:p>
            <a:pPr indent="0" marL="0">
              <a:buNone/>
            </a:pPr>
            <a:r>
              <a:rPr lang="en-US" sz="1600" dirty="0">
                <a:solidFill>
                  <a:srgbClr val="F3F7FC"/>
                </a:solidFill>
                <a:latin typeface="Segoe UI" pitchFamily="34" charset="0"/>
                <a:ea typeface="Segoe UI" pitchFamily="34" charset="-122"/>
                <a:cs typeface="Segoe UI" pitchFamily="34" charset="-120"/>
              </a:rPr>
              <a:t>Pause for review. Today the prototype stops here.</a:t>
            </a:r>
            <a:endParaRPr lang="en-US" sz="1600" dirty="0"/>
          </a:p>
        </p:txBody>
      </p:sp>
      <p:sp>
        <p:nvSpPr>
          <p:cNvPr id="22" name="Shape 20"/>
          <p:cNvSpPr/>
          <p:nvPr/>
        </p:nvSpPr>
        <p:spPr>
          <a:xfrm>
            <a:off x="9018270" y="2057400"/>
            <a:ext cx="2622042" cy="3337560"/>
          </a:xfrm>
          <a:prstGeom prst="roundRect">
            <a:avLst>
              <a:gd name="adj" fmla="val 5580"/>
            </a:avLst>
          </a:prstGeom>
          <a:solidFill>
            <a:srgbClr val="142238"/>
          </a:solidFill>
          <a:ln w="10160">
            <a:solidFill>
              <a:srgbClr val="49DCA2"/>
            </a:solidFill>
            <a:prstDash val="solid"/>
          </a:ln>
        </p:spPr>
      </p:sp>
      <p:sp>
        <p:nvSpPr>
          <p:cNvPr id="23" name="s7-text-17"/>
          <p:cNvSpPr/>
          <p:nvPr/>
        </p:nvSpPr>
        <p:spPr>
          <a:xfrm>
            <a:off x="9246870" y="2267712"/>
            <a:ext cx="2164842" cy="256032"/>
          </a:xfrm>
          <a:prstGeom prst="rect">
            <a:avLst/>
          </a:prstGeom>
          <a:noFill/>
          <a:ln/>
        </p:spPr>
        <p:txBody>
          <a:bodyPr wrap="square" lIns="0" tIns="0" rIns="0" bIns="0" rtlCol="0" anchor="t"/>
          <a:lstStyle/>
          <a:p>
            <a:pPr indent="0" marL="0">
              <a:buNone/>
            </a:pPr>
            <a:r>
              <a:rPr lang="en-US" sz="1100" b="1" spc="100" kern="0" dirty="0">
                <a:solidFill>
                  <a:srgbClr val="49DCA2"/>
                </a:solidFill>
                <a:latin typeface="Segoe UI" pitchFamily="34" charset="0"/>
                <a:ea typeface="Segoe UI" pitchFamily="34" charset="-122"/>
                <a:cs typeface="Segoe UI" pitchFamily="34" charset="-120"/>
              </a:rPr>
              <a:t>ALL CLEAR</a:t>
            </a:r>
            <a:endParaRPr lang="en-US" sz="1100" dirty="0"/>
          </a:p>
        </p:txBody>
      </p:sp>
      <p:sp>
        <p:nvSpPr>
          <p:cNvPr id="24" name="s7-text-18"/>
          <p:cNvSpPr/>
          <p:nvPr/>
        </p:nvSpPr>
        <p:spPr>
          <a:xfrm>
            <a:off x="9201150" y="2761488"/>
            <a:ext cx="2256282" cy="822960"/>
          </a:xfrm>
          <a:prstGeom prst="rect">
            <a:avLst/>
          </a:prstGeom>
          <a:noFill/>
          <a:ln/>
        </p:spPr>
        <p:txBody>
          <a:bodyPr wrap="square" lIns="0" tIns="0" rIns="0" bIns="0" rtlCol="0" anchor="t"/>
          <a:lstStyle/>
          <a:p>
            <a:pPr indent="0" marL="0">
              <a:buNone/>
            </a:pPr>
            <a:r>
              <a:rPr lang="en-US" sz="2000" b="1" dirty="0">
                <a:solidFill>
                  <a:srgbClr val="F3F7FC"/>
                </a:solidFill>
                <a:latin typeface="Segoe UI" pitchFamily="34" charset="0"/>
                <a:ea typeface="Segoe UI" pitchFamily="34" charset="-122"/>
                <a:cs typeface="Segoe UI" pitchFamily="34" charset="-120"/>
              </a:rPr>
              <a:t>ALLOW</a:t>
            </a:r>
            <a:endParaRPr lang="en-US" sz="2000" dirty="0"/>
          </a:p>
        </p:txBody>
      </p:sp>
      <p:sp>
        <p:nvSpPr>
          <p:cNvPr id="25" name="s7-text-19"/>
          <p:cNvSpPr/>
          <p:nvPr/>
        </p:nvSpPr>
        <p:spPr>
          <a:xfrm>
            <a:off x="9246870" y="3739896"/>
            <a:ext cx="2256282" cy="1417320"/>
          </a:xfrm>
          <a:prstGeom prst="rect">
            <a:avLst/>
          </a:prstGeom>
          <a:noFill/>
          <a:ln/>
        </p:spPr>
        <p:txBody>
          <a:bodyPr wrap="square" lIns="0" tIns="0" rIns="0" bIns="0" rtlCol="0" anchor="t"/>
          <a:lstStyle/>
          <a:p>
            <a:pPr indent="0" marL="0">
              <a:buNone/>
            </a:pPr>
            <a:r>
              <a:rPr lang="en-US" sz="1600" dirty="0">
                <a:solidFill>
                  <a:srgbClr val="F3F7FC"/>
                </a:solidFill>
                <a:latin typeface="Segoe UI" pitchFamily="34" charset="0"/>
                <a:ea typeface="Segoe UI" pitchFamily="34" charset="-122"/>
                <a:cs typeface="Segoe UI" pitchFamily="34" charset="-120"/>
              </a:rPr>
              <a:t>Every required gate passed. The broker may execute.</a:t>
            </a:r>
            <a:endParaRPr lang="en-US" sz="1600" dirty="0"/>
          </a:p>
        </p:txBody>
      </p:sp>
      <p:sp>
        <p:nvSpPr>
          <p:cNvPr id="26" name="Shape 24"/>
          <p:cNvSpPr/>
          <p:nvPr/>
        </p:nvSpPr>
        <p:spPr>
          <a:xfrm>
            <a:off x="548640" y="5687568"/>
            <a:ext cx="11091672" cy="585216"/>
          </a:xfrm>
          <a:prstGeom prst="roundRect">
            <a:avLst>
              <a:gd name="adj" fmla="val 25000"/>
            </a:avLst>
          </a:prstGeom>
          <a:solidFill>
            <a:srgbClr val="142238"/>
          </a:solidFill>
          <a:ln w="10160">
            <a:solidFill>
              <a:srgbClr val="2B405B"/>
            </a:solidFill>
            <a:prstDash val="solid"/>
          </a:ln>
        </p:spPr>
      </p:sp>
      <p:sp>
        <p:nvSpPr>
          <p:cNvPr id="27" name="Shape 25"/>
          <p:cNvSpPr/>
          <p:nvPr/>
        </p:nvSpPr>
        <p:spPr>
          <a:xfrm>
            <a:off x="548640" y="5687568"/>
            <a:ext cx="41148" cy="585216"/>
          </a:xfrm>
          <a:prstGeom prst="rect">
            <a:avLst/>
          </a:prstGeom>
          <a:solidFill>
            <a:srgbClr val="53DDF2"/>
          </a:solidFill>
          <a:ln w="12700">
            <a:solidFill>
              <a:srgbClr val="2B405B">
                <a:alpha val="0"/>
              </a:srgbClr>
            </a:solidFill>
            <a:prstDash val="solid"/>
          </a:ln>
        </p:spPr>
      </p:sp>
      <p:sp>
        <p:nvSpPr>
          <p:cNvPr id="28" name="s7-text-20"/>
          <p:cNvSpPr/>
          <p:nvPr/>
        </p:nvSpPr>
        <p:spPr>
          <a:xfrm>
            <a:off x="758952" y="5833872"/>
            <a:ext cx="10652760" cy="292608"/>
          </a:xfrm>
          <a:prstGeom prst="rect">
            <a:avLst/>
          </a:prstGeom>
          <a:noFill/>
          <a:ln/>
        </p:spPr>
        <p:txBody>
          <a:bodyPr wrap="square" lIns="0" tIns="0" rIns="0" bIns="0" rtlCol="0" anchor="t"/>
          <a:lstStyle/>
          <a:p>
            <a:pPr indent="0" marL="0">
              <a:buNone/>
            </a:pPr>
            <a:r>
              <a:rPr lang="en-US" sz="1600" dirty="0">
                <a:solidFill>
                  <a:srgbClr val="53DDF2"/>
                </a:solidFill>
                <a:latin typeface="Segoe UI" pitchFamily="34" charset="0"/>
                <a:ea typeface="Segoe UI" pitchFamily="34" charset="-122"/>
                <a:cs typeface="Segoe UI" pitchFamily="34" charset="-120"/>
              </a:rPr>
              <a:t>A green result from one gate cannot cancel a red result from another.</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s8-text-1"/>
          <p:cNvSpPr/>
          <p:nvPr/>
        </p:nvSpPr>
        <p:spPr>
          <a:xfrm>
            <a:off x="548640" y="219456"/>
            <a:ext cx="2834640" cy="219456"/>
          </a:xfrm>
          <a:prstGeom prst="rect">
            <a:avLst/>
          </a:prstGeom>
          <a:noFill/>
          <a:ln/>
        </p:spPr>
        <p:txBody>
          <a:bodyPr wrap="square" lIns="0" tIns="0" rIns="0" bIns="0" rtlCol="0" anchor="t"/>
          <a:lstStyle/>
          <a:p>
            <a:pPr indent="0" marL="0">
              <a:buNone/>
            </a:pPr>
            <a:r>
              <a:rPr lang="en-US" sz="1300" b="1" spc="80" kern="0" dirty="0">
                <a:solidFill>
                  <a:srgbClr val="53DDF2"/>
                </a:solidFill>
                <a:latin typeface="Segoe UI" pitchFamily="34" charset="0"/>
                <a:ea typeface="Segoe UI" pitchFamily="34" charset="-122"/>
                <a:cs typeface="Segoe UI" pitchFamily="34" charset="-120"/>
              </a:rPr>
              <a:t>AGENT AIRLOCK</a:t>
            </a:r>
            <a:endParaRPr lang="en-US" sz="1300" dirty="0"/>
          </a:p>
        </p:txBody>
      </p:sp>
      <p:sp>
        <p:nvSpPr>
          <p:cNvPr id="3" name="s8-text-2"/>
          <p:cNvSpPr/>
          <p:nvPr/>
        </p:nvSpPr>
        <p:spPr>
          <a:xfrm>
            <a:off x="3657600" y="237744"/>
            <a:ext cx="4663440" cy="201168"/>
          </a:xfrm>
          <a:prstGeom prst="rect">
            <a:avLst/>
          </a:prstGeom>
          <a:noFill/>
          <a:ln/>
        </p:spPr>
        <p:txBody>
          <a:bodyPr wrap="square" lIns="0" tIns="0" rIns="0" bIns="0" rtlCol="0" anchor="t"/>
          <a:lstStyle/>
          <a:p>
            <a:pPr algn="ctr" indent="0" marL="0">
              <a:buNone/>
            </a:pPr>
            <a:r>
              <a:rPr lang="en-US" sz="1100" spc="100" kern="0" dirty="0">
                <a:solidFill>
                  <a:srgbClr val="A8B8CF"/>
                </a:solidFill>
                <a:latin typeface="Segoe UI" pitchFamily="34" charset="0"/>
                <a:ea typeface="Segoe UI" pitchFamily="34" charset="-122"/>
                <a:cs typeface="Segoe UI" pitchFamily="34" charset="-120"/>
              </a:rPr>
              <a:t>GATE 1</a:t>
            </a:r>
            <a:endParaRPr lang="en-US" sz="1100" dirty="0"/>
          </a:p>
        </p:txBody>
      </p:sp>
      <p:sp>
        <p:nvSpPr>
          <p:cNvPr id="4" name="s8-text-3"/>
          <p:cNvSpPr/>
          <p:nvPr/>
        </p:nvSpPr>
        <p:spPr>
          <a:xfrm>
            <a:off x="8412480" y="237744"/>
            <a:ext cx="3227832" cy="201168"/>
          </a:xfrm>
          <a:prstGeom prst="rect">
            <a:avLst/>
          </a:prstGeom>
          <a:noFill/>
          <a:ln/>
        </p:spPr>
        <p:txBody>
          <a:bodyPr wrap="square" lIns="0" tIns="0" rIns="0" bIns="0" rtlCol="0" anchor="t"/>
          <a:lstStyle/>
          <a:p>
            <a:pPr algn="r" indent="0" marL="0">
              <a:buNone/>
            </a:pPr>
            <a:r>
              <a:rPr lang="en-US" sz="1050" dirty="0">
                <a:solidFill>
                  <a:srgbClr val="FFCE67"/>
                </a:solidFill>
                <a:latin typeface="Segoe UI" pitchFamily="34" charset="0"/>
                <a:ea typeface="Segoe UI" pitchFamily="34" charset="-122"/>
                <a:cs typeface="Segoe UI" pitchFamily="34" charset="-120"/>
              </a:rPr>
              <a:t>GATE + SCRIPT</a:t>
            </a:r>
            <a:endParaRPr lang="en-US" sz="1050" dirty="0"/>
          </a:p>
        </p:txBody>
      </p:sp>
      <p:sp>
        <p:nvSpPr>
          <p:cNvPr id="5" name="s8-text-4"/>
          <p:cNvSpPr/>
          <p:nvPr/>
        </p:nvSpPr>
        <p:spPr>
          <a:xfrm>
            <a:off x="548640" y="640080"/>
            <a:ext cx="11091672" cy="914400"/>
          </a:xfrm>
          <a:prstGeom prst="rect">
            <a:avLst/>
          </a:prstGeom>
          <a:noFill/>
          <a:ln/>
        </p:spPr>
        <p:txBody>
          <a:bodyPr wrap="square" lIns="0" tIns="0" rIns="0" bIns="0" rtlCol="0" anchor="t"/>
          <a:lstStyle/>
          <a:p>
            <a:pPr indent="0" marL="0">
              <a:buNone/>
            </a:pPr>
            <a:r>
              <a:rPr lang="en-US" sz="3000" b="1" dirty="0">
                <a:solidFill>
                  <a:srgbClr val="F3F7FC"/>
                </a:solidFill>
                <a:latin typeface="Segoe UI" pitchFamily="34" charset="0"/>
                <a:ea typeface="Segoe UI" pitchFamily="34" charset="-122"/>
                <a:cs typeface="Segoe UI" pitchFamily="34" charset="-120"/>
              </a:rPr>
              <a:t>Sensitive Information Protection</a:t>
            </a:r>
            <a:endParaRPr lang="en-US" sz="3000" dirty="0"/>
          </a:p>
        </p:txBody>
      </p:sp>
      <p:sp>
        <p:nvSpPr>
          <p:cNvPr id="6" name="s8-text-5"/>
          <p:cNvSpPr/>
          <p:nvPr/>
        </p:nvSpPr>
        <p:spPr>
          <a:xfrm>
            <a:off x="548640" y="1600200"/>
            <a:ext cx="11091672" cy="338328"/>
          </a:xfrm>
          <a:prstGeom prst="rect">
            <a:avLst/>
          </a:prstGeom>
          <a:noFill/>
          <a:ln/>
        </p:spPr>
        <p:txBody>
          <a:bodyPr wrap="square" lIns="0" tIns="0" rIns="0" bIns="0" rtlCol="0" anchor="t"/>
          <a:lstStyle/>
          <a:p>
            <a:pPr indent="0" marL="0">
              <a:buNone/>
            </a:pPr>
            <a:r>
              <a:rPr lang="en-US" sz="1550" dirty="0">
                <a:solidFill>
                  <a:srgbClr val="A8B8CF"/>
                </a:solidFill>
                <a:latin typeface="Segoe UI" pitchFamily="34" charset="0"/>
                <a:ea typeface="Segoe UI" pitchFamily="34" charset="-122"/>
                <a:cs typeface="Segoe UI" pitchFamily="34" charset="-120"/>
              </a:rPr>
              <a:t>Prevent secrets, tokens, personal data and internal-only content from leaking through drafts, logs or display text.</a:t>
            </a:r>
            <a:endParaRPr lang="en-US" sz="1550" dirty="0"/>
          </a:p>
        </p:txBody>
      </p:sp>
      <p:sp>
        <p:nvSpPr>
          <p:cNvPr id="7" name="Shape 5"/>
          <p:cNvSpPr/>
          <p:nvPr/>
        </p:nvSpPr>
        <p:spPr>
          <a:xfrm>
            <a:off x="548640" y="6446520"/>
            <a:ext cx="11091672" cy="0"/>
          </a:xfrm>
          <a:prstGeom prst="line">
            <a:avLst/>
          </a:prstGeom>
          <a:solidFill>
            <a:srgbClr val="142238"/>
          </a:solidFill>
          <a:ln w="7620">
            <a:solidFill>
              <a:srgbClr val="2B405B"/>
            </a:solidFill>
            <a:prstDash val="solid"/>
          </a:ln>
        </p:spPr>
      </p:sp>
      <p:sp>
        <p:nvSpPr>
          <p:cNvPr id="8" name="s8-text-6"/>
          <p:cNvSpPr/>
          <p:nvPr/>
        </p:nvSpPr>
        <p:spPr>
          <a:xfrm>
            <a:off x="548640" y="6556248"/>
            <a:ext cx="5852160" cy="164592"/>
          </a:xfrm>
          <a:prstGeom prst="rect">
            <a:avLst/>
          </a:prstGeom>
          <a:noFill/>
          <a:ln/>
        </p:spPr>
        <p:txBody>
          <a:bodyPr wrap="square" lIns="0" tIns="0" rIns="0" bIns="0" rtlCol="0" anchor="t"/>
          <a:lstStyle/>
          <a:p>
            <a:pPr indent="0" marL="0">
              <a:buNone/>
            </a:pPr>
            <a:r>
              <a:rPr lang="en-US" sz="950" dirty="0">
                <a:solidFill>
                  <a:srgbClr val="A8B8CF"/>
                </a:solidFill>
                <a:latin typeface="Segoe UI" pitchFamily="34" charset="0"/>
                <a:ea typeface="Segoe UI" pitchFamily="34" charset="-122"/>
                <a:cs typeface="Segoe UI" pitchFamily="34" charset="-120"/>
              </a:rPr>
              <a:t>PROTOTYPE  |  POLICY-GOVERNED AGENT ACTIONS</a:t>
            </a:r>
            <a:endParaRPr lang="en-US" sz="950" dirty="0"/>
          </a:p>
        </p:txBody>
      </p:sp>
      <p:sp>
        <p:nvSpPr>
          <p:cNvPr id="9" name="s8-text-7"/>
          <p:cNvSpPr/>
          <p:nvPr/>
        </p:nvSpPr>
        <p:spPr>
          <a:xfrm>
            <a:off x="10863072" y="6528816"/>
            <a:ext cx="777240" cy="210312"/>
          </a:xfrm>
          <a:prstGeom prst="rect">
            <a:avLst/>
          </a:prstGeom>
          <a:noFill/>
          <a:ln/>
        </p:spPr>
        <p:txBody>
          <a:bodyPr wrap="square" lIns="0" tIns="0" rIns="0" bIns="0" rtlCol="0" anchor="t"/>
          <a:lstStyle/>
          <a:p>
            <a:pPr algn="r" indent="0" marL="0">
              <a:buNone/>
            </a:pPr>
            <a:r>
              <a:rPr lang="en-US" sz="1100" dirty="0">
                <a:solidFill>
                  <a:srgbClr val="53DDF2"/>
                </a:solidFill>
                <a:latin typeface="Segoe UI" pitchFamily="34" charset="0"/>
                <a:ea typeface="Segoe UI" pitchFamily="34" charset="-122"/>
                <a:cs typeface="Segoe UI" pitchFamily="34" charset="-120"/>
              </a:rPr>
              <a:t>08 / 17</a:t>
            </a:r>
            <a:endParaRPr lang="en-US" sz="1100" dirty="0"/>
          </a:p>
        </p:txBody>
      </p:sp>
      <p:sp>
        <p:nvSpPr>
          <p:cNvPr id="10" name="Shape 8"/>
          <p:cNvSpPr/>
          <p:nvPr/>
        </p:nvSpPr>
        <p:spPr>
          <a:xfrm>
            <a:off x="548640" y="1938528"/>
            <a:ext cx="3886200" cy="3639312"/>
          </a:xfrm>
          <a:prstGeom prst="roundRect">
            <a:avLst>
              <a:gd name="adj" fmla="val 4020"/>
            </a:avLst>
          </a:prstGeom>
          <a:solidFill>
            <a:srgbClr val="142238"/>
          </a:solidFill>
          <a:ln w="10160">
            <a:solidFill>
              <a:srgbClr val="FF7C8E"/>
            </a:solidFill>
            <a:prstDash val="solid"/>
          </a:ln>
        </p:spPr>
      </p:sp>
      <p:sp>
        <p:nvSpPr>
          <p:cNvPr id="11" name="s8-text-8"/>
          <p:cNvSpPr/>
          <p:nvPr/>
        </p:nvSpPr>
        <p:spPr>
          <a:xfrm>
            <a:off x="786384" y="2139696"/>
            <a:ext cx="3429000" cy="310896"/>
          </a:xfrm>
          <a:prstGeom prst="rect">
            <a:avLst/>
          </a:prstGeom>
          <a:noFill/>
          <a:ln/>
        </p:spPr>
        <p:txBody>
          <a:bodyPr wrap="square" lIns="0" tIns="0" rIns="0" bIns="0" rtlCol="0" anchor="t"/>
          <a:lstStyle/>
          <a:p>
            <a:pPr indent="0" marL="0">
              <a:buNone/>
            </a:pPr>
            <a:r>
              <a:rPr lang="en-US" sz="1000" b="1" spc="80" kern="0" dirty="0">
                <a:solidFill>
                  <a:srgbClr val="FF7C8E"/>
                </a:solidFill>
                <a:latin typeface="Segoe UI" pitchFamily="34" charset="0"/>
                <a:ea typeface="Segoe UI" pitchFamily="34" charset="-122"/>
                <a:cs typeface="Segoe UI" pitchFamily="34" charset="-120"/>
              </a:rPr>
              <a:t>PUBLISH_DRAFT / THREE POLICY-BOUND CHECKS</a:t>
            </a:r>
            <a:endParaRPr lang="en-US" sz="1000" dirty="0"/>
          </a:p>
        </p:txBody>
      </p:sp>
      <p:sp>
        <p:nvSpPr>
          <p:cNvPr id="12" name="s8-text-9"/>
          <p:cNvSpPr/>
          <p:nvPr/>
        </p:nvSpPr>
        <p:spPr>
          <a:xfrm>
            <a:off x="786384" y="2542032"/>
            <a:ext cx="3383280" cy="868680"/>
          </a:xfrm>
          <a:prstGeom prst="rect">
            <a:avLst/>
          </a:prstGeom>
          <a:noFill/>
          <a:ln/>
        </p:spPr>
        <p:txBody>
          <a:bodyPr wrap="square" lIns="0" tIns="0" rIns="0" bIns="0" rtlCol="0" anchor="t"/>
          <a:lstStyle/>
          <a:p>
            <a:pPr indent="0" marL="0">
              <a:buNone/>
            </a:pPr>
            <a:r>
              <a:rPr lang="en-US" sz="1800" b="1" dirty="0">
                <a:solidFill>
                  <a:srgbClr val="F3F7FC"/>
                </a:solidFill>
                <a:latin typeface="Segoe UI" pitchFamily="34" charset="0"/>
                <a:ea typeface="Segoe UI" pitchFamily="34" charset="-122"/>
                <a:cs typeface="Segoe UI" pitchFamily="34" charset="-120"/>
              </a:rPr>
              <a:t>Inspect outbound text before any publish effect.</a:t>
            </a:r>
            <a:endParaRPr lang="en-US" sz="1800" dirty="0"/>
          </a:p>
        </p:txBody>
      </p:sp>
      <p:sp>
        <p:nvSpPr>
          <p:cNvPr id="13" name="s8-text-10"/>
          <p:cNvSpPr/>
          <p:nvPr/>
        </p:nvSpPr>
        <p:spPr>
          <a:xfrm>
            <a:off x="786384" y="3493008"/>
            <a:ext cx="1005840" cy="201168"/>
          </a:xfrm>
          <a:prstGeom prst="rect">
            <a:avLst/>
          </a:prstGeom>
          <a:noFill/>
          <a:ln/>
        </p:spPr>
        <p:txBody>
          <a:bodyPr wrap="square" lIns="0" tIns="0" rIns="0" bIns="0" rtlCol="0" anchor="t"/>
          <a:lstStyle/>
          <a:p>
            <a:pPr indent="0" marL="0">
              <a:buNone/>
            </a:pPr>
            <a:r>
              <a:rPr lang="en-US" sz="1000" b="1" dirty="0">
                <a:solidFill>
                  <a:srgbClr val="A8B8CF"/>
                </a:solidFill>
                <a:latin typeface="Segoe UI" pitchFamily="34" charset="0"/>
                <a:ea typeface="Segoe UI" pitchFamily="34" charset="-122"/>
                <a:cs typeface="Segoe UI" pitchFamily="34" charset="-120"/>
              </a:rPr>
              <a:t>CHECKS</a:t>
            </a:r>
            <a:endParaRPr lang="en-US" sz="1000" dirty="0"/>
          </a:p>
        </p:txBody>
      </p:sp>
      <p:sp>
        <p:nvSpPr>
          <p:cNvPr id="14" name="s8-text-11"/>
          <p:cNvSpPr/>
          <p:nvPr/>
        </p:nvSpPr>
        <p:spPr>
          <a:xfrm>
            <a:off x="786384" y="3730752"/>
            <a:ext cx="3364992" cy="1051560"/>
          </a:xfrm>
          <a:prstGeom prst="rect">
            <a:avLst/>
          </a:prstGeom>
          <a:noFill/>
          <a:ln/>
        </p:spPr>
        <p:txBody>
          <a:bodyPr wrap="square" lIns="0" tIns="0" rIns="0" bIns="0" rtlCol="0" anchor="t"/>
          <a:lstStyle/>
          <a:p>
            <a:pPr indent="0" marL="0">
              <a:buNone/>
            </a:pPr>
            <a:r>
              <a:rPr lang="en-US" sz="1450" dirty="0">
                <a:solidFill>
                  <a:srgbClr val="F3F7FC"/>
                </a:solidFill>
                <a:latin typeface="Segoe UI" pitchFamily="34" charset="0"/>
                <a:ea typeface="Segoe UI" pitchFamily="34" charset="-122"/>
                <a:cs typeface="Segoe UI" pitchFamily="34" charset="-120"/>
              </a:rPr>
              <a:t>Secrets and contextual tokens → block</a:t>
            </a:r>
            <a:endParaRPr lang="en-US" sz="1450" dirty="0"/>
          </a:p>
          <a:p>
            <a:pPr indent="0" marL="0">
              <a:buNone/>
            </a:pPr>
            <a:r>
              <a:rPr lang="en-US" sz="1450" dirty="0">
                <a:solidFill>
                  <a:srgbClr val="F3F7FC"/>
                </a:solidFill>
                <a:latin typeface="Segoe UI" pitchFamily="34" charset="0"/>
                <a:ea typeface="Segoe UI" pitchFamily="34" charset="-122"/>
                <a:cs typeface="Segoe UI" pitchFamily="34" charset="-120"/>
              </a:rPr>
              <a:t>PII patterns → ask-first</a:t>
            </a:r>
            <a:endParaRPr lang="en-US" sz="1450" dirty="0"/>
          </a:p>
          <a:p>
            <a:pPr indent="0" marL="0">
              <a:buNone/>
            </a:pPr>
            <a:r>
              <a:rPr lang="en-US" sz="1450" dirty="0">
                <a:solidFill>
                  <a:srgbClr val="F3F7FC"/>
                </a:solidFill>
                <a:latin typeface="Segoe UI" pitchFamily="34" charset="0"/>
                <a:ea typeface="Segoe UI" pitchFamily="34" charset="-122"/>
                <a:cs typeface="Segoe UI" pitchFamily="34" charset="-120"/>
              </a:rPr>
              <a:t>INTERNAL-ONLY label → ask-first</a:t>
            </a:r>
            <a:endParaRPr lang="en-US" sz="1450" dirty="0"/>
          </a:p>
        </p:txBody>
      </p:sp>
      <p:sp>
        <p:nvSpPr>
          <p:cNvPr id="15" name="s8-text-12"/>
          <p:cNvSpPr/>
          <p:nvPr/>
        </p:nvSpPr>
        <p:spPr>
          <a:xfrm>
            <a:off x="786384" y="4846320"/>
            <a:ext cx="1508760" cy="201168"/>
          </a:xfrm>
          <a:prstGeom prst="rect">
            <a:avLst/>
          </a:prstGeom>
          <a:noFill/>
          <a:ln/>
        </p:spPr>
        <p:txBody>
          <a:bodyPr wrap="square" lIns="0" tIns="0" rIns="0" bIns="0" rtlCol="0" anchor="t"/>
          <a:lstStyle/>
          <a:p>
            <a:pPr indent="0" marL="0">
              <a:buNone/>
            </a:pPr>
            <a:r>
              <a:rPr lang="en-US" sz="1000" b="1" dirty="0">
                <a:solidFill>
                  <a:srgbClr val="A8B8CF"/>
                </a:solidFill>
                <a:latin typeface="Segoe UI" pitchFamily="34" charset="0"/>
                <a:ea typeface="Segoe UI" pitchFamily="34" charset="-122"/>
                <a:cs typeface="Segoe UI" pitchFamily="34" charset="-120"/>
              </a:rPr>
              <a:t>POLICY RESULT</a:t>
            </a:r>
            <a:endParaRPr lang="en-US" sz="1000" dirty="0"/>
          </a:p>
        </p:txBody>
      </p:sp>
      <p:sp>
        <p:nvSpPr>
          <p:cNvPr id="16" name="s8-text-13"/>
          <p:cNvSpPr/>
          <p:nvPr/>
        </p:nvSpPr>
        <p:spPr>
          <a:xfrm>
            <a:off x="786384" y="5074920"/>
            <a:ext cx="3364992" cy="420624"/>
          </a:xfrm>
          <a:prstGeom prst="rect">
            <a:avLst/>
          </a:prstGeom>
          <a:noFill/>
          <a:ln/>
        </p:spPr>
        <p:txBody>
          <a:bodyPr wrap="square" lIns="0" tIns="0" rIns="0" bIns="0" rtlCol="0" anchor="t"/>
          <a:lstStyle/>
          <a:p>
            <a:pPr indent="0" marL="0">
              <a:buNone/>
            </a:pPr>
            <a:r>
              <a:rPr lang="en-US" sz="1400" b="1" dirty="0">
                <a:solidFill>
                  <a:srgbClr val="49DCA2"/>
                </a:solidFill>
                <a:latin typeface="Segoe UI" pitchFamily="34" charset="0"/>
                <a:ea typeface="Segoe UI" pitchFamily="34" charset="-122"/>
                <a:cs typeface="Segoe UI" pitchFamily="34" charset="-120"/>
              </a:rPr>
              <a:t>Only clean or safely remediated content publishes</a:t>
            </a:r>
            <a:endParaRPr lang="en-US" sz="1400" dirty="0"/>
          </a:p>
        </p:txBody>
      </p:sp>
      <p:sp>
        <p:nvSpPr>
          <p:cNvPr id="17" name="Shape 15"/>
          <p:cNvSpPr/>
          <p:nvPr/>
        </p:nvSpPr>
        <p:spPr>
          <a:xfrm>
            <a:off x="4645152" y="1938528"/>
            <a:ext cx="6995160" cy="3639312"/>
          </a:xfrm>
          <a:prstGeom prst="roundRect">
            <a:avLst>
              <a:gd name="adj" fmla="val 4020"/>
            </a:avLst>
          </a:prstGeom>
          <a:solidFill>
            <a:srgbClr val="142238"/>
          </a:solidFill>
          <a:ln w="10160">
            <a:solidFill>
              <a:srgbClr val="2B405B"/>
            </a:solidFill>
            <a:prstDash val="solid"/>
          </a:ln>
        </p:spPr>
      </p:sp>
      <p:sp>
        <p:nvSpPr>
          <p:cNvPr id="18" name="Shape 16"/>
          <p:cNvSpPr/>
          <p:nvPr/>
        </p:nvSpPr>
        <p:spPr>
          <a:xfrm>
            <a:off x="4672584" y="1965960"/>
            <a:ext cx="6940296" cy="3584448"/>
          </a:xfrm>
          <a:prstGeom prst="rect">
            <a:avLst/>
          </a:prstGeom>
          <a:solidFill>
            <a:srgbClr val="07101D"/>
          </a:solidFill>
          <a:ln w="10160">
            <a:solidFill>
              <a:srgbClr val="2B405B"/>
            </a:solidFill>
            <a:prstDash val="solid"/>
          </a:ln>
        </p:spPr>
      </p:sp>
      <p:sp>
        <p:nvSpPr>
          <p:cNvPr id="19" name="s8-text-14"/>
          <p:cNvSpPr/>
          <p:nvPr/>
        </p:nvSpPr>
        <p:spPr>
          <a:xfrm>
            <a:off x="4956048" y="2212848"/>
            <a:ext cx="2834640" cy="256032"/>
          </a:xfrm>
          <a:prstGeom prst="rect">
            <a:avLst/>
          </a:prstGeom>
          <a:noFill/>
          <a:ln/>
        </p:spPr>
        <p:txBody>
          <a:bodyPr wrap="square" lIns="0" tIns="0" rIns="0" bIns="0" rtlCol="0" anchor="t"/>
          <a:lstStyle/>
          <a:p>
            <a:pPr indent="0" marL="0">
              <a:buNone/>
            </a:pPr>
            <a:r>
              <a:rPr lang="en-US" sz="1200" b="1" spc="90" kern="0" dirty="0">
                <a:solidFill>
                  <a:srgbClr val="49DCA2"/>
                </a:solidFill>
                <a:latin typeface="Segoe UI" pitchFamily="34" charset="0"/>
                <a:ea typeface="Segoe UI" pitchFamily="34" charset="-122"/>
                <a:cs typeface="Segoe UI" pitchFamily="34" charset="-120"/>
              </a:rPr>
              <a:t>▶  SCREEN RECORDING</a:t>
            </a:r>
            <a:endParaRPr lang="en-US" sz="1200" dirty="0"/>
          </a:p>
        </p:txBody>
      </p:sp>
      <p:sp>
        <p:nvSpPr>
          <p:cNvPr id="20" name="s8-text-15"/>
          <p:cNvSpPr/>
          <p:nvPr/>
        </p:nvSpPr>
        <p:spPr>
          <a:xfrm>
            <a:off x="4956048" y="2724912"/>
            <a:ext cx="6355080" cy="1078992"/>
          </a:xfrm>
          <a:prstGeom prst="rect">
            <a:avLst/>
          </a:prstGeom>
          <a:noFill/>
          <a:ln/>
        </p:spPr>
        <p:txBody>
          <a:bodyPr wrap="square" lIns="0" tIns="0" rIns="0" bIns="0" rtlCol="0" anchor="t"/>
          <a:lstStyle/>
          <a:p>
            <a:pPr indent="0" marL="0">
              <a:buNone/>
            </a:pPr>
            <a:r>
              <a:rPr lang="en-US" sz="1500" dirty="0">
                <a:solidFill>
                  <a:srgbClr val="F3F7FC"/>
                </a:solidFill>
                <a:latin typeface="Consolas" pitchFamily="34" charset="0"/>
                <a:ea typeface="Consolas" pitchFamily="34" charset="-122"/>
                <a:cs typeface="Consolas" pitchFamily="34" charset="-120"/>
              </a:rPr>
              <a:t>npm run demo -- --gate sensitive-information</a:t>
            </a:r>
            <a:endParaRPr lang="en-US" sz="1500" dirty="0"/>
          </a:p>
        </p:txBody>
      </p:sp>
      <p:sp>
        <p:nvSpPr>
          <p:cNvPr id="21" name="Shape 19"/>
          <p:cNvSpPr/>
          <p:nvPr/>
        </p:nvSpPr>
        <p:spPr>
          <a:xfrm>
            <a:off x="4956048" y="4142232"/>
            <a:ext cx="1901952" cy="713232"/>
          </a:xfrm>
          <a:prstGeom prst="roundRect">
            <a:avLst>
              <a:gd name="adj" fmla="val 20513"/>
            </a:avLst>
          </a:prstGeom>
          <a:solidFill>
            <a:srgbClr val="142238"/>
          </a:solidFill>
          <a:ln w="10160">
            <a:solidFill>
              <a:srgbClr val="49DCA2"/>
            </a:solidFill>
            <a:prstDash val="solid"/>
          </a:ln>
        </p:spPr>
      </p:sp>
      <p:sp>
        <p:nvSpPr>
          <p:cNvPr id="22" name="s8-text-16"/>
          <p:cNvSpPr/>
          <p:nvPr/>
        </p:nvSpPr>
        <p:spPr>
          <a:xfrm>
            <a:off x="5084064" y="4279392"/>
            <a:ext cx="1645920" cy="164592"/>
          </a:xfrm>
          <a:prstGeom prst="rect">
            <a:avLst/>
          </a:prstGeom>
          <a:noFill/>
          <a:ln/>
        </p:spPr>
        <p:txBody>
          <a:bodyPr wrap="square" lIns="0" tIns="0" rIns="0" bIns="0" rtlCol="0" anchor="t"/>
          <a:lstStyle/>
          <a:p>
            <a:pPr indent="0" marL="0">
              <a:buNone/>
            </a:pPr>
            <a:r>
              <a:rPr lang="en-US" sz="950" b="1" dirty="0">
                <a:solidFill>
                  <a:srgbClr val="A8B8CF"/>
                </a:solidFill>
                <a:latin typeface="Segoe UI" pitchFamily="34" charset="0"/>
                <a:ea typeface="Segoe UI" pitchFamily="34" charset="-122"/>
                <a:cs typeface="Segoe UI" pitchFamily="34" charset="-120"/>
              </a:rPr>
              <a:t>CLEAN</a:t>
            </a:r>
            <a:endParaRPr lang="en-US" sz="950" dirty="0"/>
          </a:p>
        </p:txBody>
      </p:sp>
      <p:sp>
        <p:nvSpPr>
          <p:cNvPr id="23" name="s8-text-17"/>
          <p:cNvSpPr/>
          <p:nvPr/>
        </p:nvSpPr>
        <p:spPr>
          <a:xfrm>
            <a:off x="5084064" y="4535424"/>
            <a:ext cx="1645920" cy="201168"/>
          </a:xfrm>
          <a:prstGeom prst="rect">
            <a:avLst/>
          </a:prstGeom>
          <a:noFill/>
          <a:ln/>
        </p:spPr>
        <p:txBody>
          <a:bodyPr wrap="square" lIns="0" tIns="0" rIns="0" bIns="0" rtlCol="0" anchor="t"/>
          <a:lstStyle/>
          <a:p>
            <a:pPr indent="0" marL="0">
              <a:buNone/>
            </a:pPr>
            <a:r>
              <a:rPr lang="en-US" sz="1400" b="1" dirty="0">
                <a:solidFill>
                  <a:srgbClr val="49DCA2"/>
                </a:solidFill>
                <a:latin typeface="Segoe UI" pitchFamily="34" charset="0"/>
                <a:ea typeface="Segoe UI" pitchFamily="34" charset="-122"/>
                <a:cs typeface="Segoe UI" pitchFamily="34" charset="-120"/>
              </a:rPr>
              <a:t>published</a:t>
            </a:r>
            <a:endParaRPr lang="en-US" sz="1400" dirty="0"/>
          </a:p>
        </p:txBody>
      </p:sp>
      <p:sp>
        <p:nvSpPr>
          <p:cNvPr id="24" name="Shape 22"/>
          <p:cNvSpPr/>
          <p:nvPr/>
        </p:nvSpPr>
        <p:spPr>
          <a:xfrm>
            <a:off x="7040880" y="4142232"/>
            <a:ext cx="1901952" cy="713232"/>
          </a:xfrm>
          <a:prstGeom prst="roundRect">
            <a:avLst>
              <a:gd name="adj" fmla="val 20513"/>
            </a:avLst>
          </a:prstGeom>
          <a:solidFill>
            <a:srgbClr val="142238"/>
          </a:solidFill>
          <a:ln w="10160">
            <a:solidFill>
              <a:srgbClr val="FF7C8E"/>
            </a:solidFill>
            <a:prstDash val="solid"/>
          </a:ln>
        </p:spPr>
      </p:sp>
      <p:sp>
        <p:nvSpPr>
          <p:cNvPr id="25" name="s8-text-18"/>
          <p:cNvSpPr/>
          <p:nvPr/>
        </p:nvSpPr>
        <p:spPr>
          <a:xfrm>
            <a:off x="7168896" y="4279392"/>
            <a:ext cx="1645920" cy="164592"/>
          </a:xfrm>
          <a:prstGeom prst="rect">
            <a:avLst/>
          </a:prstGeom>
          <a:noFill/>
          <a:ln/>
        </p:spPr>
        <p:txBody>
          <a:bodyPr wrap="square" lIns="0" tIns="0" rIns="0" bIns="0" rtlCol="0" anchor="t"/>
          <a:lstStyle/>
          <a:p>
            <a:pPr indent="0" marL="0">
              <a:buNone/>
            </a:pPr>
            <a:r>
              <a:rPr lang="en-US" sz="950" b="1" dirty="0">
                <a:solidFill>
                  <a:srgbClr val="A8B8CF"/>
                </a:solidFill>
                <a:latin typeface="Segoe UI" pitchFamily="34" charset="0"/>
                <a:ea typeface="Segoe UI" pitchFamily="34" charset="-122"/>
                <a:cs typeface="Segoe UI" pitchFamily="34" charset="-120"/>
              </a:rPr>
              <a:t>SECRET</a:t>
            </a:r>
            <a:endParaRPr lang="en-US" sz="950" dirty="0"/>
          </a:p>
        </p:txBody>
      </p:sp>
      <p:sp>
        <p:nvSpPr>
          <p:cNvPr id="26" name="s8-text-19"/>
          <p:cNvSpPr/>
          <p:nvPr/>
        </p:nvSpPr>
        <p:spPr>
          <a:xfrm>
            <a:off x="7168896" y="4535424"/>
            <a:ext cx="1645920" cy="201168"/>
          </a:xfrm>
          <a:prstGeom prst="rect">
            <a:avLst/>
          </a:prstGeom>
          <a:noFill/>
          <a:ln/>
        </p:spPr>
        <p:txBody>
          <a:bodyPr wrap="square" lIns="0" tIns="0" rIns="0" bIns="0" rtlCol="0" anchor="t"/>
          <a:lstStyle/>
          <a:p>
            <a:pPr indent="0" marL="0">
              <a:buNone/>
            </a:pPr>
            <a:r>
              <a:rPr lang="en-US" sz="1400" b="1" dirty="0">
                <a:solidFill>
                  <a:srgbClr val="FF7C8E"/>
                </a:solidFill>
                <a:latin typeface="Segoe UI" pitchFamily="34" charset="0"/>
                <a:ea typeface="Segoe UI" pitchFamily="34" charset="-122"/>
                <a:cs typeface="Segoe UI" pitchFamily="34" charset="-120"/>
              </a:rPr>
              <a:t>blocked</a:t>
            </a:r>
            <a:endParaRPr lang="en-US" sz="1400" dirty="0"/>
          </a:p>
        </p:txBody>
      </p:sp>
      <p:sp>
        <p:nvSpPr>
          <p:cNvPr id="27" name="Shape 25"/>
          <p:cNvSpPr/>
          <p:nvPr/>
        </p:nvSpPr>
        <p:spPr>
          <a:xfrm>
            <a:off x="9125712" y="4142232"/>
            <a:ext cx="1901952" cy="713232"/>
          </a:xfrm>
          <a:prstGeom prst="roundRect">
            <a:avLst>
              <a:gd name="adj" fmla="val 20513"/>
            </a:avLst>
          </a:prstGeom>
          <a:solidFill>
            <a:srgbClr val="142238"/>
          </a:solidFill>
          <a:ln w="10160">
            <a:solidFill>
              <a:srgbClr val="FFCE67"/>
            </a:solidFill>
            <a:prstDash val="solid"/>
          </a:ln>
        </p:spPr>
      </p:sp>
      <p:sp>
        <p:nvSpPr>
          <p:cNvPr id="28" name="s8-text-20"/>
          <p:cNvSpPr/>
          <p:nvPr/>
        </p:nvSpPr>
        <p:spPr>
          <a:xfrm>
            <a:off x="9253728" y="4279392"/>
            <a:ext cx="1645920" cy="164592"/>
          </a:xfrm>
          <a:prstGeom prst="rect">
            <a:avLst/>
          </a:prstGeom>
          <a:noFill/>
          <a:ln/>
        </p:spPr>
        <p:txBody>
          <a:bodyPr wrap="square" lIns="0" tIns="0" rIns="0" bIns="0" rtlCol="0" anchor="t"/>
          <a:lstStyle/>
          <a:p>
            <a:pPr indent="0" marL="0">
              <a:buNone/>
            </a:pPr>
            <a:r>
              <a:rPr lang="en-US" sz="950" b="1" dirty="0">
                <a:solidFill>
                  <a:srgbClr val="A8B8CF"/>
                </a:solidFill>
                <a:latin typeface="Segoe UI" pitchFamily="34" charset="0"/>
                <a:ea typeface="Segoe UI" pitchFamily="34" charset="-122"/>
                <a:cs typeface="Segoe UI" pitchFamily="34" charset="-120"/>
              </a:rPr>
              <a:t>PII / LABEL</a:t>
            </a:r>
            <a:endParaRPr lang="en-US" sz="950" dirty="0"/>
          </a:p>
        </p:txBody>
      </p:sp>
      <p:sp>
        <p:nvSpPr>
          <p:cNvPr id="29" name="s8-text-21"/>
          <p:cNvSpPr/>
          <p:nvPr/>
        </p:nvSpPr>
        <p:spPr>
          <a:xfrm>
            <a:off x="9253728" y="4535424"/>
            <a:ext cx="1645920" cy="201168"/>
          </a:xfrm>
          <a:prstGeom prst="rect">
            <a:avLst/>
          </a:prstGeom>
          <a:noFill/>
          <a:ln/>
        </p:spPr>
        <p:txBody>
          <a:bodyPr wrap="square" lIns="0" tIns="0" rIns="0" bIns="0" rtlCol="0" anchor="t"/>
          <a:lstStyle/>
          <a:p>
            <a:pPr indent="0" marL="0">
              <a:buNone/>
            </a:pPr>
            <a:r>
              <a:rPr lang="en-US" sz="1400" b="1" dirty="0">
                <a:solidFill>
                  <a:srgbClr val="FFCE67"/>
                </a:solidFill>
                <a:latin typeface="Segoe UI" pitchFamily="34" charset="0"/>
                <a:ea typeface="Segoe UI" pitchFamily="34" charset="-122"/>
                <a:cs typeface="Segoe UI" pitchFamily="34" charset="-120"/>
              </a:rPr>
              <a:t>review</a:t>
            </a:r>
            <a:endParaRPr lang="en-US" sz="1400" dirty="0"/>
          </a:p>
        </p:txBody>
      </p:sp>
      <p:sp>
        <p:nvSpPr>
          <p:cNvPr id="30" name="s8-text-22"/>
          <p:cNvSpPr/>
          <p:nvPr/>
        </p:nvSpPr>
        <p:spPr>
          <a:xfrm>
            <a:off x="4956048" y="5093208"/>
            <a:ext cx="6355080" cy="182880"/>
          </a:xfrm>
          <a:prstGeom prst="rect">
            <a:avLst/>
          </a:prstGeom>
          <a:noFill/>
          <a:ln/>
        </p:spPr>
        <p:txBody>
          <a:bodyPr wrap="square" lIns="0" tIns="0" rIns="0" bIns="0" rtlCol="0" anchor="t"/>
          <a:lstStyle/>
          <a:p>
            <a:pPr indent="0" marL="0">
              <a:buNone/>
            </a:pPr>
            <a:r>
              <a:rPr lang="en-US" sz="1050" dirty="0">
                <a:solidFill>
                  <a:srgbClr val="A8B8CF"/>
                </a:solidFill>
                <a:latin typeface="Segoe UI" pitchFamily="34" charset="0"/>
                <a:ea typeface="Segoe UI" pitchFamily="34" charset="-122"/>
                <a:cs typeface="Segoe UI" pitchFamily="34" charset="-120"/>
              </a:rPr>
              <a:t>Recording slot: recordings/sensitive-information.mp4</a:t>
            </a:r>
            <a:endParaRPr lang="en-US" sz="1050" dirty="0"/>
          </a:p>
        </p:txBody>
      </p:sp>
      <p:sp>
        <p:nvSpPr>
          <p:cNvPr id="31" name="Shape 29"/>
          <p:cNvSpPr/>
          <p:nvPr/>
        </p:nvSpPr>
        <p:spPr>
          <a:xfrm>
            <a:off x="548640" y="5687568"/>
            <a:ext cx="11091672" cy="585216"/>
          </a:xfrm>
          <a:prstGeom prst="roundRect">
            <a:avLst>
              <a:gd name="adj" fmla="val 25000"/>
            </a:avLst>
          </a:prstGeom>
          <a:solidFill>
            <a:srgbClr val="142238"/>
          </a:solidFill>
          <a:ln w="10160">
            <a:solidFill>
              <a:srgbClr val="2B405B"/>
            </a:solidFill>
            <a:prstDash val="solid"/>
          </a:ln>
        </p:spPr>
      </p:sp>
      <p:sp>
        <p:nvSpPr>
          <p:cNvPr id="32" name="Shape 30"/>
          <p:cNvSpPr/>
          <p:nvPr/>
        </p:nvSpPr>
        <p:spPr>
          <a:xfrm>
            <a:off x="548640" y="5687568"/>
            <a:ext cx="41148" cy="585216"/>
          </a:xfrm>
          <a:prstGeom prst="rect">
            <a:avLst/>
          </a:prstGeom>
          <a:solidFill>
            <a:srgbClr val="FF7C8E"/>
          </a:solidFill>
          <a:ln w="12700">
            <a:solidFill>
              <a:srgbClr val="2B405B">
                <a:alpha val="0"/>
              </a:srgbClr>
            </a:solidFill>
            <a:prstDash val="solid"/>
          </a:ln>
        </p:spPr>
      </p:sp>
      <p:sp>
        <p:nvSpPr>
          <p:cNvPr id="33" name="s8-text-23"/>
          <p:cNvSpPr/>
          <p:nvPr/>
        </p:nvSpPr>
        <p:spPr>
          <a:xfrm>
            <a:off x="758952" y="5833872"/>
            <a:ext cx="10652760" cy="292608"/>
          </a:xfrm>
          <a:prstGeom prst="rect">
            <a:avLst/>
          </a:prstGeom>
          <a:noFill/>
          <a:ln/>
        </p:spPr>
        <p:txBody>
          <a:bodyPr wrap="square" lIns="0" tIns="0" rIns="0" bIns="0" rtlCol="0" anchor="t"/>
          <a:lstStyle/>
          <a:p>
            <a:pPr indent="0" marL="0">
              <a:buNone/>
            </a:pPr>
            <a:r>
              <a:rPr lang="en-US" sz="1600" dirty="0">
                <a:solidFill>
                  <a:srgbClr val="FF7C8E"/>
                </a:solidFill>
                <a:latin typeface="Segoe UI" pitchFamily="34" charset="0"/>
                <a:ea typeface="Segoe UI" pitchFamily="34" charset="-122"/>
                <a:cs typeface="Segoe UI" pitchFamily="34" charset="-120"/>
              </a:rPr>
              <a:t>Prompt overrides do not beat the detector; blocked and review-required cases create no publish artifact.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s9-text-1"/>
          <p:cNvSpPr/>
          <p:nvPr/>
        </p:nvSpPr>
        <p:spPr>
          <a:xfrm>
            <a:off x="548640" y="219456"/>
            <a:ext cx="2834640" cy="219456"/>
          </a:xfrm>
          <a:prstGeom prst="rect">
            <a:avLst/>
          </a:prstGeom>
          <a:noFill/>
          <a:ln/>
        </p:spPr>
        <p:txBody>
          <a:bodyPr wrap="square" lIns="0" tIns="0" rIns="0" bIns="0" rtlCol="0" anchor="t"/>
          <a:lstStyle/>
          <a:p>
            <a:pPr indent="0" marL="0">
              <a:buNone/>
            </a:pPr>
            <a:r>
              <a:rPr lang="en-US" sz="1300" b="1" spc="80" kern="0" dirty="0">
                <a:solidFill>
                  <a:srgbClr val="53DDF2"/>
                </a:solidFill>
                <a:latin typeface="Segoe UI" pitchFamily="34" charset="0"/>
                <a:ea typeface="Segoe UI" pitchFamily="34" charset="-122"/>
                <a:cs typeface="Segoe UI" pitchFamily="34" charset="-120"/>
              </a:rPr>
              <a:t>AGENT AIRLOCK</a:t>
            </a:r>
            <a:endParaRPr lang="en-US" sz="1300" dirty="0"/>
          </a:p>
        </p:txBody>
      </p:sp>
      <p:sp>
        <p:nvSpPr>
          <p:cNvPr id="3" name="s9-text-2"/>
          <p:cNvSpPr/>
          <p:nvPr/>
        </p:nvSpPr>
        <p:spPr>
          <a:xfrm>
            <a:off x="3657600" y="237744"/>
            <a:ext cx="4663440" cy="201168"/>
          </a:xfrm>
          <a:prstGeom prst="rect">
            <a:avLst/>
          </a:prstGeom>
          <a:noFill/>
          <a:ln/>
        </p:spPr>
        <p:txBody>
          <a:bodyPr wrap="square" lIns="0" tIns="0" rIns="0" bIns="0" rtlCol="0" anchor="t"/>
          <a:lstStyle/>
          <a:p>
            <a:pPr algn="ctr" indent="0" marL="0">
              <a:buNone/>
            </a:pPr>
            <a:r>
              <a:rPr lang="en-US" sz="1100" spc="100" kern="0" dirty="0">
                <a:solidFill>
                  <a:srgbClr val="A8B8CF"/>
                </a:solidFill>
                <a:latin typeface="Segoe UI" pitchFamily="34" charset="0"/>
                <a:ea typeface="Segoe UI" pitchFamily="34" charset="-122"/>
                <a:cs typeface="Segoe UI" pitchFamily="34" charset="-120"/>
              </a:rPr>
              <a:t>GATE 2</a:t>
            </a:r>
            <a:endParaRPr lang="en-US" sz="1100" dirty="0"/>
          </a:p>
        </p:txBody>
      </p:sp>
      <p:sp>
        <p:nvSpPr>
          <p:cNvPr id="4" name="s9-text-3"/>
          <p:cNvSpPr/>
          <p:nvPr/>
        </p:nvSpPr>
        <p:spPr>
          <a:xfrm>
            <a:off x="8412480" y="237744"/>
            <a:ext cx="3227832" cy="201168"/>
          </a:xfrm>
          <a:prstGeom prst="rect">
            <a:avLst/>
          </a:prstGeom>
          <a:noFill/>
          <a:ln/>
        </p:spPr>
        <p:txBody>
          <a:bodyPr wrap="square" lIns="0" tIns="0" rIns="0" bIns="0" rtlCol="0" anchor="t"/>
          <a:lstStyle/>
          <a:p>
            <a:pPr algn="r" indent="0" marL="0">
              <a:buNone/>
            </a:pPr>
            <a:r>
              <a:rPr lang="en-US" sz="1050" dirty="0">
                <a:solidFill>
                  <a:srgbClr val="FFCE67"/>
                </a:solidFill>
                <a:latin typeface="Segoe UI" pitchFamily="34" charset="0"/>
                <a:ea typeface="Segoe UI" pitchFamily="34" charset="-122"/>
                <a:cs typeface="Segoe UI" pitchFamily="34" charset="-120"/>
              </a:rPr>
              <a:t>GATE + SCRIPT</a:t>
            </a:r>
            <a:endParaRPr lang="en-US" sz="1050" dirty="0"/>
          </a:p>
        </p:txBody>
      </p:sp>
      <p:sp>
        <p:nvSpPr>
          <p:cNvPr id="5" name="s9-text-4"/>
          <p:cNvSpPr/>
          <p:nvPr/>
        </p:nvSpPr>
        <p:spPr>
          <a:xfrm>
            <a:off x="548640" y="640080"/>
            <a:ext cx="11091672" cy="914400"/>
          </a:xfrm>
          <a:prstGeom prst="rect">
            <a:avLst/>
          </a:prstGeom>
          <a:noFill/>
          <a:ln/>
        </p:spPr>
        <p:txBody>
          <a:bodyPr wrap="square" lIns="0" tIns="0" rIns="0" bIns="0" rtlCol="0" anchor="t"/>
          <a:lstStyle/>
          <a:p>
            <a:pPr indent="0" marL="0">
              <a:buNone/>
            </a:pPr>
            <a:r>
              <a:rPr lang="en-US" sz="3000" b="1" dirty="0">
                <a:solidFill>
                  <a:srgbClr val="F3F7FC"/>
                </a:solidFill>
                <a:latin typeface="Segoe UI" pitchFamily="34" charset="0"/>
                <a:ea typeface="Segoe UI" pitchFamily="34" charset="-122"/>
                <a:cs typeface="Segoe UI" pitchFamily="34" charset="-120"/>
              </a:rPr>
              <a:t>Dependency Risk</a:t>
            </a:r>
            <a:endParaRPr lang="en-US" sz="3000" dirty="0"/>
          </a:p>
        </p:txBody>
      </p:sp>
      <p:sp>
        <p:nvSpPr>
          <p:cNvPr id="6" name="s9-text-5"/>
          <p:cNvSpPr/>
          <p:nvPr/>
        </p:nvSpPr>
        <p:spPr>
          <a:xfrm>
            <a:off x="548640" y="1600200"/>
            <a:ext cx="11091672" cy="338328"/>
          </a:xfrm>
          <a:prstGeom prst="rect">
            <a:avLst/>
          </a:prstGeom>
          <a:noFill/>
          <a:ln/>
        </p:spPr>
        <p:txBody>
          <a:bodyPr wrap="square" lIns="0" tIns="0" rIns="0" bIns="0" rtlCol="0" anchor="t"/>
          <a:lstStyle/>
          <a:p>
            <a:pPr indent="0" marL="0">
              <a:buNone/>
            </a:pPr>
            <a:r>
              <a:rPr lang="en-US" sz="1550" dirty="0">
                <a:solidFill>
                  <a:srgbClr val="A8B8CF"/>
                </a:solidFill>
                <a:latin typeface="Segoe UI" pitchFamily="34" charset="0"/>
                <a:ea typeface="Segoe UI" pitchFamily="34" charset="-122"/>
                <a:cs typeface="Segoe UI" pitchFamily="34" charset="-120"/>
              </a:rPr>
              <a:t>Review the proposed package and version before editing a manifest or restoring dependencies.</a:t>
            </a:r>
            <a:endParaRPr lang="en-US" sz="1550" dirty="0"/>
          </a:p>
        </p:txBody>
      </p:sp>
      <p:sp>
        <p:nvSpPr>
          <p:cNvPr id="7" name="Shape 5"/>
          <p:cNvSpPr/>
          <p:nvPr/>
        </p:nvSpPr>
        <p:spPr>
          <a:xfrm>
            <a:off x="548640" y="6446520"/>
            <a:ext cx="11091672" cy="0"/>
          </a:xfrm>
          <a:prstGeom prst="line">
            <a:avLst/>
          </a:prstGeom>
          <a:solidFill>
            <a:srgbClr val="142238"/>
          </a:solidFill>
          <a:ln w="7620">
            <a:solidFill>
              <a:srgbClr val="2B405B"/>
            </a:solidFill>
            <a:prstDash val="solid"/>
          </a:ln>
        </p:spPr>
      </p:sp>
      <p:sp>
        <p:nvSpPr>
          <p:cNvPr id="8" name="s9-text-6"/>
          <p:cNvSpPr/>
          <p:nvPr/>
        </p:nvSpPr>
        <p:spPr>
          <a:xfrm>
            <a:off x="548640" y="6556248"/>
            <a:ext cx="5852160" cy="164592"/>
          </a:xfrm>
          <a:prstGeom prst="rect">
            <a:avLst/>
          </a:prstGeom>
          <a:noFill/>
          <a:ln/>
        </p:spPr>
        <p:txBody>
          <a:bodyPr wrap="square" lIns="0" tIns="0" rIns="0" bIns="0" rtlCol="0" anchor="t"/>
          <a:lstStyle/>
          <a:p>
            <a:pPr indent="0" marL="0">
              <a:buNone/>
            </a:pPr>
            <a:r>
              <a:rPr lang="en-US" sz="950" dirty="0">
                <a:solidFill>
                  <a:srgbClr val="A8B8CF"/>
                </a:solidFill>
                <a:latin typeface="Segoe UI" pitchFamily="34" charset="0"/>
                <a:ea typeface="Segoe UI" pitchFamily="34" charset="-122"/>
                <a:cs typeface="Segoe UI" pitchFamily="34" charset="-120"/>
              </a:rPr>
              <a:t>PROTOTYPE  |  POLICY-GOVERNED AGENT ACTIONS</a:t>
            </a:r>
            <a:endParaRPr lang="en-US" sz="950" dirty="0"/>
          </a:p>
        </p:txBody>
      </p:sp>
      <p:sp>
        <p:nvSpPr>
          <p:cNvPr id="9" name="s9-text-7"/>
          <p:cNvSpPr/>
          <p:nvPr/>
        </p:nvSpPr>
        <p:spPr>
          <a:xfrm>
            <a:off x="10863072" y="6528816"/>
            <a:ext cx="777240" cy="210312"/>
          </a:xfrm>
          <a:prstGeom prst="rect">
            <a:avLst/>
          </a:prstGeom>
          <a:noFill/>
          <a:ln/>
        </p:spPr>
        <p:txBody>
          <a:bodyPr wrap="square" lIns="0" tIns="0" rIns="0" bIns="0" rtlCol="0" anchor="t"/>
          <a:lstStyle/>
          <a:p>
            <a:pPr algn="r" indent="0" marL="0">
              <a:buNone/>
            </a:pPr>
            <a:r>
              <a:rPr lang="en-US" sz="1100" dirty="0">
                <a:solidFill>
                  <a:srgbClr val="53DDF2"/>
                </a:solidFill>
                <a:latin typeface="Segoe UI" pitchFamily="34" charset="0"/>
                <a:ea typeface="Segoe UI" pitchFamily="34" charset="-122"/>
                <a:cs typeface="Segoe UI" pitchFamily="34" charset="-120"/>
              </a:rPr>
              <a:t>09 / 17</a:t>
            </a:r>
            <a:endParaRPr lang="en-US" sz="1100" dirty="0"/>
          </a:p>
        </p:txBody>
      </p:sp>
      <p:sp>
        <p:nvSpPr>
          <p:cNvPr id="10" name="Shape 8"/>
          <p:cNvSpPr/>
          <p:nvPr/>
        </p:nvSpPr>
        <p:spPr>
          <a:xfrm>
            <a:off x="548640" y="1938528"/>
            <a:ext cx="3886200" cy="3639312"/>
          </a:xfrm>
          <a:prstGeom prst="roundRect">
            <a:avLst>
              <a:gd name="adj" fmla="val 4020"/>
            </a:avLst>
          </a:prstGeom>
          <a:solidFill>
            <a:srgbClr val="142238"/>
          </a:solidFill>
          <a:ln w="10160">
            <a:solidFill>
              <a:srgbClr val="FFCE67"/>
            </a:solidFill>
            <a:prstDash val="solid"/>
          </a:ln>
        </p:spPr>
      </p:sp>
      <p:sp>
        <p:nvSpPr>
          <p:cNvPr id="11" name="s9-text-8"/>
          <p:cNvSpPr/>
          <p:nvPr/>
        </p:nvSpPr>
        <p:spPr>
          <a:xfrm>
            <a:off x="786384" y="2139696"/>
            <a:ext cx="3429000" cy="310896"/>
          </a:xfrm>
          <a:prstGeom prst="rect">
            <a:avLst/>
          </a:prstGeom>
          <a:noFill/>
          <a:ln/>
        </p:spPr>
        <p:txBody>
          <a:bodyPr wrap="square" lIns="0" tIns="0" rIns="0" bIns="0" rtlCol="0" anchor="t"/>
          <a:lstStyle/>
          <a:p>
            <a:pPr indent="0" marL="0">
              <a:buNone/>
            </a:pPr>
            <a:r>
              <a:rPr lang="en-US" sz="1000" b="1" spc="80" kern="0" dirty="0">
                <a:solidFill>
                  <a:srgbClr val="FFCE67"/>
                </a:solidFill>
                <a:latin typeface="Segoe UI" pitchFamily="34" charset="0"/>
                <a:ea typeface="Segoe UI" pitchFamily="34" charset="-122"/>
                <a:cs typeface="Segoe UI" pitchFamily="34" charset="-120"/>
              </a:rPr>
              <a:t>REVIEW_DEPENDENCY_CHANGE</a:t>
            </a:r>
            <a:endParaRPr lang="en-US" sz="1000" dirty="0"/>
          </a:p>
        </p:txBody>
      </p:sp>
      <p:sp>
        <p:nvSpPr>
          <p:cNvPr id="12" name="s9-text-9"/>
          <p:cNvSpPr/>
          <p:nvPr/>
        </p:nvSpPr>
        <p:spPr>
          <a:xfrm>
            <a:off x="786384" y="2542032"/>
            <a:ext cx="3383280" cy="868680"/>
          </a:xfrm>
          <a:prstGeom prst="rect">
            <a:avLst/>
          </a:prstGeom>
          <a:noFill/>
          <a:ln/>
        </p:spPr>
        <p:txBody>
          <a:bodyPr wrap="square" lIns="0" tIns="0" rIns="0" bIns="0" rtlCol="0" anchor="t"/>
          <a:lstStyle/>
          <a:p>
            <a:pPr indent="0" marL="0">
              <a:buNone/>
            </a:pPr>
            <a:r>
              <a:rPr lang="en-US" sz="1800" b="1" dirty="0">
                <a:solidFill>
                  <a:srgbClr val="F3F7FC"/>
                </a:solidFill>
                <a:latin typeface="Segoe UI" pitchFamily="34" charset="0"/>
                <a:ea typeface="Segoe UI" pitchFamily="34" charset="-122"/>
                <a:cs typeface="Segoe UI" pitchFamily="34" charset="-120"/>
              </a:rPr>
              <a:t>Move dependency review ahead of the irreversible work.</a:t>
            </a:r>
            <a:endParaRPr lang="en-US" sz="1800" dirty="0"/>
          </a:p>
        </p:txBody>
      </p:sp>
      <p:sp>
        <p:nvSpPr>
          <p:cNvPr id="13" name="s9-text-10"/>
          <p:cNvSpPr/>
          <p:nvPr/>
        </p:nvSpPr>
        <p:spPr>
          <a:xfrm>
            <a:off x="786384" y="3493008"/>
            <a:ext cx="1005840" cy="201168"/>
          </a:xfrm>
          <a:prstGeom prst="rect">
            <a:avLst/>
          </a:prstGeom>
          <a:noFill/>
          <a:ln/>
        </p:spPr>
        <p:txBody>
          <a:bodyPr wrap="square" lIns="0" tIns="0" rIns="0" bIns="0" rtlCol="0" anchor="t"/>
          <a:lstStyle/>
          <a:p>
            <a:pPr indent="0" marL="0">
              <a:buNone/>
            </a:pPr>
            <a:r>
              <a:rPr lang="en-US" sz="1000" b="1" dirty="0">
                <a:solidFill>
                  <a:srgbClr val="A8B8CF"/>
                </a:solidFill>
                <a:latin typeface="Segoe UI" pitchFamily="34" charset="0"/>
                <a:ea typeface="Segoe UI" pitchFamily="34" charset="-122"/>
                <a:cs typeface="Segoe UI" pitchFamily="34" charset="-120"/>
              </a:rPr>
              <a:t>CHECKS</a:t>
            </a:r>
            <a:endParaRPr lang="en-US" sz="1000" dirty="0"/>
          </a:p>
        </p:txBody>
      </p:sp>
      <p:sp>
        <p:nvSpPr>
          <p:cNvPr id="14" name="s9-text-11"/>
          <p:cNvSpPr/>
          <p:nvPr/>
        </p:nvSpPr>
        <p:spPr>
          <a:xfrm>
            <a:off x="786384" y="3730752"/>
            <a:ext cx="3364992" cy="1051560"/>
          </a:xfrm>
          <a:prstGeom prst="rect">
            <a:avLst/>
          </a:prstGeom>
          <a:noFill/>
          <a:ln/>
        </p:spPr>
        <p:txBody>
          <a:bodyPr wrap="square" lIns="0" tIns="0" rIns="0" bIns="0" rtlCol="0" anchor="t"/>
          <a:lstStyle/>
          <a:p>
            <a:pPr indent="0" marL="0">
              <a:buNone/>
            </a:pPr>
            <a:r>
              <a:rPr lang="en-US" sz="1450" dirty="0">
                <a:solidFill>
                  <a:srgbClr val="F3F7FC"/>
                </a:solidFill>
                <a:latin typeface="Segoe UI" pitchFamily="34" charset="0"/>
                <a:ea typeface="Segoe UI" pitchFamily="34" charset="-122"/>
                <a:cs typeface="Segoe UI" pitchFamily="34" charset="-120"/>
              </a:rPr>
              <a:t>Package identity and proposed version</a:t>
            </a:r>
            <a:endParaRPr lang="en-US" sz="1450" dirty="0"/>
          </a:p>
          <a:p>
            <a:pPr indent="0" marL="0">
              <a:buNone/>
            </a:pPr>
            <a:r>
              <a:rPr lang="en-US" sz="1450" dirty="0">
                <a:solidFill>
                  <a:srgbClr val="F3F7FC"/>
                </a:solidFill>
                <a:latin typeface="Segoe UI" pitchFamily="34" charset="0"/>
                <a:ea typeface="Segoe UI" pitchFamily="34" charset="-122"/>
                <a:cs typeface="Segoe UI" pitchFamily="34" charset="-120"/>
              </a:rPr>
              <a:t>Reviewed synthetic blocklist</a:t>
            </a:r>
            <a:endParaRPr lang="en-US" sz="1450" dirty="0"/>
          </a:p>
          <a:p>
            <a:pPr indent="0" marL="0">
              <a:buNone/>
            </a:pPr>
            <a:r>
              <a:rPr lang="en-US" sz="1450" dirty="0">
                <a:solidFill>
                  <a:srgbClr val="F3F7FC"/>
                </a:solidFill>
                <a:latin typeface="Segoe UI" pitchFamily="34" charset="0"/>
                <a:ea typeface="Segoe UI" pitchFamily="34" charset="-122"/>
                <a:cs typeface="Segoe UI" pitchFamily="34" charset="-120"/>
              </a:rPr>
              <a:t>Advisory evidence path when available</a:t>
            </a:r>
            <a:endParaRPr lang="en-US" sz="1450" dirty="0"/>
          </a:p>
        </p:txBody>
      </p:sp>
      <p:sp>
        <p:nvSpPr>
          <p:cNvPr id="15" name="s9-text-12"/>
          <p:cNvSpPr/>
          <p:nvPr/>
        </p:nvSpPr>
        <p:spPr>
          <a:xfrm>
            <a:off x="786384" y="4846320"/>
            <a:ext cx="1508760" cy="201168"/>
          </a:xfrm>
          <a:prstGeom prst="rect">
            <a:avLst/>
          </a:prstGeom>
          <a:noFill/>
          <a:ln/>
        </p:spPr>
        <p:txBody>
          <a:bodyPr wrap="square" lIns="0" tIns="0" rIns="0" bIns="0" rtlCol="0" anchor="t"/>
          <a:lstStyle/>
          <a:p>
            <a:pPr indent="0" marL="0">
              <a:buNone/>
            </a:pPr>
            <a:r>
              <a:rPr lang="en-US" sz="1000" b="1" dirty="0">
                <a:solidFill>
                  <a:srgbClr val="A8B8CF"/>
                </a:solidFill>
                <a:latin typeface="Segoe UI" pitchFamily="34" charset="0"/>
                <a:ea typeface="Segoe UI" pitchFamily="34" charset="-122"/>
                <a:cs typeface="Segoe UI" pitchFamily="34" charset="-120"/>
              </a:rPr>
              <a:t>POLICY RESULT</a:t>
            </a:r>
            <a:endParaRPr lang="en-US" sz="1000" dirty="0"/>
          </a:p>
        </p:txBody>
      </p:sp>
      <p:sp>
        <p:nvSpPr>
          <p:cNvPr id="16" name="s9-text-13"/>
          <p:cNvSpPr/>
          <p:nvPr/>
        </p:nvSpPr>
        <p:spPr>
          <a:xfrm>
            <a:off x="786384" y="5074920"/>
            <a:ext cx="3364992" cy="420624"/>
          </a:xfrm>
          <a:prstGeom prst="rect">
            <a:avLst/>
          </a:prstGeom>
          <a:noFill/>
          <a:ln/>
        </p:spPr>
        <p:txBody>
          <a:bodyPr wrap="square" lIns="0" tIns="0" rIns="0" bIns="0" rtlCol="0" anchor="t"/>
          <a:lstStyle/>
          <a:p>
            <a:pPr indent="0" marL="0">
              <a:buNone/>
            </a:pPr>
            <a:r>
              <a:rPr lang="en-US" sz="1400" b="1" dirty="0">
                <a:solidFill>
                  <a:srgbClr val="FF7C8E"/>
                </a:solidFill>
                <a:latin typeface="Segoe UI" pitchFamily="34" charset="0"/>
                <a:ea typeface="Segoe UI" pitchFamily="34" charset="-122"/>
                <a:cs typeface="Segoe UI" pitchFamily="34" charset="-120"/>
              </a:rPr>
              <a:t>Blocked proposal → no edit, no restore</a:t>
            </a:r>
            <a:endParaRPr lang="en-US" sz="1400" dirty="0"/>
          </a:p>
        </p:txBody>
      </p:sp>
      <p:sp>
        <p:nvSpPr>
          <p:cNvPr id="17" name="Shape 15"/>
          <p:cNvSpPr/>
          <p:nvPr/>
        </p:nvSpPr>
        <p:spPr>
          <a:xfrm>
            <a:off x="4645152" y="1938528"/>
            <a:ext cx="6995160" cy="3639312"/>
          </a:xfrm>
          <a:prstGeom prst="roundRect">
            <a:avLst>
              <a:gd name="adj" fmla="val 4020"/>
            </a:avLst>
          </a:prstGeom>
          <a:solidFill>
            <a:srgbClr val="142238"/>
          </a:solidFill>
          <a:ln w="10160">
            <a:solidFill>
              <a:srgbClr val="2B405B"/>
            </a:solidFill>
            <a:prstDash val="solid"/>
          </a:ln>
        </p:spPr>
      </p:sp>
      <p:sp>
        <p:nvSpPr>
          <p:cNvPr id="18" name="Shape 16"/>
          <p:cNvSpPr/>
          <p:nvPr/>
        </p:nvSpPr>
        <p:spPr>
          <a:xfrm>
            <a:off x="4672584" y="1965960"/>
            <a:ext cx="6940296" cy="3584448"/>
          </a:xfrm>
          <a:prstGeom prst="rect">
            <a:avLst/>
          </a:prstGeom>
          <a:solidFill>
            <a:srgbClr val="07101D"/>
          </a:solidFill>
          <a:ln w="10160">
            <a:solidFill>
              <a:srgbClr val="2B405B"/>
            </a:solidFill>
            <a:prstDash val="solid"/>
          </a:ln>
        </p:spPr>
      </p:sp>
      <p:sp>
        <p:nvSpPr>
          <p:cNvPr id="19" name="s9-text-14"/>
          <p:cNvSpPr/>
          <p:nvPr/>
        </p:nvSpPr>
        <p:spPr>
          <a:xfrm>
            <a:off x="4956048" y="2212848"/>
            <a:ext cx="2834640" cy="256032"/>
          </a:xfrm>
          <a:prstGeom prst="rect">
            <a:avLst/>
          </a:prstGeom>
          <a:noFill/>
          <a:ln/>
        </p:spPr>
        <p:txBody>
          <a:bodyPr wrap="square" lIns="0" tIns="0" rIns="0" bIns="0" rtlCol="0" anchor="t"/>
          <a:lstStyle/>
          <a:p>
            <a:pPr indent="0" marL="0">
              <a:buNone/>
            </a:pPr>
            <a:r>
              <a:rPr lang="en-US" sz="1200" b="1" spc="90" kern="0" dirty="0">
                <a:solidFill>
                  <a:srgbClr val="49DCA2"/>
                </a:solidFill>
                <a:latin typeface="Segoe UI" pitchFamily="34" charset="0"/>
                <a:ea typeface="Segoe UI" pitchFamily="34" charset="-122"/>
                <a:cs typeface="Segoe UI" pitchFamily="34" charset="-120"/>
              </a:rPr>
              <a:t>▶  SCREEN RECORDING</a:t>
            </a:r>
            <a:endParaRPr lang="en-US" sz="1200" dirty="0"/>
          </a:p>
        </p:txBody>
      </p:sp>
      <p:sp>
        <p:nvSpPr>
          <p:cNvPr id="20" name="s9-text-15"/>
          <p:cNvSpPr/>
          <p:nvPr/>
        </p:nvSpPr>
        <p:spPr>
          <a:xfrm>
            <a:off x="4956048" y="2724912"/>
            <a:ext cx="6355080" cy="1078992"/>
          </a:xfrm>
          <a:prstGeom prst="rect">
            <a:avLst/>
          </a:prstGeom>
          <a:noFill/>
          <a:ln/>
        </p:spPr>
        <p:txBody>
          <a:bodyPr wrap="square" lIns="0" tIns="0" rIns="0" bIns="0" rtlCol="0" anchor="t"/>
          <a:lstStyle/>
          <a:p>
            <a:pPr indent="0" marL="0">
              <a:buNone/>
            </a:pPr>
            <a:r>
              <a:rPr lang="en-US" sz="1500" dirty="0">
                <a:solidFill>
                  <a:srgbClr val="F3F7FC"/>
                </a:solidFill>
                <a:latin typeface="Consolas" pitchFamily="34" charset="0"/>
                <a:ea typeface="Consolas" pitchFamily="34" charset="-122"/>
                <a:cs typeface="Consolas" pitchFamily="34" charset="-120"/>
              </a:rPr>
              <a:t>npm run demo -- --gate dependency-risk</a:t>
            </a:r>
            <a:endParaRPr lang="en-US" sz="1500" dirty="0"/>
          </a:p>
        </p:txBody>
      </p:sp>
      <p:sp>
        <p:nvSpPr>
          <p:cNvPr id="21" name="Shape 19"/>
          <p:cNvSpPr/>
          <p:nvPr/>
        </p:nvSpPr>
        <p:spPr>
          <a:xfrm>
            <a:off x="4956048" y="4142232"/>
            <a:ext cx="1901952" cy="713232"/>
          </a:xfrm>
          <a:prstGeom prst="roundRect">
            <a:avLst>
              <a:gd name="adj" fmla="val 20513"/>
            </a:avLst>
          </a:prstGeom>
          <a:solidFill>
            <a:srgbClr val="142238"/>
          </a:solidFill>
          <a:ln w="10160">
            <a:solidFill>
              <a:srgbClr val="53DDF2"/>
            </a:solidFill>
            <a:prstDash val="solid"/>
          </a:ln>
        </p:spPr>
      </p:sp>
      <p:sp>
        <p:nvSpPr>
          <p:cNvPr id="22" name="s9-text-16"/>
          <p:cNvSpPr/>
          <p:nvPr/>
        </p:nvSpPr>
        <p:spPr>
          <a:xfrm>
            <a:off x="5084064" y="4279392"/>
            <a:ext cx="1645920" cy="164592"/>
          </a:xfrm>
          <a:prstGeom prst="rect">
            <a:avLst/>
          </a:prstGeom>
          <a:noFill/>
          <a:ln/>
        </p:spPr>
        <p:txBody>
          <a:bodyPr wrap="square" lIns="0" tIns="0" rIns="0" bIns="0" rtlCol="0" anchor="t"/>
          <a:lstStyle/>
          <a:p>
            <a:pPr indent="0" marL="0">
              <a:buNone/>
            </a:pPr>
            <a:r>
              <a:rPr lang="en-US" sz="950" b="1" dirty="0">
                <a:solidFill>
                  <a:srgbClr val="A8B8CF"/>
                </a:solidFill>
                <a:latin typeface="Segoe UI" pitchFamily="34" charset="0"/>
                <a:ea typeface="Segoe UI" pitchFamily="34" charset="-122"/>
                <a:cs typeface="Segoe UI" pitchFamily="34" charset="-120"/>
              </a:rPr>
              <a:t>PACKAGE</a:t>
            </a:r>
            <a:endParaRPr lang="en-US" sz="950" dirty="0"/>
          </a:p>
        </p:txBody>
      </p:sp>
      <p:sp>
        <p:nvSpPr>
          <p:cNvPr id="23" name="s9-text-17"/>
          <p:cNvSpPr/>
          <p:nvPr/>
        </p:nvSpPr>
        <p:spPr>
          <a:xfrm>
            <a:off x="5084064" y="4535424"/>
            <a:ext cx="1645920" cy="201168"/>
          </a:xfrm>
          <a:prstGeom prst="rect">
            <a:avLst/>
          </a:prstGeom>
          <a:noFill/>
          <a:ln/>
        </p:spPr>
        <p:txBody>
          <a:bodyPr wrap="square" lIns="0" tIns="0" rIns="0" bIns="0" rtlCol="0" anchor="t"/>
          <a:lstStyle/>
          <a:p>
            <a:pPr indent="0" marL="0">
              <a:buNone/>
            </a:pPr>
            <a:r>
              <a:rPr lang="en-US" sz="1400" b="1" dirty="0">
                <a:solidFill>
                  <a:srgbClr val="53DDF2"/>
                </a:solidFill>
                <a:latin typeface="Segoe UI" pitchFamily="34" charset="0"/>
                <a:ea typeface="Segoe UI" pitchFamily="34" charset="-122"/>
                <a:cs typeface="Segoe UI" pitchFamily="34" charset="-120"/>
              </a:rPr>
              <a:t>MSAL</a:t>
            </a:r>
            <a:endParaRPr lang="en-US" sz="1400" dirty="0"/>
          </a:p>
        </p:txBody>
      </p:sp>
      <p:sp>
        <p:nvSpPr>
          <p:cNvPr id="24" name="Shape 22"/>
          <p:cNvSpPr/>
          <p:nvPr/>
        </p:nvSpPr>
        <p:spPr>
          <a:xfrm>
            <a:off x="7040880" y="4142232"/>
            <a:ext cx="1901952" cy="713232"/>
          </a:xfrm>
          <a:prstGeom prst="roundRect">
            <a:avLst>
              <a:gd name="adj" fmla="val 20513"/>
            </a:avLst>
          </a:prstGeom>
          <a:solidFill>
            <a:srgbClr val="142238"/>
          </a:solidFill>
          <a:ln w="10160">
            <a:solidFill>
              <a:srgbClr val="FFCE67"/>
            </a:solidFill>
            <a:prstDash val="solid"/>
          </a:ln>
        </p:spPr>
      </p:sp>
      <p:sp>
        <p:nvSpPr>
          <p:cNvPr id="25" name="s9-text-18"/>
          <p:cNvSpPr/>
          <p:nvPr/>
        </p:nvSpPr>
        <p:spPr>
          <a:xfrm>
            <a:off x="7168896" y="4279392"/>
            <a:ext cx="1645920" cy="164592"/>
          </a:xfrm>
          <a:prstGeom prst="rect">
            <a:avLst/>
          </a:prstGeom>
          <a:noFill/>
          <a:ln/>
        </p:spPr>
        <p:txBody>
          <a:bodyPr wrap="square" lIns="0" tIns="0" rIns="0" bIns="0" rtlCol="0" anchor="t"/>
          <a:lstStyle/>
          <a:p>
            <a:pPr indent="0" marL="0">
              <a:buNone/>
            </a:pPr>
            <a:r>
              <a:rPr lang="en-US" sz="950" b="1" dirty="0">
                <a:solidFill>
                  <a:srgbClr val="A8B8CF"/>
                </a:solidFill>
                <a:latin typeface="Segoe UI" pitchFamily="34" charset="0"/>
                <a:ea typeface="Segoe UI" pitchFamily="34" charset="-122"/>
                <a:cs typeface="Segoe UI" pitchFamily="34" charset="-120"/>
              </a:rPr>
              <a:t>VERSION</a:t>
            </a:r>
            <a:endParaRPr lang="en-US" sz="950" dirty="0"/>
          </a:p>
        </p:txBody>
      </p:sp>
      <p:sp>
        <p:nvSpPr>
          <p:cNvPr id="26" name="s9-text-19"/>
          <p:cNvSpPr/>
          <p:nvPr/>
        </p:nvSpPr>
        <p:spPr>
          <a:xfrm>
            <a:off x="7168896" y="4535424"/>
            <a:ext cx="1645920" cy="201168"/>
          </a:xfrm>
          <a:prstGeom prst="rect">
            <a:avLst/>
          </a:prstGeom>
          <a:noFill/>
          <a:ln/>
        </p:spPr>
        <p:txBody>
          <a:bodyPr wrap="square" lIns="0" tIns="0" rIns="0" bIns="0" rtlCol="0" anchor="t"/>
          <a:lstStyle/>
          <a:p>
            <a:pPr indent="0" marL="0">
              <a:buNone/>
            </a:pPr>
            <a:r>
              <a:rPr lang="en-US" sz="1400" b="1" dirty="0">
                <a:solidFill>
                  <a:srgbClr val="FFCE67"/>
                </a:solidFill>
                <a:latin typeface="Segoe UI" pitchFamily="34" charset="0"/>
                <a:ea typeface="Segoe UI" pitchFamily="34" charset="-122"/>
                <a:cs typeface="Segoe UI" pitchFamily="34" charset="-120"/>
              </a:rPr>
              <a:t>demo-blocked</a:t>
            </a:r>
            <a:endParaRPr lang="en-US" sz="1400" dirty="0"/>
          </a:p>
        </p:txBody>
      </p:sp>
      <p:sp>
        <p:nvSpPr>
          <p:cNvPr id="27" name="Shape 25"/>
          <p:cNvSpPr/>
          <p:nvPr/>
        </p:nvSpPr>
        <p:spPr>
          <a:xfrm>
            <a:off x="9125712" y="4142232"/>
            <a:ext cx="1901952" cy="713232"/>
          </a:xfrm>
          <a:prstGeom prst="roundRect">
            <a:avLst>
              <a:gd name="adj" fmla="val 20513"/>
            </a:avLst>
          </a:prstGeom>
          <a:solidFill>
            <a:srgbClr val="142238"/>
          </a:solidFill>
          <a:ln w="10160">
            <a:solidFill>
              <a:srgbClr val="FF7C8E"/>
            </a:solidFill>
            <a:prstDash val="solid"/>
          </a:ln>
        </p:spPr>
      </p:sp>
      <p:sp>
        <p:nvSpPr>
          <p:cNvPr id="28" name="s9-text-20"/>
          <p:cNvSpPr/>
          <p:nvPr/>
        </p:nvSpPr>
        <p:spPr>
          <a:xfrm>
            <a:off x="9253728" y="4279392"/>
            <a:ext cx="1645920" cy="164592"/>
          </a:xfrm>
          <a:prstGeom prst="rect">
            <a:avLst/>
          </a:prstGeom>
          <a:noFill/>
          <a:ln/>
        </p:spPr>
        <p:txBody>
          <a:bodyPr wrap="square" lIns="0" tIns="0" rIns="0" bIns="0" rtlCol="0" anchor="t"/>
          <a:lstStyle/>
          <a:p>
            <a:pPr indent="0" marL="0">
              <a:buNone/>
            </a:pPr>
            <a:r>
              <a:rPr lang="en-US" sz="950" b="1" dirty="0">
                <a:solidFill>
                  <a:srgbClr val="A8B8CF"/>
                </a:solidFill>
                <a:latin typeface="Segoe UI" pitchFamily="34" charset="0"/>
                <a:ea typeface="Segoe UI" pitchFamily="34" charset="-122"/>
                <a:cs typeface="Segoe UI" pitchFamily="34" charset="-120"/>
              </a:rPr>
              <a:t>EFFECT</a:t>
            </a:r>
            <a:endParaRPr lang="en-US" sz="950" dirty="0"/>
          </a:p>
        </p:txBody>
      </p:sp>
      <p:sp>
        <p:nvSpPr>
          <p:cNvPr id="29" name="s9-text-21"/>
          <p:cNvSpPr/>
          <p:nvPr/>
        </p:nvSpPr>
        <p:spPr>
          <a:xfrm>
            <a:off x="9253728" y="4535424"/>
            <a:ext cx="1645920" cy="201168"/>
          </a:xfrm>
          <a:prstGeom prst="rect">
            <a:avLst/>
          </a:prstGeom>
          <a:noFill/>
          <a:ln/>
        </p:spPr>
        <p:txBody>
          <a:bodyPr wrap="square" lIns="0" tIns="0" rIns="0" bIns="0" rtlCol="0" anchor="t"/>
          <a:lstStyle/>
          <a:p>
            <a:pPr indent="0" marL="0">
              <a:buNone/>
            </a:pPr>
            <a:r>
              <a:rPr lang="en-US" sz="1400" b="1" dirty="0">
                <a:solidFill>
                  <a:srgbClr val="FF7C8E"/>
                </a:solidFill>
                <a:latin typeface="Segoe UI" pitchFamily="34" charset="0"/>
                <a:ea typeface="Segoe UI" pitchFamily="34" charset="-122"/>
                <a:cs typeface="Segoe UI" pitchFamily="34" charset="-120"/>
              </a:rPr>
              <a:t>not started</a:t>
            </a:r>
            <a:endParaRPr lang="en-US" sz="1400" dirty="0"/>
          </a:p>
        </p:txBody>
      </p:sp>
      <p:sp>
        <p:nvSpPr>
          <p:cNvPr id="30" name="s9-text-22"/>
          <p:cNvSpPr/>
          <p:nvPr/>
        </p:nvSpPr>
        <p:spPr>
          <a:xfrm>
            <a:off x="4956048" y="5093208"/>
            <a:ext cx="6355080" cy="182880"/>
          </a:xfrm>
          <a:prstGeom prst="rect">
            <a:avLst/>
          </a:prstGeom>
          <a:noFill/>
          <a:ln/>
        </p:spPr>
        <p:txBody>
          <a:bodyPr wrap="square" lIns="0" tIns="0" rIns="0" bIns="0" rtlCol="0" anchor="t"/>
          <a:lstStyle/>
          <a:p>
            <a:pPr indent="0" marL="0">
              <a:buNone/>
            </a:pPr>
            <a:r>
              <a:rPr lang="en-US" sz="1050" dirty="0">
                <a:solidFill>
                  <a:srgbClr val="A8B8CF"/>
                </a:solidFill>
                <a:latin typeface="Segoe UI" pitchFamily="34" charset="0"/>
                <a:ea typeface="Segoe UI" pitchFamily="34" charset="-122"/>
                <a:cs typeface="Segoe UI" pitchFamily="34" charset="-120"/>
              </a:rPr>
              <a:t>Recording slot: recordings/dependency-risk.mp4</a:t>
            </a:r>
            <a:endParaRPr lang="en-US" sz="1050" dirty="0"/>
          </a:p>
        </p:txBody>
      </p:sp>
      <p:sp>
        <p:nvSpPr>
          <p:cNvPr id="31" name="Shape 29"/>
          <p:cNvSpPr/>
          <p:nvPr/>
        </p:nvSpPr>
        <p:spPr>
          <a:xfrm>
            <a:off x="548640" y="5687568"/>
            <a:ext cx="11091672" cy="585216"/>
          </a:xfrm>
          <a:prstGeom prst="roundRect">
            <a:avLst>
              <a:gd name="adj" fmla="val 25000"/>
            </a:avLst>
          </a:prstGeom>
          <a:solidFill>
            <a:srgbClr val="142238"/>
          </a:solidFill>
          <a:ln w="10160">
            <a:solidFill>
              <a:srgbClr val="2B405B"/>
            </a:solidFill>
            <a:prstDash val="solid"/>
          </a:ln>
        </p:spPr>
      </p:sp>
      <p:sp>
        <p:nvSpPr>
          <p:cNvPr id="32" name="Shape 30"/>
          <p:cNvSpPr/>
          <p:nvPr/>
        </p:nvSpPr>
        <p:spPr>
          <a:xfrm>
            <a:off x="548640" y="5687568"/>
            <a:ext cx="41148" cy="585216"/>
          </a:xfrm>
          <a:prstGeom prst="rect">
            <a:avLst/>
          </a:prstGeom>
          <a:solidFill>
            <a:srgbClr val="FFCE67"/>
          </a:solidFill>
          <a:ln w="12700">
            <a:solidFill>
              <a:srgbClr val="2B405B">
                <a:alpha val="0"/>
              </a:srgbClr>
            </a:solidFill>
            <a:prstDash val="solid"/>
          </a:ln>
        </p:spPr>
      </p:sp>
      <p:sp>
        <p:nvSpPr>
          <p:cNvPr id="33" name="s9-text-23"/>
          <p:cNvSpPr/>
          <p:nvPr/>
        </p:nvSpPr>
        <p:spPr>
          <a:xfrm>
            <a:off x="758952" y="5833872"/>
            <a:ext cx="10652760" cy="292608"/>
          </a:xfrm>
          <a:prstGeom prst="rect">
            <a:avLst/>
          </a:prstGeom>
          <a:noFill/>
          <a:ln/>
        </p:spPr>
        <p:txBody>
          <a:bodyPr wrap="square" lIns="0" tIns="0" rIns="0" bIns="0" rtlCol="0" anchor="t"/>
          <a:lstStyle/>
          <a:p>
            <a:pPr indent="0" marL="0">
              <a:buNone/>
            </a:pPr>
            <a:r>
              <a:rPr lang="en-US" sz="1600" dirty="0">
                <a:solidFill>
                  <a:srgbClr val="FFCE67"/>
                </a:solidFill>
                <a:latin typeface="Segoe UI" pitchFamily="34" charset="0"/>
                <a:ea typeface="Segoe UI" pitchFamily="34" charset="-122"/>
                <a:cs typeface="Segoe UI" pitchFamily="34" charset="-120"/>
              </a:rPr>
              <a:t>The demo is a deterministic synthetic policy case—not a CVE claim about the sample repository.</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s10-text-1"/>
          <p:cNvSpPr/>
          <p:nvPr/>
        </p:nvSpPr>
        <p:spPr>
          <a:xfrm>
            <a:off x="548640" y="219456"/>
            <a:ext cx="2834640" cy="219456"/>
          </a:xfrm>
          <a:prstGeom prst="rect">
            <a:avLst/>
          </a:prstGeom>
          <a:noFill/>
          <a:ln/>
        </p:spPr>
        <p:txBody>
          <a:bodyPr wrap="square" lIns="0" tIns="0" rIns="0" bIns="0" rtlCol="0" anchor="t"/>
          <a:lstStyle/>
          <a:p>
            <a:pPr indent="0" marL="0">
              <a:buNone/>
            </a:pPr>
            <a:r>
              <a:rPr lang="en-US" sz="1300" b="1" spc="80" kern="0" dirty="0">
                <a:solidFill>
                  <a:srgbClr val="53DDF2"/>
                </a:solidFill>
                <a:latin typeface="Segoe UI" pitchFamily="34" charset="0"/>
                <a:ea typeface="Segoe UI" pitchFamily="34" charset="-122"/>
                <a:cs typeface="Segoe UI" pitchFamily="34" charset="-120"/>
              </a:rPr>
              <a:t>AGENT AIRLOCK</a:t>
            </a:r>
            <a:endParaRPr lang="en-US" sz="1300" dirty="0"/>
          </a:p>
        </p:txBody>
      </p:sp>
      <p:sp>
        <p:nvSpPr>
          <p:cNvPr id="3" name="s10-text-2"/>
          <p:cNvSpPr/>
          <p:nvPr/>
        </p:nvSpPr>
        <p:spPr>
          <a:xfrm>
            <a:off x="3657600" y="237744"/>
            <a:ext cx="4663440" cy="201168"/>
          </a:xfrm>
          <a:prstGeom prst="rect">
            <a:avLst/>
          </a:prstGeom>
          <a:noFill/>
          <a:ln/>
        </p:spPr>
        <p:txBody>
          <a:bodyPr wrap="square" lIns="0" tIns="0" rIns="0" bIns="0" rtlCol="0" anchor="t"/>
          <a:lstStyle/>
          <a:p>
            <a:pPr algn="ctr" indent="0" marL="0">
              <a:buNone/>
            </a:pPr>
            <a:r>
              <a:rPr lang="en-US" sz="1100" spc="100" kern="0" dirty="0">
                <a:solidFill>
                  <a:srgbClr val="A8B8CF"/>
                </a:solidFill>
                <a:latin typeface="Segoe UI" pitchFamily="34" charset="0"/>
                <a:ea typeface="Segoe UI" pitchFamily="34" charset="-122"/>
                <a:cs typeface="Segoe UI" pitchFamily="34" charset="-120"/>
              </a:rPr>
              <a:t>GATE 3</a:t>
            </a:r>
            <a:endParaRPr lang="en-US" sz="1100" dirty="0"/>
          </a:p>
        </p:txBody>
      </p:sp>
      <p:sp>
        <p:nvSpPr>
          <p:cNvPr id="4" name="s10-text-3"/>
          <p:cNvSpPr/>
          <p:nvPr/>
        </p:nvSpPr>
        <p:spPr>
          <a:xfrm>
            <a:off x="8412480" y="237744"/>
            <a:ext cx="3227832" cy="201168"/>
          </a:xfrm>
          <a:prstGeom prst="rect">
            <a:avLst/>
          </a:prstGeom>
          <a:noFill/>
          <a:ln/>
        </p:spPr>
        <p:txBody>
          <a:bodyPr wrap="square" lIns="0" tIns="0" rIns="0" bIns="0" rtlCol="0" anchor="t"/>
          <a:lstStyle/>
          <a:p>
            <a:pPr algn="r" indent="0" marL="0">
              <a:buNone/>
            </a:pPr>
            <a:r>
              <a:rPr lang="en-US" sz="1050" dirty="0">
                <a:solidFill>
                  <a:srgbClr val="FFCE67"/>
                </a:solidFill>
                <a:latin typeface="Segoe UI" pitchFamily="34" charset="0"/>
                <a:ea typeface="Segoe UI" pitchFamily="34" charset="-122"/>
                <a:cs typeface="Segoe UI" pitchFamily="34" charset="-120"/>
              </a:rPr>
              <a:t>GATE + SCRIPT</a:t>
            </a:r>
            <a:endParaRPr lang="en-US" sz="1050" dirty="0"/>
          </a:p>
        </p:txBody>
      </p:sp>
      <p:sp>
        <p:nvSpPr>
          <p:cNvPr id="5" name="s10-text-4"/>
          <p:cNvSpPr/>
          <p:nvPr/>
        </p:nvSpPr>
        <p:spPr>
          <a:xfrm>
            <a:off x="548640" y="640080"/>
            <a:ext cx="11091672" cy="914400"/>
          </a:xfrm>
          <a:prstGeom prst="rect">
            <a:avLst/>
          </a:prstGeom>
          <a:noFill/>
          <a:ln/>
        </p:spPr>
        <p:txBody>
          <a:bodyPr wrap="square" lIns="0" tIns="0" rIns="0" bIns="0" rtlCol="0" anchor="t"/>
          <a:lstStyle/>
          <a:p>
            <a:pPr indent="0" marL="0">
              <a:buNone/>
            </a:pPr>
            <a:r>
              <a:rPr lang="en-US" sz="3000" b="1" dirty="0">
                <a:solidFill>
                  <a:srgbClr val="F3F7FC"/>
                </a:solidFill>
                <a:latin typeface="Segoe UI" pitchFamily="34" charset="0"/>
                <a:ea typeface="Segoe UI" pitchFamily="34" charset="-122"/>
                <a:cs typeface="Segoe UI" pitchFamily="34" charset="-120"/>
              </a:rPr>
              <a:t>Model Catalog</a:t>
            </a:r>
            <a:endParaRPr lang="en-US" sz="3000" dirty="0"/>
          </a:p>
        </p:txBody>
      </p:sp>
      <p:sp>
        <p:nvSpPr>
          <p:cNvPr id="6" name="s10-text-5"/>
          <p:cNvSpPr/>
          <p:nvPr/>
        </p:nvSpPr>
        <p:spPr>
          <a:xfrm>
            <a:off x="548640" y="1600200"/>
            <a:ext cx="11091672" cy="338328"/>
          </a:xfrm>
          <a:prstGeom prst="rect">
            <a:avLst/>
          </a:prstGeom>
          <a:noFill/>
          <a:ln/>
        </p:spPr>
        <p:txBody>
          <a:bodyPr wrap="square" lIns="0" tIns="0" rIns="0" bIns="0" rtlCol="0" anchor="t"/>
          <a:lstStyle/>
          <a:p>
            <a:pPr indent="0" marL="0">
              <a:buNone/>
            </a:pPr>
            <a:r>
              <a:rPr lang="en-US" sz="1550" dirty="0">
                <a:solidFill>
                  <a:srgbClr val="A8B8CF"/>
                </a:solidFill>
                <a:latin typeface="Segoe UI" pitchFamily="34" charset="0"/>
                <a:ea typeface="Segoe UI" pitchFamily="34" charset="-122"/>
                <a:cs typeface="Segoe UI" pitchFamily="34" charset="-120"/>
              </a:rPr>
              <a:t>Constrain model selection by task and data classification before inference is requested.</a:t>
            </a:r>
            <a:endParaRPr lang="en-US" sz="1550" dirty="0"/>
          </a:p>
        </p:txBody>
      </p:sp>
      <p:sp>
        <p:nvSpPr>
          <p:cNvPr id="7" name="Shape 5"/>
          <p:cNvSpPr/>
          <p:nvPr/>
        </p:nvSpPr>
        <p:spPr>
          <a:xfrm>
            <a:off x="548640" y="6446520"/>
            <a:ext cx="11091672" cy="0"/>
          </a:xfrm>
          <a:prstGeom prst="line">
            <a:avLst/>
          </a:prstGeom>
          <a:solidFill>
            <a:srgbClr val="142238"/>
          </a:solidFill>
          <a:ln w="7620">
            <a:solidFill>
              <a:srgbClr val="2B405B"/>
            </a:solidFill>
            <a:prstDash val="solid"/>
          </a:ln>
        </p:spPr>
      </p:sp>
      <p:sp>
        <p:nvSpPr>
          <p:cNvPr id="8" name="s10-text-6"/>
          <p:cNvSpPr/>
          <p:nvPr/>
        </p:nvSpPr>
        <p:spPr>
          <a:xfrm>
            <a:off x="548640" y="6556248"/>
            <a:ext cx="5852160" cy="164592"/>
          </a:xfrm>
          <a:prstGeom prst="rect">
            <a:avLst/>
          </a:prstGeom>
          <a:noFill/>
          <a:ln/>
        </p:spPr>
        <p:txBody>
          <a:bodyPr wrap="square" lIns="0" tIns="0" rIns="0" bIns="0" rtlCol="0" anchor="t"/>
          <a:lstStyle/>
          <a:p>
            <a:pPr indent="0" marL="0">
              <a:buNone/>
            </a:pPr>
            <a:r>
              <a:rPr lang="en-US" sz="950" dirty="0">
                <a:solidFill>
                  <a:srgbClr val="A8B8CF"/>
                </a:solidFill>
                <a:latin typeface="Segoe UI" pitchFamily="34" charset="0"/>
                <a:ea typeface="Segoe UI" pitchFamily="34" charset="-122"/>
                <a:cs typeface="Segoe UI" pitchFamily="34" charset="-120"/>
              </a:rPr>
              <a:t>PROTOTYPE  |  POLICY-GOVERNED AGENT ACTIONS</a:t>
            </a:r>
            <a:endParaRPr lang="en-US" sz="950" dirty="0"/>
          </a:p>
        </p:txBody>
      </p:sp>
      <p:sp>
        <p:nvSpPr>
          <p:cNvPr id="9" name="s10-text-7"/>
          <p:cNvSpPr/>
          <p:nvPr/>
        </p:nvSpPr>
        <p:spPr>
          <a:xfrm>
            <a:off x="10863072" y="6528816"/>
            <a:ext cx="777240" cy="210312"/>
          </a:xfrm>
          <a:prstGeom prst="rect">
            <a:avLst/>
          </a:prstGeom>
          <a:noFill/>
          <a:ln/>
        </p:spPr>
        <p:txBody>
          <a:bodyPr wrap="square" lIns="0" tIns="0" rIns="0" bIns="0" rtlCol="0" anchor="t"/>
          <a:lstStyle/>
          <a:p>
            <a:pPr algn="r" indent="0" marL="0">
              <a:buNone/>
            </a:pPr>
            <a:r>
              <a:rPr lang="en-US" sz="1100" dirty="0">
                <a:solidFill>
                  <a:srgbClr val="53DDF2"/>
                </a:solidFill>
                <a:latin typeface="Segoe UI" pitchFamily="34" charset="0"/>
                <a:ea typeface="Segoe UI" pitchFamily="34" charset="-122"/>
                <a:cs typeface="Segoe UI" pitchFamily="34" charset="-120"/>
              </a:rPr>
              <a:t>10 / 17</a:t>
            </a:r>
            <a:endParaRPr lang="en-US" sz="1100" dirty="0"/>
          </a:p>
        </p:txBody>
      </p:sp>
      <p:sp>
        <p:nvSpPr>
          <p:cNvPr id="10" name="Shape 8"/>
          <p:cNvSpPr/>
          <p:nvPr/>
        </p:nvSpPr>
        <p:spPr>
          <a:xfrm>
            <a:off x="548640" y="1938528"/>
            <a:ext cx="3886200" cy="3639312"/>
          </a:xfrm>
          <a:prstGeom prst="roundRect">
            <a:avLst>
              <a:gd name="adj" fmla="val 4020"/>
            </a:avLst>
          </a:prstGeom>
          <a:solidFill>
            <a:srgbClr val="142238"/>
          </a:solidFill>
          <a:ln w="10160">
            <a:solidFill>
              <a:srgbClr val="B5A0FF"/>
            </a:solidFill>
            <a:prstDash val="solid"/>
          </a:ln>
        </p:spPr>
      </p:sp>
      <p:sp>
        <p:nvSpPr>
          <p:cNvPr id="11" name="s10-text-8"/>
          <p:cNvSpPr/>
          <p:nvPr/>
        </p:nvSpPr>
        <p:spPr>
          <a:xfrm>
            <a:off x="786384" y="2139696"/>
            <a:ext cx="3429000" cy="310896"/>
          </a:xfrm>
          <a:prstGeom prst="rect">
            <a:avLst/>
          </a:prstGeom>
          <a:noFill/>
          <a:ln/>
        </p:spPr>
        <p:txBody>
          <a:bodyPr wrap="square" lIns="0" tIns="0" rIns="0" bIns="0" rtlCol="0" anchor="t"/>
          <a:lstStyle/>
          <a:p>
            <a:pPr indent="0" marL="0">
              <a:buNone/>
            </a:pPr>
            <a:r>
              <a:rPr lang="en-US" sz="1000" b="1" spc="80" kern="0" dirty="0">
                <a:solidFill>
                  <a:srgbClr val="B5A0FF"/>
                </a:solidFill>
                <a:latin typeface="Segoe UI" pitchFamily="34" charset="0"/>
                <a:ea typeface="Segoe UI" pitchFamily="34" charset="-122"/>
                <a:cs typeface="Segoe UI" pitchFamily="34" charset="-120"/>
              </a:rPr>
              <a:t>SELECT_MODEL</a:t>
            </a:r>
            <a:endParaRPr lang="en-US" sz="1000" dirty="0"/>
          </a:p>
        </p:txBody>
      </p:sp>
      <p:sp>
        <p:nvSpPr>
          <p:cNvPr id="12" name="s10-text-9"/>
          <p:cNvSpPr/>
          <p:nvPr/>
        </p:nvSpPr>
        <p:spPr>
          <a:xfrm>
            <a:off x="786384" y="2542032"/>
            <a:ext cx="3383280" cy="868680"/>
          </a:xfrm>
          <a:prstGeom prst="rect">
            <a:avLst/>
          </a:prstGeom>
          <a:noFill/>
          <a:ln/>
        </p:spPr>
        <p:txBody>
          <a:bodyPr wrap="square" lIns="0" tIns="0" rIns="0" bIns="0" rtlCol="0" anchor="t"/>
          <a:lstStyle/>
          <a:p>
            <a:pPr indent="0" marL="0">
              <a:buNone/>
            </a:pPr>
            <a:r>
              <a:rPr lang="en-US" sz="1800" b="1" dirty="0">
                <a:solidFill>
                  <a:srgbClr val="F3F7FC"/>
                </a:solidFill>
                <a:latin typeface="Segoe UI" pitchFamily="34" charset="0"/>
                <a:ea typeface="Segoe UI" pitchFamily="34" charset="-122"/>
                <a:cs typeface="Segoe UI" pitchFamily="34" charset="-120"/>
              </a:rPr>
              <a:t>Choose only reviewed model routes for the declared context.</a:t>
            </a:r>
            <a:endParaRPr lang="en-US" sz="1800" dirty="0"/>
          </a:p>
        </p:txBody>
      </p:sp>
      <p:sp>
        <p:nvSpPr>
          <p:cNvPr id="13" name="s10-text-10"/>
          <p:cNvSpPr/>
          <p:nvPr/>
        </p:nvSpPr>
        <p:spPr>
          <a:xfrm>
            <a:off x="786384" y="3493008"/>
            <a:ext cx="1005840" cy="201168"/>
          </a:xfrm>
          <a:prstGeom prst="rect">
            <a:avLst/>
          </a:prstGeom>
          <a:noFill/>
          <a:ln/>
        </p:spPr>
        <p:txBody>
          <a:bodyPr wrap="square" lIns="0" tIns="0" rIns="0" bIns="0" rtlCol="0" anchor="t"/>
          <a:lstStyle/>
          <a:p>
            <a:pPr indent="0" marL="0">
              <a:buNone/>
            </a:pPr>
            <a:r>
              <a:rPr lang="en-US" sz="1000" b="1" dirty="0">
                <a:solidFill>
                  <a:srgbClr val="A8B8CF"/>
                </a:solidFill>
                <a:latin typeface="Segoe UI" pitchFamily="34" charset="0"/>
                <a:ea typeface="Segoe UI" pitchFamily="34" charset="-122"/>
                <a:cs typeface="Segoe UI" pitchFamily="34" charset="-120"/>
              </a:rPr>
              <a:t>CHECKS</a:t>
            </a:r>
            <a:endParaRPr lang="en-US" sz="1000" dirty="0"/>
          </a:p>
        </p:txBody>
      </p:sp>
      <p:sp>
        <p:nvSpPr>
          <p:cNvPr id="14" name="s10-text-11"/>
          <p:cNvSpPr/>
          <p:nvPr/>
        </p:nvSpPr>
        <p:spPr>
          <a:xfrm>
            <a:off x="786384" y="3730752"/>
            <a:ext cx="3364992" cy="1051560"/>
          </a:xfrm>
          <a:prstGeom prst="rect">
            <a:avLst/>
          </a:prstGeom>
          <a:noFill/>
          <a:ln/>
        </p:spPr>
        <p:txBody>
          <a:bodyPr wrap="square" lIns="0" tIns="0" rIns="0" bIns="0" rtlCol="0" anchor="t"/>
          <a:lstStyle/>
          <a:p>
            <a:pPr indent="0" marL="0">
              <a:buNone/>
            </a:pPr>
            <a:r>
              <a:rPr lang="en-US" sz="1450" dirty="0">
                <a:solidFill>
                  <a:srgbClr val="F3F7FC"/>
                </a:solidFill>
                <a:latin typeface="Segoe UI" pitchFamily="34" charset="0"/>
                <a:ea typeface="Segoe UI" pitchFamily="34" charset="-122"/>
                <a:cs typeface="Segoe UI" pitchFamily="34" charset="-120"/>
              </a:rPr>
              <a:t>Task type and caller-supplied data class</a:t>
            </a:r>
            <a:endParaRPr lang="en-US" sz="1450" dirty="0"/>
          </a:p>
          <a:p>
            <a:pPr indent="0" marL="0">
              <a:buNone/>
            </a:pPr>
            <a:r>
              <a:rPr lang="en-US" sz="1450" dirty="0">
                <a:solidFill>
                  <a:srgbClr val="F3F7FC"/>
                </a:solidFill>
                <a:latin typeface="Segoe UI" pitchFamily="34" charset="0"/>
                <a:ea typeface="Segoe UI" pitchFamily="34" charset="-122"/>
                <a:cs typeface="Segoe UI" pitchFamily="34" charset="-120"/>
              </a:rPr>
              <a:t>Default, permitted override or blocked entry</a:t>
            </a:r>
            <a:endParaRPr lang="en-US" sz="1450" dirty="0"/>
          </a:p>
          <a:p>
            <a:pPr indent="0" marL="0">
              <a:buNone/>
            </a:pPr>
            <a:r>
              <a:rPr lang="en-US" sz="1450" dirty="0">
                <a:solidFill>
                  <a:srgbClr val="F3F7FC"/>
                </a:solidFill>
                <a:latin typeface="Segoe UI" pitchFamily="34" charset="0"/>
                <a:ea typeface="Segoe UI" pitchFamily="34" charset="-122"/>
                <a:cs typeface="Segoe UI" pitchFamily="34" charset="-120"/>
              </a:rPr>
              <a:t>Catalog status and policy</a:t>
            </a:r>
            <a:endParaRPr lang="en-US" sz="1450" dirty="0"/>
          </a:p>
        </p:txBody>
      </p:sp>
      <p:sp>
        <p:nvSpPr>
          <p:cNvPr id="15" name="s10-text-12"/>
          <p:cNvSpPr/>
          <p:nvPr/>
        </p:nvSpPr>
        <p:spPr>
          <a:xfrm>
            <a:off x="786384" y="4846320"/>
            <a:ext cx="1508760" cy="201168"/>
          </a:xfrm>
          <a:prstGeom prst="rect">
            <a:avLst/>
          </a:prstGeom>
          <a:noFill/>
          <a:ln/>
        </p:spPr>
        <p:txBody>
          <a:bodyPr wrap="square" lIns="0" tIns="0" rIns="0" bIns="0" rtlCol="0" anchor="t"/>
          <a:lstStyle/>
          <a:p>
            <a:pPr indent="0" marL="0">
              <a:buNone/>
            </a:pPr>
            <a:r>
              <a:rPr lang="en-US" sz="1000" b="1" dirty="0">
                <a:solidFill>
                  <a:srgbClr val="A8B8CF"/>
                </a:solidFill>
                <a:latin typeface="Segoe UI" pitchFamily="34" charset="0"/>
                <a:ea typeface="Segoe UI" pitchFamily="34" charset="-122"/>
                <a:cs typeface="Segoe UI" pitchFamily="34" charset="-120"/>
              </a:rPr>
              <a:t>POLICY RESULT</a:t>
            </a:r>
            <a:endParaRPr lang="en-US" sz="1000" dirty="0"/>
          </a:p>
        </p:txBody>
      </p:sp>
      <p:sp>
        <p:nvSpPr>
          <p:cNvPr id="16" name="s10-text-13"/>
          <p:cNvSpPr/>
          <p:nvPr/>
        </p:nvSpPr>
        <p:spPr>
          <a:xfrm>
            <a:off x="786384" y="5074920"/>
            <a:ext cx="3364992" cy="420624"/>
          </a:xfrm>
          <a:prstGeom prst="rect">
            <a:avLst/>
          </a:prstGeom>
          <a:noFill/>
          <a:ln/>
        </p:spPr>
        <p:txBody>
          <a:bodyPr wrap="square" lIns="0" tIns="0" rIns="0" bIns="0" rtlCol="0" anchor="t"/>
          <a:lstStyle/>
          <a:p>
            <a:pPr indent="0" marL="0">
              <a:buNone/>
            </a:pPr>
            <a:r>
              <a:rPr lang="en-US" sz="1400" b="1" dirty="0">
                <a:solidFill>
                  <a:srgbClr val="FFCE67"/>
                </a:solidFill>
                <a:latin typeface="Segoe UI" pitchFamily="34" charset="0"/>
                <a:ea typeface="Segoe UI" pitchFamily="34" charset="-122"/>
                <a:cs typeface="Segoe UI" pitchFamily="34" charset="-120"/>
              </a:rPr>
              <a:t>Default selects; override pauses; blocked model stops</a:t>
            </a:r>
            <a:endParaRPr lang="en-US" sz="1400" dirty="0"/>
          </a:p>
        </p:txBody>
      </p:sp>
      <p:sp>
        <p:nvSpPr>
          <p:cNvPr id="17" name="Shape 15"/>
          <p:cNvSpPr/>
          <p:nvPr/>
        </p:nvSpPr>
        <p:spPr>
          <a:xfrm>
            <a:off x="4645152" y="1938528"/>
            <a:ext cx="6995160" cy="3639312"/>
          </a:xfrm>
          <a:prstGeom prst="roundRect">
            <a:avLst>
              <a:gd name="adj" fmla="val 4020"/>
            </a:avLst>
          </a:prstGeom>
          <a:solidFill>
            <a:srgbClr val="142238"/>
          </a:solidFill>
          <a:ln w="10160">
            <a:solidFill>
              <a:srgbClr val="2B405B"/>
            </a:solidFill>
            <a:prstDash val="solid"/>
          </a:ln>
        </p:spPr>
      </p:sp>
      <p:sp>
        <p:nvSpPr>
          <p:cNvPr id="18" name="Shape 16"/>
          <p:cNvSpPr/>
          <p:nvPr/>
        </p:nvSpPr>
        <p:spPr>
          <a:xfrm>
            <a:off x="4672584" y="1965960"/>
            <a:ext cx="6940296" cy="3584448"/>
          </a:xfrm>
          <a:prstGeom prst="rect">
            <a:avLst/>
          </a:prstGeom>
          <a:solidFill>
            <a:srgbClr val="07101D"/>
          </a:solidFill>
          <a:ln w="10160">
            <a:solidFill>
              <a:srgbClr val="2B405B"/>
            </a:solidFill>
            <a:prstDash val="solid"/>
          </a:ln>
        </p:spPr>
      </p:sp>
      <p:sp>
        <p:nvSpPr>
          <p:cNvPr id="19" name="s10-text-14"/>
          <p:cNvSpPr/>
          <p:nvPr/>
        </p:nvSpPr>
        <p:spPr>
          <a:xfrm>
            <a:off x="4956048" y="2212848"/>
            <a:ext cx="2834640" cy="256032"/>
          </a:xfrm>
          <a:prstGeom prst="rect">
            <a:avLst/>
          </a:prstGeom>
          <a:noFill/>
          <a:ln/>
        </p:spPr>
        <p:txBody>
          <a:bodyPr wrap="square" lIns="0" tIns="0" rIns="0" bIns="0" rtlCol="0" anchor="t"/>
          <a:lstStyle/>
          <a:p>
            <a:pPr indent="0" marL="0">
              <a:buNone/>
            </a:pPr>
            <a:r>
              <a:rPr lang="en-US" sz="1200" b="1" spc="90" kern="0" dirty="0">
                <a:solidFill>
                  <a:srgbClr val="49DCA2"/>
                </a:solidFill>
                <a:latin typeface="Segoe UI" pitchFamily="34" charset="0"/>
                <a:ea typeface="Segoe UI" pitchFamily="34" charset="-122"/>
                <a:cs typeface="Segoe UI" pitchFamily="34" charset="-120"/>
              </a:rPr>
              <a:t>▶  SCREEN RECORDING</a:t>
            </a:r>
            <a:endParaRPr lang="en-US" sz="1200" dirty="0"/>
          </a:p>
        </p:txBody>
      </p:sp>
      <p:sp>
        <p:nvSpPr>
          <p:cNvPr id="20" name="s10-text-15"/>
          <p:cNvSpPr/>
          <p:nvPr/>
        </p:nvSpPr>
        <p:spPr>
          <a:xfrm>
            <a:off x="4956048" y="2724912"/>
            <a:ext cx="6355080" cy="1078992"/>
          </a:xfrm>
          <a:prstGeom prst="rect">
            <a:avLst/>
          </a:prstGeom>
          <a:noFill/>
          <a:ln/>
        </p:spPr>
        <p:txBody>
          <a:bodyPr wrap="square" lIns="0" tIns="0" rIns="0" bIns="0" rtlCol="0" anchor="t"/>
          <a:lstStyle/>
          <a:p>
            <a:pPr indent="0" marL="0">
              <a:buNone/>
            </a:pPr>
            <a:r>
              <a:rPr lang="en-US" sz="1500" dirty="0">
                <a:solidFill>
                  <a:srgbClr val="F3F7FC"/>
                </a:solidFill>
                <a:latin typeface="Consolas" pitchFamily="34" charset="0"/>
                <a:ea typeface="Consolas" pitchFamily="34" charset="-122"/>
                <a:cs typeface="Consolas" pitchFamily="34" charset="-120"/>
              </a:rPr>
              <a:t>npm run demo -- --gate model-catalog</a:t>
            </a:r>
            <a:endParaRPr lang="en-US" sz="1500" dirty="0"/>
          </a:p>
        </p:txBody>
      </p:sp>
      <p:sp>
        <p:nvSpPr>
          <p:cNvPr id="21" name="Shape 19"/>
          <p:cNvSpPr/>
          <p:nvPr/>
        </p:nvSpPr>
        <p:spPr>
          <a:xfrm>
            <a:off x="4956048" y="4142232"/>
            <a:ext cx="1901952" cy="713232"/>
          </a:xfrm>
          <a:prstGeom prst="roundRect">
            <a:avLst>
              <a:gd name="adj" fmla="val 20513"/>
            </a:avLst>
          </a:prstGeom>
          <a:solidFill>
            <a:srgbClr val="142238"/>
          </a:solidFill>
          <a:ln w="10160">
            <a:solidFill>
              <a:srgbClr val="49DCA2"/>
            </a:solidFill>
            <a:prstDash val="solid"/>
          </a:ln>
        </p:spPr>
      </p:sp>
      <p:sp>
        <p:nvSpPr>
          <p:cNvPr id="22" name="s10-text-16"/>
          <p:cNvSpPr/>
          <p:nvPr/>
        </p:nvSpPr>
        <p:spPr>
          <a:xfrm>
            <a:off x="5084064" y="4279392"/>
            <a:ext cx="1645920" cy="164592"/>
          </a:xfrm>
          <a:prstGeom prst="rect">
            <a:avLst/>
          </a:prstGeom>
          <a:noFill/>
          <a:ln/>
        </p:spPr>
        <p:txBody>
          <a:bodyPr wrap="square" lIns="0" tIns="0" rIns="0" bIns="0" rtlCol="0" anchor="t"/>
          <a:lstStyle/>
          <a:p>
            <a:pPr indent="0" marL="0">
              <a:buNone/>
            </a:pPr>
            <a:r>
              <a:rPr lang="en-US" sz="950" b="1" dirty="0">
                <a:solidFill>
                  <a:srgbClr val="A8B8CF"/>
                </a:solidFill>
                <a:latin typeface="Segoe UI" pitchFamily="34" charset="0"/>
                <a:ea typeface="Segoe UI" pitchFamily="34" charset="-122"/>
                <a:cs typeface="Segoe UI" pitchFamily="34" charset="-120"/>
              </a:rPr>
              <a:t>DEFAULT</a:t>
            </a:r>
            <a:endParaRPr lang="en-US" sz="950" dirty="0"/>
          </a:p>
        </p:txBody>
      </p:sp>
      <p:sp>
        <p:nvSpPr>
          <p:cNvPr id="23" name="s10-text-17"/>
          <p:cNvSpPr/>
          <p:nvPr/>
        </p:nvSpPr>
        <p:spPr>
          <a:xfrm>
            <a:off x="5084064" y="4535424"/>
            <a:ext cx="1645920" cy="201168"/>
          </a:xfrm>
          <a:prstGeom prst="rect">
            <a:avLst/>
          </a:prstGeom>
          <a:noFill/>
          <a:ln/>
        </p:spPr>
        <p:txBody>
          <a:bodyPr wrap="square" lIns="0" tIns="0" rIns="0" bIns="0" rtlCol="0" anchor="t"/>
          <a:lstStyle/>
          <a:p>
            <a:pPr indent="0" marL="0">
              <a:buNone/>
            </a:pPr>
            <a:r>
              <a:rPr lang="en-US" sz="1400" b="1" dirty="0">
                <a:solidFill>
                  <a:srgbClr val="49DCA2"/>
                </a:solidFill>
                <a:latin typeface="Segoe UI" pitchFamily="34" charset="0"/>
                <a:ea typeface="Segoe UI" pitchFamily="34" charset="-122"/>
                <a:cs typeface="Segoe UI" pitchFamily="34" charset="-120"/>
              </a:rPr>
              <a:t>selected</a:t>
            </a:r>
            <a:endParaRPr lang="en-US" sz="1400" dirty="0"/>
          </a:p>
        </p:txBody>
      </p:sp>
      <p:sp>
        <p:nvSpPr>
          <p:cNvPr id="24" name="Shape 22"/>
          <p:cNvSpPr/>
          <p:nvPr/>
        </p:nvSpPr>
        <p:spPr>
          <a:xfrm>
            <a:off x="7040880" y="4142232"/>
            <a:ext cx="1901952" cy="713232"/>
          </a:xfrm>
          <a:prstGeom prst="roundRect">
            <a:avLst>
              <a:gd name="adj" fmla="val 20513"/>
            </a:avLst>
          </a:prstGeom>
          <a:solidFill>
            <a:srgbClr val="142238"/>
          </a:solidFill>
          <a:ln w="10160">
            <a:solidFill>
              <a:srgbClr val="FFCE67"/>
            </a:solidFill>
            <a:prstDash val="solid"/>
          </a:ln>
        </p:spPr>
      </p:sp>
      <p:sp>
        <p:nvSpPr>
          <p:cNvPr id="25" name="s10-text-18"/>
          <p:cNvSpPr/>
          <p:nvPr/>
        </p:nvSpPr>
        <p:spPr>
          <a:xfrm>
            <a:off x="7168896" y="4279392"/>
            <a:ext cx="1645920" cy="164592"/>
          </a:xfrm>
          <a:prstGeom prst="rect">
            <a:avLst/>
          </a:prstGeom>
          <a:noFill/>
          <a:ln/>
        </p:spPr>
        <p:txBody>
          <a:bodyPr wrap="square" lIns="0" tIns="0" rIns="0" bIns="0" rtlCol="0" anchor="t"/>
          <a:lstStyle/>
          <a:p>
            <a:pPr indent="0" marL="0">
              <a:buNone/>
            </a:pPr>
            <a:r>
              <a:rPr lang="en-US" sz="950" b="1" dirty="0">
                <a:solidFill>
                  <a:srgbClr val="A8B8CF"/>
                </a:solidFill>
                <a:latin typeface="Segoe UI" pitchFamily="34" charset="0"/>
                <a:ea typeface="Segoe UI" pitchFamily="34" charset="-122"/>
                <a:cs typeface="Segoe UI" pitchFamily="34" charset="-120"/>
              </a:rPr>
              <a:t>OVERRIDE</a:t>
            </a:r>
            <a:endParaRPr lang="en-US" sz="950" dirty="0"/>
          </a:p>
        </p:txBody>
      </p:sp>
      <p:sp>
        <p:nvSpPr>
          <p:cNvPr id="26" name="s10-text-19"/>
          <p:cNvSpPr/>
          <p:nvPr/>
        </p:nvSpPr>
        <p:spPr>
          <a:xfrm>
            <a:off x="7168896" y="4535424"/>
            <a:ext cx="1645920" cy="201168"/>
          </a:xfrm>
          <a:prstGeom prst="rect">
            <a:avLst/>
          </a:prstGeom>
          <a:noFill/>
          <a:ln/>
        </p:spPr>
        <p:txBody>
          <a:bodyPr wrap="square" lIns="0" tIns="0" rIns="0" bIns="0" rtlCol="0" anchor="t"/>
          <a:lstStyle/>
          <a:p>
            <a:pPr indent="0" marL="0">
              <a:buNone/>
            </a:pPr>
            <a:r>
              <a:rPr lang="en-US" sz="1400" b="1" dirty="0">
                <a:solidFill>
                  <a:srgbClr val="FFCE67"/>
                </a:solidFill>
                <a:latin typeface="Segoe UI" pitchFamily="34" charset="0"/>
                <a:ea typeface="Segoe UI" pitchFamily="34" charset="-122"/>
                <a:cs typeface="Segoe UI" pitchFamily="34" charset="-120"/>
              </a:rPr>
              <a:t>review</a:t>
            </a:r>
            <a:endParaRPr lang="en-US" sz="1400" dirty="0"/>
          </a:p>
        </p:txBody>
      </p:sp>
      <p:sp>
        <p:nvSpPr>
          <p:cNvPr id="27" name="Shape 25"/>
          <p:cNvSpPr/>
          <p:nvPr/>
        </p:nvSpPr>
        <p:spPr>
          <a:xfrm>
            <a:off x="9125712" y="4142232"/>
            <a:ext cx="1901952" cy="713232"/>
          </a:xfrm>
          <a:prstGeom prst="roundRect">
            <a:avLst>
              <a:gd name="adj" fmla="val 20513"/>
            </a:avLst>
          </a:prstGeom>
          <a:solidFill>
            <a:srgbClr val="142238"/>
          </a:solidFill>
          <a:ln w="10160">
            <a:solidFill>
              <a:srgbClr val="FF7C8E"/>
            </a:solidFill>
            <a:prstDash val="solid"/>
          </a:ln>
        </p:spPr>
      </p:sp>
      <p:sp>
        <p:nvSpPr>
          <p:cNvPr id="28" name="s10-text-20"/>
          <p:cNvSpPr/>
          <p:nvPr/>
        </p:nvSpPr>
        <p:spPr>
          <a:xfrm>
            <a:off x="9253728" y="4279392"/>
            <a:ext cx="1645920" cy="164592"/>
          </a:xfrm>
          <a:prstGeom prst="rect">
            <a:avLst/>
          </a:prstGeom>
          <a:noFill/>
          <a:ln/>
        </p:spPr>
        <p:txBody>
          <a:bodyPr wrap="square" lIns="0" tIns="0" rIns="0" bIns="0" rtlCol="0" anchor="t"/>
          <a:lstStyle/>
          <a:p>
            <a:pPr indent="0" marL="0">
              <a:buNone/>
            </a:pPr>
            <a:r>
              <a:rPr lang="en-US" sz="950" b="1" dirty="0">
                <a:solidFill>
                  <a:srgbClr val="A8B8CF"/>
                </a:solidFill>
                <a:latin typeface="Segoe UI" pitchFamily="34" charset="0"/>
                <a:ea typeface="Segoe UI" pitchFamily="34" charset="-122"/>
                <a:cs typeface="Segoe UI" pitchFamily="34" charset="-120"/>
              </a:rPr>
              <a:t>PUBLIC</a:t>
            </a:r>
            <a:endParaRPr lang="en-US" sz="950" dirty="0"/>
          </a:p>
        </p:txBody>
      </p:sp>
      <p:sp>
        <p:nvSpPr>
          <p:cNvPr id="29" name="s10-text-21"/>
          <p:cNvSpPr/>
          <p:nvPr/>
        </p:nvSpPr>
        <p:spPr>
          <a:xfrm>
            <a:off x="9253728" y="4535424"/>
            <a:ext cx="1645920" cy="201168"/>
          </a:xfrm>
          <a:prstGeom prst="rect">
            <a:avLst/>
          </a:prstGeom>
          <a:noFill/>
          <a:ln/>
        </p:spPr>
        <p:txBody>
          <a:bodyPr wrap="square" lIns="0" tIns="0" rIns="0" bIns="0" rtlCol="0" anchor="t"/>
          <a:lstStyle/>
          <a:p>
            <a:pPr indent="0" marL="0">
              <a:buNone/>
            </a:pPr>
            <a:r>
              <a:rPr lang="en-US" sz="1400" b="1" dirty="0">
                <a:solidFill>
                  <a:srgbClr val="FF7C8E"/>
                </a:solidFill>
                <a:latin typeface="Segoe UI" pitchFamily="34" charset="0"/>
                <a:ea typeface="Segoe UI" pitchFamily="34" charset="-122"/>
                <a:cs typeface="Segoe UI" pitchFamily="34" charset="-120"/>
              </a:rPr>
              <a:t>blocked</a:t>
            </a:r>
            <a:endParaRPr lang="en-US" sz="1400" dirty="0"/>
          </a:p>
        </p:txBody>
      </p:sp>
      <p:sp>
        <p:nvSpPr>
          <p:cNvPr id="30" name="s10-text-22"/>
          <p:cNvSpPr/>
          <p:nvPr/>
        </p:nvSpPr>
        <p:spPr>
          <a:xfrm>
            <a:off x="4956048" y="5093208"/>
            <a:ext cx="6355080" cy="182880"/>
          </a:xfrm>
          <a:prstGeom prst="rect">
            <a:avLst/>
          </a:prstGeom>
          <a:noFill/>
          <a:ln/>
        </p:spPr>
        <p:txBody>
          <a:bodyPr wrap="square" lIns="0" tIns="0" rIns="0" bIns="0" rtlCol="0" anchor="t"/>
          <a:lstStyle/>
          <a:p>
            <a:pPr indent="0" marL="0">
              <a:buNone/>
            </a:pPr>
            <a:r>
              <a:rPr lang="en-US" sz="1050" dirty="0">
                <a:solidFill>
                  <a:srgbClr val="A8B8CF"/>
                </a:solidFill>
                <a:latin typeface="Segoe UI" pitchFamily="34" charset="0"/>
                <a:ea typeface="Segoe UI" pitchFamily="34" charset="-122"/>
                <a:cs typeface="Segoe UI" pitchFamily="34" charset="-120"/>
              </a:rPr>
              <a:t>Recording slot: recordings/model-catalog.mp4</a:t>
            </a:r>
            <a:endParaRPr lang="en-US" sz="1050" dirty="0"/>
          </a:p>
        </p:txBody>
      </p:sp>
      <p:sp>
        <p:nvSpPr>
          <p:cNvPr id="31" name="Shape 29"/>
          <p:cNvSpPr/>
          <p:nvPr/>
        </p:nvSpPr>
        <p:spPr>
          <a:xfrm>
            <a:off x="548640" y="5687568"/>
            <a:ext cx="11091672" cy="585216"/>
          </a:xfrm>
          <a:prstGeom prst="roundRect">
            <a:avLst>
              <a:gd name="adj" fmla="val 25000"/>
            </a:avLst>
          </a:prstGeom>
          <a:solidFill>
            <a:srgbClr val="142238"/>
          </a:solidFill>
          <a:ln w="10160">
            <a:solidFill>
              <a:srgbClr val="2B405B"/>
            </a:solidFill>
            <a:prstDash val="solid"/>
          </a:ln>
        </p:spPr>
      </p:sp>
      <p:sp>
        <p:nvSpPr>
          <p:cNvPr id="32" name="Shape 30"/>
          <p:cNvSpPr/>
          <p:nvPr/>
        </p:nvSpPr>
        <p:spPr>
          <a:xfrm>
            <a:off x="548640" y="5687568"/>
            <a:ext cx="41148" cy="585216"/>
          </a:xfrm>
          <a:prstGeom prst="rect">
            <a:avLst/>
          </a:prstGeom>
          <a:solidFill>
            <a:srgbClr val="B5A0FF"/>
          </a:solidFill>
          <a:ln w="12700">
            <a:solidFill>
              <a:srgbClr val="2B405B">
                <a:alpha val="0"/>
              </a:srgbClr>
            </a:solidFill>
            <a:prstDash val="solid"/>
          </a:ln>
        </p:spPr>
      </p:sp>
      <p:sp>
        <p:nvSpPr>
          <p:cNvPr id="33" name="s10-text-23"/>
          <p:cNvSpPr/>
          <p:nvPr/>
        </p:nvSpPr>
        <p:spPr>
          <a:xfrm>
            <a:off x="758952" y="5833872"/>
            <a:ext cx="10652760" cy="292608"/>
          </a:xfrm>
          <a:prstGeom prst="rect">
            <a:avLst/>
          </a:prstGeom>
          <a:noFill/>
          <a:ln/>
        </p:spPr>
        <p:txBody>
          <a:bodyPr wrap="square" lIns="0" tIns="0" rIns="0" bIns="0" rtlCol="0" anchor="t"/>
          <a:lstStyle/>
          <a:p>
            <a:pPr indent="0" marL="0">
              <a:buNone/>
            </a:pPr>
            <a:r>
              <a:rPr lang="en-US" sz="1600" dirty="0">
                <a:solidFill>
                  <a:srgbClr val="B5A0FF"/>
                </a:solidFill>
                <a:latin typeface="Segoe UI" pitchFamily="34" charset="0"/>
                <a:ea typeface="Segoe UI" pitchFamily="34" charset="-122"/>
                <a:cs typeface="Segoe UI" pitchFamily="34" charset="-120"/>
              </a:rPr>
              <a:t>The prototype records a local selection; it does not switch Copilot’s active model or invoke inference.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sp>
        <p:nvSpPr>
          <p:cNvPr id="2" name="s11-text-1"/>
          <p:cNvSpPr/>
          <p:nvPr/>
        </p:nvSpPr>
        <p:spPr>
          <a:xfrm>
            <a:off x="548640" y="219456"/>
            <a:ext cx="2834640" cy="219456"/>
          </a:xfrm>
          <a:prstGeom prst="rect">
            <a:avLst/>
          </a:prstGeom>
          <a:noFill/>
          <a:ln/>
        </p:spPr>
        <p:txBody>
          <a:bodyPr wrap="square" lIns="0" tIns="0" rIns="0" bIns="0" rtlCol="0" anchor="t"/>
          <a:lstStyle/>
          <a:p>
            <a:pPr indent="0" marL="0">
              <a:buNone/>
            </a:pPr>
            <a:r>
              <a:rPr lang="en-US" sz="1300" b="1" spc="80" kern="0" dirty="0">
                <a:solidFill>
                  <a:srgbClr val="53DDF2"/>
                </a:solidFill>
                <a:latin typeface="Segoe UI" pitchFamily="34" charset="0"/>
                <a:ea typeface="Segoe UI" pitchFamily="34" charset="-122"/>
                <a:cs typeface="Segoe UI" pitchFamily="34" charset="-120"/>
              </a:rPr>
              <a:t>AGENT AIRLOCK</a:t>
            </a:r>
            <a:endParaRPr lang="en-US" sz="1300" dirty="0"/>
          </a:p>
        </p:txBody>
      </p:sp>
      <p:sp>
        <p:nvSpPr>
          <p:cNvPr id="3" name="s11-text-2"/>
          <p:cNvSpPr/>
          <p:nvPr/>
        </p:nvSpPr>
        <p:spPr>
          <a:xfrm>
            <a:off x="3657600" y="237744"/>
            <a:ext cx="4663440" cy="201168"/>
          </a:xfrm>
          <a:prstGeom prst="rect">
            <a:avLst/>
          </a:prstGeom>
          <a:noFill/>
          <a:ln/>
        </p:spPr>
        <p:txBody>
          <a:bodyPr wrap="square" lIns="0" tIns="0" rIns="0" bIns="0" rtlCol="0" anchor="t"/>
          <a:lstStyle/>
          <a:p>
            <a:pPr algn="ctr" indent="0" marL="0">
              <a:buNone/>
            </a:pPr>
            <a:r>
              <a:rPr lang="en-US" sz="1100" spc="100" kern="0" dirty="0">
                <a:solidFill>
                  <a:srgbClr val="A8B8CF"/>
                </a:solidFill>
                <a:latin typeface="Segoe UI" pitchFamily="34" charset="0"/>
                <a:ea typeface="Segoe UI" pitchFamily="34" charset="-122"/>
                <a:cs typeface="Segoe UI" pitchFamily="34" charset="-120"/>
              </a:rPr>
              <a:t>GATE 4</a:t>
            </a:r>
            <a:endParaRPr lang="en-US" sz="1100" dirty="0"/>
          </a:p>
        </p:txBody>
      </p:sp>
      <p:sp>
        <p:nvSpPr>
          <p:cNvPr id="4" name="s11-text-3"/>
          <p:cNvSpPr/>
          <p:nvPr/>
        </p:nvSpPr>
        <p:spPr>
          <a:xfrm>
            <a:off x="8412480" y="237744"/>
            <a:ext cx="3227832" cy="201168"/>
          </a:xfrm>
          <a:prstGeom prst="rect">
            <a:avLst/>
          </a:prstGeom>
          <a:noFill/>
          <a:ln/>
        </p:spPr>
        <p:txBody>
          <a:bodyPr wrap="square" lIns="0" tIns="0" rIns="0" bIns="0" rtlCol="0" anchor="t"/>
          <a:lstStyle/>
          <a:p>
            <a:pPr algn="r" indent="0" marL="0">
              <a:buNone/>
            </a:pPr>
            <a:r>
              <a:rPr lang="en-US" sz="1050" dirty="0">
                <a:solidFill>
                  <a:srgbClr val="FFCE67"/>
                </a:solidFill>
                <a:latin typeface="Segoe UI" pitchFamily="34" charset="0"/>
                <a:ea typeface="Segoe UI" pitchFamily="34" charset="-122"/>
                <a:cs typeface="Segoe UI" pitchFamily="34" charset="-120"/>
              </a:rPr>
              <a:t>GATE + SCRIPT</a:t>
            </a:r>
            <a:endParaRPr lang="en-US" sz="1050" dirty="0"/>
          </a:p>
        </p:txBody>
      </p:sp>
      <p:sp>
        <p:nvSpPr>
          <p:cNvPr id="5" name="s11-text-4"/>
          <p:cNvSpPr/>
          <p:nvPr/>
        </p:nvSpPr>
        <p:spPr>
          <a:xfrm>
            <a:off x="548640" y="640080"/>
            <a:ext cx="11091672" cy="914400"/>
          </a:xfrm>
          <a:prstGeom prst="rect">
            <a:avLst/>
          </a:prstGeom>
          <a:noFill/>
          <a:ln/>
        </p:spPr>
        <p:txBody>
          <a:bodyPr wrap="square" lIns="0" tIns="0" rIns="0" bIns="0" rtlCol="0" anchor="t"/>
          <a:lstStyle/>
          <a:p>
            <a:pPr indent="0" marL="0">
              <a:buNone/>
            </a:pPr>
            <a:r>
              <a:rPr lang="en-US" sz="3000" b="1" dirty="0">
                <a:solidFill>
                  <a:srgbClr val="F3F7FC"/>
                </a:solidFill>
                <a:latin typeface="Segoe UI" pitchFamily="34" charset="0"/>
                <a:ea typeface="Segoe UI" pitchFamily="34" charset="-122"/>
                <a:cs typeface="Segoe UI" pitchFamily="34" charset="-120"/>
              </a:rPr>
              <a:t>Online-Write Intent</a:t>
            </a:r>
            <a:endParaRPr lang="en-US" sz="3000" dirty="0"/>
          </a:p>
        </p:txBody>
      </p:sp>
      <p:sp>
        <p:nvSpPr>
          <p:cNvPr id="6" name="s11-text-5"/>
          <p:cNvSpPr/>
          <p:nvPr/>
        </p:nvSpPr>
        <p:spPr>
          <a:xfrm>
            <a:off x="548640" y="1600200"/>
            <a:ext cx="11091672" cy="338328"/>
          </a:xfrm>
          <a:prstGeom prst="rect">
            <a:avLst/>
          </a:prstGeom>
          <a:noFill/>
          <a:ln/>
        </p:spPr>
        <p:txBody>
          <a:bodyPr wrap="square" lIns="0" tIns="0" rIns="0" bIns="0" rtlCol="0" anchor="t"/>
          <a:lstStyle/>
          <a:p>
            <a:pPr indent="0" marL="0">
              <a:buNone/>
            </a:pPr>
            <a:r>
              <a:rPr lang="en-US" sz="1550" dirty="0">
                <a:solidFill>
                  <a:srgbClr val="A8B8CF"/>
                </a:solidFill>
                <a:latin typeface="Segoe UI" pitchFamily="34" charset="0"/>
                <a:ea typeface="Segoe UI" pitchFamily="34" charset="-122"/>
                <a:cs typeface="Segoe UI" pitchFamily="34" charset="-120"/>
              </a:rPr>
              <a:t>Detect explicit requests to push or publish before an online-write tool is selected.</a:t>
            </a:r>
            <a:endParaRPr lang="en-US" sz="1550" dirty="0"/>
          </a:p>
        </p:txBody>
      </p:sp>
      <p:sp>
        <p:nvSpPr>
          <p:cNvPr id="7" name="Shape 5"/>
          <p:cNvSpPr/>
          <p:nvPr/>
        </p:nvSpPr>
        <p:spPr>
          <a:xfrm>
            <a:off x="548640" y="6446520"/>
            <a:ext cx="11091672" cy="0"/>
          </a:xfrm>
          <a:prstGeom prst="line">
            <a:avLst/>
          </a:prstGeom>
          <a:solidFill>
            <a:srgbClr val="142238"/>
          </a:solidFill>
          <a:ln w="7620">
            <a:solidFill>
              <a:srgbClr val="2B405B"/>
            </a:solidFill>
            <a:prstDash val="solid"/>
          </a:ln>
        </p:spPr>
      </p:sp>
      <p:sp>
        <p:nvSpPr>
          <p:cNvPr id="8" name="s11-text-6"/>
          <p:cNvSpPr/>
          <p:nvPr/>
        </p:nvSpPr>
        <p:spPr>
          <a:xfrm>
            <a:off x="548640" y="6556248"/>
            <a:ext cx="5852160" cy="164592"/>
          </a:xfrm>
          <a:prstGeom prst="rect">
            <a:avLst/>
          </a:prstGeom>
          <a:noFill/>
          <a:ln/>
        </p:spPr>
        <p:txBody>
          <a:bodyPr wrap="square" lIns="0" tIns="0" rIns="0" bIns="0" rtlCol="0" anchor="t"/>
          <a:lstStyle/>
          <a:p>
            <a:pPr indent="0" marL="0">
              <a:buNone/>
            </a:pPr>
            <a:r>
              <a:rPr lang="en-US" sz="950" dirty="0">
                <a:solidFill>
                  <a:srgbClr val="A8B8CF"/>
                </a:solidFill>
                <a:latin typeface="Segoe UI" pitchFamily="34" charset="0"/>
                <a:ea typeface="Segoe UI" pitchFamily="34" charset="-122"/>
                <a:cs typeface="Segoe UI" pitchFamily="34" charset="-120"/>
              </a:rPr>
              <a:t>PROTOTYPE  |  POLICY-GOVERNED AGENT ACTIONS</a:t>
            </a:r>
            <a:endParaRPr lang="en-US" sz="950" dirty="0"/>
          </a:p>
        </p:txBody>
      </p:sp>
      <p:sp>
        <p:nvSpPr>
          <p:cNvPr id="9" name="s11-text-7"/>
          <p:cNvSpPr/>
          <p:nvPr/>
        </p:nvSpPr>
        <p:spPr>
          <a:xfrm>
            <a:off x="10863072" y="6528816"/>
            <a:ext cx="777240" cy="210312"/>
          </a:xfrm>
          <a:prstGeom prst="rect">
            <a:avLst/>
          </a:prstGeom>
          <a:noFill/>
          <a:ln/>
        </p:spPr>
        <p:txBody>
          <a:bodyPr wrap="square" lIns="0" tIns="0" rIns="0" bIns="0" rtlCol="0" anchor="t"/>
          <a:lstStyle/>
          <a:p>
            <a:pPr algn="r" indent="0" marL="0">
              <a:buNone/>
            </a:pPr>
            <a:r>
              <a:rPr lang="en-US" sz="1100" dirty="0">
                <a:solidFill>
                  <a:srgbClr val="53DDF2"/>
                </a:solidFill>
                <a:latin typeface="Segoe UI" pitchFamily="34" charset="0"/>
                <a:ea typeface="Segoe UI" pitchFamily="34" charset="-122"/>
                <a:cs typeface="Segoe UI" pitchFamily="34" charset="-120"/>
              </a:rPr>
              <a:t>11 / 17</a:t>
            </a:r>
            <a:endParaRPr lang="en-US" sz="1100" dirty="0"/>
          </a:p>
        </p:txBody>
      </p:sp>
      <p:sp>
        <p:nvSpPr>
          <p:cNvPr id="10" name="Shape 8"/>
          <p:cNvSpPr/>
          <p:nvPr/>
        </p:nvSpPr>
        <p:spPr>
          <a:xfrm>
            <a:off x="548640" y="1938528"/>
            <a:ext cx="3886200" cy="3639312"/>
          </a:xfrm>
          <a:prstGeom prst="roundRect">
            <a:avLst>
              <a:gd name="adj" fmla="val 4020"/>
            </a:avLst>
          </a:prstGeom>
          <a:solidFill>
            <a:srgbClr val="142238"/>
          </a:solidFill>
          <a:ln w="10160">
            <a:solidFill>
              <a:srgbClr val="53DDF2"/>
            </a:solidFill>
            <a:prstDash val="solid"/>
          </a:ln>
        </p:spPr>
      </p:sp>
      <p:sp>
        <p:nvSpPr>
          <p:cNvPr id="11" name="s11-text-8"/>
          <p:cNvSpPr/>
          <p:nvPr/>
        </p:nvSpPr>
        <p:spPr>
          <a:xfrm>
            <a:off x="786384" y="2139696"/>
            <a:ext cx="3429000" cy="310896"/>
          </a:xfrm>
          <a:prstGeom prst="rect">
            <a:avLst/>
          </a:prstGeom>
          <a:noFill/>
          <a:ln/>
        </p:spPr>
        <p:txBody>
          <a:bodyPr wrap="square" lIns="0" tIns="0" rIns="0" bIns="0" rtlCol="0" anchor="t"/>
          <a:lstStyle/>
          <a:p>
            <a:pPr indent="0" marL="0">
              <a:buNone/>
            </a:pPr>
            <a:r>
              <a:rPr lang="en-US" sz="1000" b="1" spc="80" kern="0" dirty="0">
                <a:solidFill>
                  <a:srgbClr val="53DDF2"/>
                </a:solidFill>
                <a:latin typeface="Segoe UI" pitchFamily="34" charset="0"/>
                <a:ea typeface="Segoe UI" pitchFamily="34" charset="-122"/>
                <a:cs typeface="Segoe UI" pitchFamily="34" charset="-120"/>
              </a:rPr>
              <a:t>CHECK_INTENT</a:t>
            </a:r>
            <a:endParaRPr lang="en-US" sz="1000" dirty="0"/>
          </a:p>
        </p:txBody>
      </p:sp>
      <p:sp>
        <p:nvSpPr>
          <p:cNvPr id="12" name="s11-text-9"/>
          <p:cNvSpPr/>
          <p:nvPr/>
        </p:nvSpPr>
        <p:spPr>
          <a:xfrm>
            <a:off x="786384" y="2542032"/>
            <a:ext cx="3383280" cy="868680"/>
          </a:xfrm>
          <a:prstGeom prst="rect">
            <a:avLst/>
          </a:prstGeom>
          <a:noFill/>
          <a:ln/>
        </p:spPr>
        <p:txBody>
          <a:bodyPr wrap="square" lIns="0" tIns="0" rIns="0" bIns="0" rtlCol="0" anchor="t"/>
          <a:lstStyle/>
          <a:p>
            <a:pPr indent="0" marL="0">
              <a:buNone/>
            </a:pPr>
            <a:r>
              <a:rPr lang="en-US" sz="1800" b="1" dirty="0">
                <a:solidFill>
                  <a:srgbClr val="F3F7FC"/>
                </a:solidFill>
                <a:latin typeface="Segoe UI" pitchFamily="34" charset="0"/>
                <a:ea typeface="Segoe UI" pitchFamily="34" charset="-122"/>
                <a:cs typeface="Segoe UI" pitchFamily="34" charset="-120"/>
              </a:rPr>
              <a:t>Treat forceful wording as intent—not as authorization.</a:t>
            </a:r>
            <a:endParaRPr lang="en-US" sz="1800" dirty="0"/>
          </a:p>
        </p:txBody>
      </p:sp>
      <p:sp>
        <p:nvSpPr>
          <p:cNvPr id="13" name="s11-text-10"/>
          <p:cNvSpPr/>
          <p:nvPr/>
        </p:nvSpPr>
        <p:spPr>
          <a:xfrm>
            <a:off x="786384" y="3493008"/>
            <a:ext cx="1005840" cy="201168"/>
          </a:xfrm>
          <a:prstGeom prst="rect">
            <a:avLst/>
          </a:prstGeom>
          <a:noFill/>
          <a:ln/>
        </p:spPr>
        <p:txBody>
          <a:bodyPr wrap="square" lIns="0" tIns="0" rIns="0" bIns="0" rtlCol="0" anchor="t"/>
          <a:lstStyle/>
          <a:p>
            <a:pPr indent="0" marL="0">
              <a:buNone/>
            </a:pPr>
            <a:r>
              <a:rPr lang="en-US" sz="1000" b="1" dirty="0">
                <a:solidFill>
                  <a:srgbClr val="A8B8CF"/>
                </a:solidFill>
                <a:latin typeface="Segoe UI" pitchFamily="34" charset="0"/>
                <a:ea typeface="Segoe UI" pitchFamily="34" charset="-122"/>
                <a:cs typeface="Segoe UI" pitchFamily="34" charset="-120"/>
              </a:rPr>
              <a:t>CHECKS</a:t>
            </a:r>
            <a:endParaRPr lang="en-US" sz="1000" dirty="0"/>
          </a:p>
        </p:txBody>
      </p:sp>
      <p:sp>
        <p:nvSpPr>
          <p:cNvPr id="14" name="s11-text-11"/>
          <p:cNvSpPr/>
          <p:nvPr/>
        </p:nvSpPr>
        <p:spPr>
          <a:xfrm>
            <a:off x="786384" y="3730752"/>
            <a:ext cx="3364992" cy="1051560"/>
          </a:xfrm>
          <a:prstGeom prst="rect">
            <a:avLst/>
          </a:prstGeom>
          <a:noFill/>
          <a:ln/>
        </p:spPr>
        <p:txBody>
          <a:bodyPr wrap="square" lIns="0" tIns="0" rIns="0" bIns="0" rtlCol="0" anchor="t"/>
          <a:lstStyle/>
          <a:p>
            <a:pPr indent="0" marL="0">
              <a:buNone/>
            </a:pPr>
            <a:r>
              <a:rPr lang="en-US" sz="1450" dirty="0">
                <a:solidFill>
                  <a:srgbClr val="F3F7FC"/>
                </a:solidFill>
                <a:latin typeface="Segoe UI" pitchFamily="34" charset="0"/>
                <a:ea typeface="Segoe UI" pitchFamily="34" charset="-122"/>
                <a:cs typeface="Segoe UI" pitchFamily="34" charset="-120"/>
              </a:rPr>
              <a:t>Supplied prompt text</a:t>
            </a:r>
            <a:endParaRPr lang="en-US" sz="1450" dirty="0"/>
          </a:p>
          <a:p>
            <a:pPr indent="0" marL="0">
              <a:buNone/>
            </a:pPr>
            <a:r>
              <a:rPr lang="en-US" sz="1450" dirty="0">
                <a:solidFill>
                  <a:srgbClr val="F3F7FC"/>
                </a:solidFill>
                <a:latin typeface="Segoe UI" pitchFamily="34" charset="0"/>
                <a:ea typeface="Segoe UI" pitchFamily="34" charset="-122"/>
                <a:cs typeface="Segoe UI" pitchFamily="34" charset="-120"/>
              </a:rPr>
              <a:t>Reviewed online-write patterns</a:t>
            </a:r>
            <a:endParaRPr lang="en-US" sz="1450" dirty="0"/>
          </a:p>
          <a:p>
            <a:pPr indent="0" marL="0">
              <a:buNone/>
            </a:pPr>
            <a:r>
              <a:rPr lang="en-US" sz="1450" dirty="0">
                <a:solidFill>
                  <a:srgbClr val="F3F7FC"/>
                </a:solidFill>
                <a:latin typeface="Segoe UI" pitchFamily="34" charset="0"/>
                <a:ea typeface="Segoe UI" pitchFamily="34" charset="-122"/>
                <a:cs typeface="Segoe UI" pitchFamily="34" charset="-120"/>
              </a:rPr>
              <a:t>Local-review versus external-write intent</a:t>
            </a:r>
            <a:endParaRPr lang="en-US" sz="1450" dirty="0"/>
          </a:p>
        </p:txBody>
      </p:sp>
      <p:sp>
        <p:nvSpPr>
          <p:cNvPr id="15" name="s11-text-12"/>
          <p:cNvSpPr/>
          <p:nvPr/>
        </p:nvSpPr>
        <p:spPr>
          <a:xfrm>
            <a:off x="786384" y="4846320"/>
            <a:ext cx="1508760" cy="201168"/>
          </a:xfrm>
          <a:prstGeom prst="rect">
            <a:avLst/>
          </a:prstGeom>
          <a:noFill/>
          <a:ln/>
        </p:spPr>
        <p:txBody>
          <a:bodyPr wrap="square" lIns="0" tIns="0" rIns="0" bIns="0" rtlCol="0" anchor="t"/>
          <a:lstStyle/>
          <a:p>
            <a:pPr indent="0" marL="0">
              <a:buNone/>
            </a:pPr>
            <a:r>
              <a:rPr lang="en-US" sz="1000" b="1" dirty="0">
                <a:solidFill>
                  <a:srgbClr val="A8B8CF"/>
                </a:solidFill>
                <a:latin typeface="Segoe UI" pitchFamily="34" charset="0"/>
                <a:ea typeface="Segoe UI" pitchFamily="34" charset="-122"/>
                <a:cs typeface="Segoe UI" pitchFamily="34" charset="-120"/>
              </a:rPr>
              <a:t>POLICY RESULT</a:t>
            </a:r>
            <a:endParaRPr lang="en-US" sz="1000" dirty="0"/>
          </a:p>
        </p:txBody>
      </p:sp>
      <p:sp>
        <p:nvSpPr>
          <p:cNvPr id="16" name="s11-text-13"/>
          <p:cNvSpPr/>
          <p:nvPr/>
        </p:nvSpPr>
        <p:spPr>
          <a:xfrm>
            <a:off x="786384" y="5074920"/>
            <a:ext cx="3364992" cy="420624"/>
          </a:xfrm>
          <a:prstGeom prst="rect">
            <a:avLst/>
          </a:prstGeom>
          <a:noFill/>
          <a:ln/>
        </p:spPr>
        <p:txBody>
          <a:bodyPr wrap="square" lIns="0" tIns="0" rIns="0" bIns="0" rtlCol="0" anchor="t"/>
          <a:lstStyle/>
          <a:p>
            <a:pPr indent="0" marL="0">
              <a:buNone/>
            </a:pPr>
            <a:r>
              <a:rPr lang="en-US" sz="1400" b="1" dirty="0">
                <a:solidFill>
                  <a:srgbClr val="FF7C8E"/>
                </a:solidFill>
                <a:latin typeface="Segoe UI" pitchFamily="34" charset="0"/>
                <a:ea typeface="Segoe UI" pitchFamily="34" charset="-122"/>
                <a:cs typeface="Segoe UI" pitchFamily="34" charset="-120"/>
              </a:rPr>
              <a:t>“/yolo git push …” is still blocked</a:t>
            </a:r>
            <a:endParaRPr lang="en-US" sz="1400" dirty="0"/>
          </a:p>
        </p:txBody>
      </p:sp>
      <p:sp>
        <p:nvSpPr>
          <p:cNvPr id="17" name="Shape 15"/>
          <p:cNvSpPr/>
          <p:nvPr/>
        </p:nvSpPr>
        <p:spPr>
          <a:xfrm>
            <a:off x="4645152" y="1938528"/>
            <a:ext cx="6995160" cy="3639312"/>
          </a:xfrm>
          <a:prstGeom prst="roundRect">
            <a:avLst>
              <a:gd name="adj" fmla="val 4020"/>
            </a:avLst>
          </a:prstGeom>
          <a:solidFill>
            <a:srgbClr val="142238"/>
          </a:solidFill>
          <a:ln w="10160">
            <a:solidFill>
              <a:srgbClr val="2B405B"/>
            </a:solidFill>
            <a:prstDash val="solid"/>
          </a:ln>
        </p:spPr>
      </p:sp>
      <p:sp>
        <p:nvSpPr>
          <p:cNvPr id="18" name="Shape 16"/>
          <p:cNvSpPr/>
          <p:nvPr/>
        </p:nvSpPr>
        <p:spPr>
          <a:xfrm>
            <a:off x="4672584" y="1965960"/>
            <a:ext cx="6940296" cy="3584448"/>
          </a:xfrm>
          <a:prstGeom prst="rect">
            <a:avLst/>
          </a:prstGeom>
          <a:solidFill>
            <a:srgbClr val="07101D"/>
          </a:solidFill>
          <a:ln w="10160">
            <a:solidFill>
              <a:srgbClr val="2B405B"/>
            </a:solidFill>
            <a:prstDash val="solid"/>
          </a:ln>
        </p:spPr>
      </p:sp>
      <p:sp>
        <p:nvSpPr>
          <p:cNvPr id="19" name="s11-text-14"/>
          <p:cNvSpPr/>
          <p:nvPr/>
        </p:nvSpPr>
        <p:spPr>
          <a:xfrm>
            <a:off x="4956048" y="2212848"/>
            <a:ext cx="2834640" cy="256032"/>
          </a:xfrm>
          <a:prstGeom prst="rect">
            <a:avLst/>
          </a:prstGeom>
          <a:noFill/>
          <a:ln/>
        </p:spPr>
        <p:txBody>
          <a:bodyPr wrap="square" lIns="0" tIns="0" rIns="0" bIns="0" rtlCol="0" anchor="t"/>
          <a:lstStyle/>
          <a:p>
            <a:pPr indent="0" marL="0">
              <a:buNone/>
            </a:pPr>
            <a:r>
              <a:rPr lang="en-US" sz="1200" b="1" spc="90" kern="0" dirty="0">
                <a:solidFill>
                  <a:srgbClr val="49DCA2"/>
                </a:solidFill>
                <a:latin typeface="Segoe UI" pitchFamily="34" charset="0"/>
                <a:ea typeface="Segoe UI" pitchFamily="34" charset="-122"/>
                <a:cs typeface="Segoe UI" pitchFamily="34" charset="-120"/>
              </a:rPr>
              <a:t>▶  SCREEN RECORDING</a:t>
            </a:r>
            <a:endParaRPr lang="en-US" sz="1200" dirty="0"/>
          </a:p>
        </p:txBody>
      </p:sp>
      <p:sp>
        <p:nvSpPr>
          <p:cNvPr id="20" name="s11-text-15"/>
          <p:cNvSpPr/>
          <p:nvPr/>
        </p:nvSpPr>
        <p:spPr>
          <a:xfrm>
            <a:off x="4956048" y="2724912"/>
            <a:ext cx="6355080" cy="1078992"/>
          </a:xfrm>
          <a:prstGeom prst="rect">
            <a:avLst/>
          </a:prstGeom>
          <a:noFill/>
          <a:ln/>
        </p:spPr>
        <p:txBody>
          <a:bodyPr wrap="square" lIns="0" tIns="0" rIns="0" bIns="0" rtlCol="0" anchor="t"/>
          <a:lstStyle/>
          <a:p>
            <a:pPr indent="0" marL="0">
              <a:buNone/>
            </a:pPr>
            <a:r>
              <a:rPr lang="en-US" sz="1500" dirty="0">
                <a:solidFill>
                  <a:srgbClr val="F3F7FC"/>
                </a:solidFill>
                <a:latin typeface="Consolas" pitchFamily="34" charset="0"/>
                <a:ea typeface="Consolas" pitchFamily="34" charset="-122"/>
                <a:cs typeface="Consolas" pitchFamily="34" charset="-120"/>
              </a:rPr>
              <a:t>npm run demo -- --gate intent</a:t>
            </a:r>
            <a:endParaRPr lang="en-US" sz="1500" dirty="0"/>
          </a:p>
        </p:txBody>
      </p:sp>
      <p:sp>
        <p:nvSpPr>
          <p:cNvPr id="21" name="Shape 19"/>
          <p:cNvSpPr/>
          <p:nvPr/>
        </p:nvSpPr>
        <p:spPr>
          <a:xfrm>
            <a:off x="4956048" y="4142232"/>
            <a:ext cx="1901952" cy="713232"/>
          </a:xfrm>
          <a:prstGeom prst="roundRect">
            <a:avLst>
              <a:gd name="adj" fmla="val 20513"/>
            </a:avLst>
          </a:prstGeom>
          <a:solidFill>
            <a:srgbClr val="142238"/>
          </a:solidFill>
          <a:ln w="10160">
            <a:solidFill>
              <a:srgbClr val="49DCA2"/>
            </a:solidFill>
            <a:prstDash val="solid"/>
          </a:ln>
        </p:spPr>
      </p:sp>
      <p:sp>
        <p:nvSpPr>
          <p:cNvPr id="22" name="s11-text-16"/>
          <p:cNvSpPr/>
          <p:nvPr/>
        </p:nvSpPr>
        <p:spPr>
          <a:xfrm>
            <a:off x="5084064" y="4279392"/>
            <a:ext cx="1645920" cy="164592"/>
          </a:xfrm>
          <a:prstGeom prst="rect">
            <a:avLst/>
          </a:prstGeom>
          <a:noFill/>
          <a:ln/>
        </p:spPr>
        <p:txBody>
          <a:bodyPr wrap="square" lIns="0" tIns="0" rIns="0" bIns="0" rtlCol="0" anchor="t"/>
          <a:lstStyle/>
          <a:p>
            <a:pPr indent="0" marL="0">
              <a:buNone/>
            </a:pPr>
            <a:r>
              <a:rPr lang="en-US" sz="950" b="1" dirty="0">
                <a:solidFill>
                  <a:srgbClr val="A8B8CF"/>
                </a:solidFill>
                <a:latin typeface="Segoe UI" pitchFamily="34" charset="0"/>
                <a:ea typeface="Segoe UI" pitchFamily="34" charset="-122"/>
                <a:cs typeface="Segoe UI" pitchFamily="34" charset="-120"/>
              </a:rPr>
              <a:t>LOCAL REVIEW</a:t>
            </a:r>
            <a:endParaRPr lang="en-US" sz="950" dirty="0"/>
          </a:p>
        </p:txBody>
      </p:sp>
      <p:sp>
        <p:nvSpPr>
          <p:cNvPr id="23" name="s11-text-17"/>
          <p:cNvSpPr/>
          <p:nvPr/>
        </p:nvSpPr>
        <p:spPr>
          <a:xfrm>
            <a:off x="5084064" y="4535424"/>
            <a:ext cx="1645920" cy="201168"/>
          </a:xfrm>
          <a:prstGeom prst="rect">
            <a:avLst/>
          </a:prstGeom>
          <a:noFill/>
          <a:ln/>
        </p:spPr>
        <p:txBody>
          <a:bodyPr wrap="square" lIns="0" tIns="0" rIns="0" bIns="0" rtlCol="0" anchor="t"/>
          <a:lstStyle/>
          <a:p>
            <a:pPr indent="0" marL="0">
              <a:buNone/>
            </a:pPr>
            <a:r>
              <a:rPr lang="en-US" sz="1400" b="1" dirty="0">
                <a:solidFill>
                  <a:srgbClr val="49DCA2"/>
                </a:solidFill>
                <a:latin typeface="Segoe UI" pitchFamily="34" charset="0"/>
                <a:ea typeface="Segoe UI" pitchFamily="34" charset="-122"/>
                <a:cs typeface="Segoe UI" pitchFamily="34" charset="-120"/>
              </a:rPr>
              <a:t>cleared</a:t>
            </a:r>
            <a:endParaRPr lang="en-US" sz="1400" dirty="0"/>
          </a:p>
        </p:txBody>
      </p:sp>
      <p:sp>
        <p:nvSpPr>
          <p:cNvPr id="24" name="Shape 22"/>
          <p:cNvSpPr/>
          <p:nvPr/>
        </p:nvSpPr>
        <p:spPr>
          <a:xfrm>
            <a:off x="7040880" y="4142232"/>
            <a:ext cx="1901952" cy="713232"/>
          </a:xfrm>
          <a:prstGeom prst="roundRect">
            <a:avLst>
              <a:gd name="adj" fmla="val 20513"/>
            </a:avLst>
          </a:prstGeom>
          <a:solidFill>
            <a:srgbClr val="142238"/>
          </a:solidFill>
          <a:ln w="10160">
            <a:solidFill>
              <a:srgbClr val="FF7C8E"/>
            </a:solidFill>
            <a:prstDash val="solid"/>
          </a:ln>
        </p:spPr>
      </p:sp>
      <p:sp>
        <p:nvSpPr>
          <p:cNvPr id="25" name="s11-text-18"/>
          <p:cNvSpPr/>
          <p:nvPr/>
        </p:nvSpPr>
        <p:spPr>
          <a:xfrm>
            <a:off x="7168896" y="4279392"/>
            <a:ext cx="1645920" cy="164592"/>
          </a:xfrm>
          <a:prstGeom prst="rect">
            <a:avLst/>
          </a:prstGeom>
          <a:noFill/>
          <a:ln/>
        </p:spPr>
        <p:txBody>
          <a:bodyPr wrap="square" lIns="0" tIns="0" rIns="0" bIns="0" rtlCol="0" anchor="t"/>
          <a:lstStyle/>
          <a:p>
            <a:pPr indent="0" marL="0">
              <a:buNone/>
            </a:pPr>
            <a:r>
              <a:rPr lang="en-US" sz="950" b="1" dirty="0">
                <a:solidFill>
                  <a:srgbClr val="A8B8CF"/>
                </a:solidFill>
                <a:latin typeface="Segoe UI" pitchFamily="34" charset="0"/>
                <a:ea typeface="Segoe UI" pitchFamily="34" charset="-122"/>
                <a:cs typeface="Segoe UI" pitchFamily="34" charset="-120"/>
              </a:rPr>
              <a:t>PUSH REQUEST</a:t>
            </a:r>
            <a:endParaRPr lang="en-US" sz="950" dirty="0"/>
          </a:p>
        </p:txBody>
      </p:sp>
      <p:sp>
        <p:nvSpPr>
          <p:cNvPr id="26" name="s11-text-19"/>
          <p:cNvSpPr/>
          <p:nvPr/>
        </p:nvSpPr>
        <p:spPr>
          <a:xfrm>
            <a:off x="7168896" y="4535424"/>
            <a:ext cx="1645920" cy="201168"/>
          </a:xfrm>
          <a:prstGeom prst="rect">
            <a:avLst/>
          </a:prstGeom>
          <a:noFill/>
          <a:ln/>
        </p:spPr>
        <p:txBody>
          <a:bodyPr wrap="square" lIns="0" tIns="0" rIns="0" bIns="0" rtlCol="0" anchor="t"/>
          <a:lstStyle/>
          <a:p>
            <a:pPr indent="0" marL="0">
              <a:buNone/>
            </a:pPr>
            <a:r>
              <a:rPr lang="en-US" sz="1400" b="1" dirty="0">
                <a:solidFill>
                  <a:srgbClr val="FF7C8E"/>
                </a:solidFill>
                <a:latin typeface="Segoe UI" pitchFamily="34" charset="0"/>
                <a:ea typeface="Segoe UI" pitchFamily="34" charset="-122"/>
                <a:cs typeface="Segoe UI" pitchFamily="34" charset="-120"/>
              </a:rPr>
              <a:t>blocked</a:t>
            </a:r>
            <a:endParaRPr lang="en-US" sz="1400" dirty="0"/>
          </a:p>
        </p:txBody>
      </p:sp>
      <p:sp>
        <p:nvSpPr>
          <p:cNvPr id="27" name="Shape 25"/>
          <p:cNvSpPr/>
          <p:nvPr/>
        </p:nvSpPr>
        <p:spPr>
          <a:xfrm>
            <a:off x="9125712" y="4142232"/>
            <a:ext cx="1901952" cy="713232"/>
          </a:xfrm>
          <a:prstGeom prst="roundRect">
            <a:avLst>
              <a:gd name="adj" fmla="val 20513"/>
            </a:avLst>
          </a:prstGeom>
          <a:solidFill>
            <a:srgbClr val="142238"/>
          </a:solidFill>
          <a:ln w="10160">
            <a:solidFill>
              <a:srgbClr val="FFCE67"/>
            </a:solidFill>
            <a:prstDash val="solid"/>
          </a:ln>
        </p:spPr>
      </p:sp>
      <p:sp>
        <p:nvSpPr>
          <p:cNvPr id="28" name="s11-text-20"/>
          <p:cNvSpPr/>
          <p:nvPr/>
        </p:nvSpPr>
        <p:spPr>
          <a:xfrm>
            <a:off x="9253728" y="4279392"/>
            <a:ext cx="1645920" cy="164592"/>
          </a:xfrm>
          <a:prstGeom prst="rect">
            <a:avLst/>
          </a:prstGeom>
          <a:noFill/>
          <a:ln/>
        </p:spPr>
        <p:txBody>
          <a:bodyPr wrap="square" lIns="0" tIns="0" rIns="0" bIns="0" rtlCol="0" anchor="t"/>
          <a:lstStyle/>
          <a:p>
            <a:pPr indent="0" marL="0">
              <a:buNone/>
            </a:pPr>
            <a:r>
              <a:rPr lang="en-US" sz="950" b="1" dirty="0">
                <a:solidFill>
                  <a:srgbClr val="A8B8CF"/>
                </a:solidFill>
                <a:latin typeface="Segoe UI" pitchFamily="34" charset="0"/>
                <a:ea typeface="Segoe UI" pitchFamily="34" charset="-122"/>
                <a:cs typeface="Segoe UI" pitchFamily="34" charset="-120"/>
              </a:rPr>
              <a:t>SHELL</a:t>
            </a:r>
            <a:endParaRPr lang="en-US" sz="950" dirty="0"/>
          </a:p>
        </p:txBody>
      </p:sp>
      <p:sp>
        <p:nvSpPr>
          <p:cNvPr id="29" name="s11-text-21"/>
          <p:cNvSpPr/>
          <p:nvPr/>
        </p:nvSpPr>
        <p:spPr>
          <a:xfrm>
            <a:off x="9253728" y="4535424"/>
            <a:ext cx="1645920" cy="201168"/>
          </a:xfrm>
          <a:prstGeom prst="rect">
            <a:avLst/>
          </a:prstGeom>
          <a:noFill/>
          <a:ln/>
        </p:spPr>
        <p:txBody>
          <a:bodyPr wrap="square" lIns="0" tIns="0" rIns="0" bIns="0" rtlCol="0" anchor="t"/>
          <a:lstStyle/>
          <a:p>
            <a:pPr indent="0" marL="0">
              <a:buNone/>
            </a:pPr>
            <a:r>
              <a:rPr lang="en-US" sz="1400" b="1" dirty="0">
                <a:solidFill>
                  <a:srgbClr val="FFCE67"/>
                </a:solidFill>
                <a:latin typeface="Segoe UI" pitchFamily="34" charset="0"/>
                <a:ea typeface="Segoe UI" pitchFamily="34" charset="-122"/>
                <a:cs typeface="Segoe UI" pitchFamily="34" charset="-120"/>
              </a:rPr>
              <a:t>not executed</a:t>
            </a:r>
            <a:endParaRPr lang="en-US" sz="1400" dirty="0"/>
          </a:p>
        </p:txBody>
      </p:sp>
      <p:sp>
        <p:nvSpPr>
          <p:cNvPr id="30" name="s11-text-22"/>
          <p:cNvSpPr/>
          <p:nvPr/>
        </p:nvSpPr>
        <p:spPr>
          <a:xfrm>
            <a:off x="4956048" y="5093208"/>
            <a:ext cx="6355080" cy="182880"/>
          </a:xfrm>
          <a:prstGeom prst="rect">
            <a:avLst/>
          </a:prstGeom>
          <a:noFill/>
          <a:ln/>
        </p:spPr>
        <p:txBody>
          <a:bodyPr wrap="square" lIns="0" tIns="0" rIns="0" bIns="0" rtlCol="0" anchor="t"/>
          <a:lstStyle/>
          <a:p>
            <a:pPr indent="0" marL="0">
              <a:buNone/>
            </a:pPr>
            <a:r>
              <a:rPr lang="en-US" sz="1050" dirty="0">
                <a:solidFill>
                  <a:srgbClr val="A8B8CF"/>
                </a:solidFill>
                <a:latin typeface="Segoe UI" pitchFamily="34" charset="0"/>
                <a:ea typeface="Segoe UI" pitchFamily="34" charset="-122"/>
                <a:cs typeface="Segoe UI" pitchFamily="34" charset="-120"/>
              </a:rPr>
              <a:t>Recording slot: recordings/intent.mp4</a:t>
            </a:r>
            <a:endParaRPr lang="en-US" sz="1050" dirty="0"/>
          </a:p>
        </p:txBody>
      </p:sp>
      <p:sp>
        <p:nvSpPr>
          <p:cNvPr id="31" name="Shape 29"/>
          <p:cNvSpPr/>
          <p:nvPr/>
        </p:nvSpPr>
        <p:spPr>
          <a:xfrm>
            <a:off x="548640" y="5687568"/>
            <a:ext cx="11091672" cy="585216"/>
          </a:xfrm>
          <a:prstGeom prst="roundRect">
            <a:avLst>
              <a:gd name="adj" fmla="val 25000"/>
            </a:avLst>
          </a:prstGeom>
          <a:solidFill>
            <a:srgbClr val="142238"/>
          </a:solidFill>
          <a:ln w="10160">
            <a:solidFill>
              <a:srgbClr val="2B405B"/>
            </a:solidFill>
            <a:prstDash val="solid"/>
          </a:ln>
        </p:spPr>
      </p:sp>
      <p:sp>
        <p:nvSpPr>
          <p:cNvPr id="32" name="Shape 30"/>
          <p:cNvSpPr/>
          <p:nvPr/>
        </p:nvSpPr>
        <p:spPr>
          <a:xfrm>
            <a:off x="548640" y="5687568"/>
            <a:ext cx="41148" cy="585216"/>
          </a:xfrm>
          <a:prstGeom prst="rect">
            <a:avLst/>
          </a:prstGeom>
          <a:solidFill>
            <a:srgbClr val="53DDF2"/>
          </a:solidFill>
          <a:ln w="12700">
            <a:solidFill>
              <a:srgbClr val="2B405B">
                <a:alpha val="0"/>
              </a:srgbClr>
            </a:solidFill>
            <a:prstDash val="solid"/>
          </a:ln>
        </p:spPr>
      </p:sp>
      <p:sp>
        <p:nvSpPr>
          <p:cNvPr id="33" name="s11-text-23"/>
          <p:cNvSpPr/>
          <p:nvPr/>
        </p:nvSpPr>
        <p:spPr>
          <a:xfrm>
            <a:off x="758952" y="5833872"/>
            <a:ext cx="10652760" cy="292608"/>
          </a:xfrm>
          <a:prstGeom prst="rect">
            <a:avLst/>
          </a:prstGeom>
          <a:noFill/>
          <a:ln/>
        </p:spPr>
        <p:txBody>
          <a:bodyPr wrap="square" lIns="0" tIns="0" rIns="0" bIns="0" rtlCol="0" anchor="t"/>
          <a:lstStyle/>
          <a:p>
            <a:pPr indent="0" marL="0">
              <a:buNone/>
            </a:pPr>
            <a:r>
              <a:rPr lang="en-US" sz="1600" dirty="0">
                <a:solidFill>
                  <a:srgbClr val="53DDF2"/>
                </a:solidFill>
                <a:latin typeface="Segoe UI" pitchFamily="34" charset="0"/>
                <a:ea typeface="Segoe UI" pitchFamily="34" charset="-122"/>
                <a:cs typeface="Segoe UI" pitchFamily="34" charset="-120"/>
              </a:rPr>
              <a:t>This gate checks text routed through Airlock; it is not an operating-system shell sandbox.</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sp>
        <p:nvSpPr>
          <p:cNvPr id="2" name="s12-text-1"/>
          <p:cNvSpPr/>
          <p:nvPr/>
        </p:nvSpPr>
        <p:spPr>
          <a:xfrm>
            <a:off x="548640" y="219456"/>
            <a:ext cx="2834640" cy="219456"/>
          </a:xfrm>
          <a:prstGeom prst="rect">
            <a:avLst/>
          </a:prstGeom>
          <a:noFill/>
          <a:ln/>
        </p:spPr>
        <p:txBody>
          <a:bodyPr wrap="square" lIns="0" tIns="0" rIns="0" bIns="0" rtlCol="0" anchor="t"/>
          <a:lstStyle/>
          <a:p>
            <a:pPr indent="0" marL="0">
              <a:buNone/>
            </a:pPr>
            <a:r>
              <a:rPr lang="en-US" sz="1300" b="1" spc="80" kern="0" dirty="0">
                <a:solidFill>
                  <a:srgbClr val="53DDF2"/>
                </a:solidFill>
                <a:latin typeface="Segoe UI" pitchFamily="34" charset="0"/>
                <a:ea typeface="Segoe UI" pitchFamily="34" charset="-122"/>
                <a:cs typeface="Segoe UI" pitchFamily="34" charset="-120"/>
              </a:rPr>
              <a:t>AGENT AIRLOCK</a:t>
            </a:r>
            <a:endParaRPr lang="en-US" sz="1300" dirty="0"/>
          </a:p>
        </p:txBody>
      </p:sp>
      <p:sp>
        <p:nvSpPr>
          <p:cNvPr id="3" name="s12-text-2"/>
          <p:cNvSpPr/>
          <p:nvPr/>
        </p:nvSpPr>
        <p:spPr>
          <a:xfrm>
            <a:off x="3657600" y="237744"/>
            <a:ext cx="4663440" cy="201168"/>
          </a:xfrm>
          <a:prstGeom prst="rect">
            <a:avLst/>
          </a:prstGeom>
          <a:noFill/>
          <a:ln/>
        </p:spPr>
        <p:txBody>
          <a:bodyPr wrap="square" lIns="0" tIns="0" rIns="0" bIns="0" rtlCol="0" anchor="t"/>
          <a:lstStyle/>
          <a:p>
            <a:pPr algn="ctr" indent="0" marL="0">
              <a:buNone/>
            </a:pPr>
            <a:r>
              <a:rPr lang="en-US" sz="1100" spc="100" kern="0" dirty="0">
                <a:solidFill>
                  <a:srgbClr val="A8B8CF"/>
                </a:solidFill>
                <a:latin typeface="Segoe UI" pitchFamily="34" charset="0"/>
                <a:ea typeface="Segoe UI" pitchFamily="34" charset="-122"/>
                <a:cs typeface="Segoe UI" pitchFamily="34" charset="-120"/>
              </a:rPr>
              <a:t>GATE 5</a:t>
            </a:r>
            <a:endParaRPr lang="en-US" sz="1100" dirty="0"/>
          </a:p>
        </p:txBody>
      </p:sp>
      <p:sp>
        <p:nvSpPr>
          <p:cNvPr id="4" name="s12-text-3"/>
          <p:cNvSpPr/>
          <p:nvPr/>
        </p:nvSpPr>
        <p:spPr>
          <a:xfrm>
            <a:off x="8412480" y="237744"/>
            <a:ext cx="3227832" cy="201168"/>
          </a:xfrm>
          <a:prstGeom prst="rect">
            <a:avLst/>
          </a:prstGeom>
          <a:noFill/>
          <a:ln/>
        </p:spPr>
        <p:txBody>
          <a:bodyPr wrap="square" lIns="0" tIns="0" rIns="0" bIns="0" rtlCol="0" anchor="t"/>
          <a:lstStyle/>
          <a:p>
            <a:pPr algn="r" indent="0" marL="0">
              <a:buNone/>
            </a:pPr>
            <a:r>
              <a:rPr lang="en-US" sz="1050" dirty="0">
                <a:solidFill>
                  <a:srgbClr val="FFCE67"/>
                </a:solidFill>
                <a:latin typeface="Segoe UI" pitchFamily="34" charset="0"/>
                <a:ea typeface="Segoe UI" pitchFamily="34" charset="-122"/>
                <a:cs typeface="Segoe UI" pitchFamily="34" charset="-120"/>
              </a:rPr>
              <a:t>GATE + SCRIPT</a:t>
            </a:r>
            <a:endParaRPr lang="en-US" sz="1050" dirty="0"/>
          </a:p>
        </p:txBody>
      </p:sp>
      <p:sp>
        <p:nvSpPr>
          <p:cNvPr id="5" name="s12-text-4"/>
          <p:cNvSpPr/>
          <p:nvPr/>
        </p:nvSpPr>
        <p:spPr>
          <a:xfrm>
            <a:off x="548640" y="640080"/>
            <a:ext cx="11091672" cy="914400"/>
          </a:xfrm>
          <a:prstGeom prst="rect">
            <a:avLst/>
          </a:prstGeom>
          <a:noFill/>
          <a:ln/>
        </p:spPr>
        <p:txBody>
          <a:bodyPr wrap="square" lIns="0" tIns="0" rIns="0" bIns="0" rtlCol="0" anchor="t"/>
          <a:lstStyle/>
          <a:p>
            <a:pPr indent="0" marL="0">
              <a:buNone/>
            </a:pPr>
            <a:r>
              <a:rPr lang="en-US" sz="3000" b="1" dirty="0">
                <a:solidFill>
                  <a:srgbClr val="F3F7FC"/>
                </a:solidFill>
                <a:latin typeface="Segoe UI" pitchFamily="34" charset="0"/>
                <a:ea typeface="Segoe UI" pitchFamily="34" charset="-122"/>
                <a:cs typeface="Segoe UI" pitchFamily="34" charset="-120"/>
              </a:rPr>
              <a:t>Trending Cost</a:t>
            </a:r>
            <a:endParaRPr lang="en-US" sz="3000" dirty="0"/>
          </a:p>
        </p:txBody>
      </p:sp>
      <p:sp>
        <p:nvSpPr>
          <p:cNvPr id="6" name="s12-text-5"/>
          <p:cNvSpPr/>
          <p:nvPr/>
        </p:nvSpPr>
        <p:spPr>
          <a:xfrm>
            <a:off x="548640" y="1600200"/>
            <a:ext cx="11091672" cy="338328"/>
          </a:xfrm>
          <a:prstGeom prst="rect">
            <a:avLst/>
          </a:prstGeom>
          <a:noFill/>
          <a:ln/>
        </p:spPr>
        <p:txBody>
          <a:bodyPr wrap="square" lIns="0" tIns="0" rIns="0" bIns="0" rtlCol="0" anchor="t"/>
          <a:lstStyle/>
          <a:p>
            <a:pPr indent="0" marL="0">
              <a:buNone/>
            </a:pPr>
            <a:r>
              <a:rPr lang="en-US" sz="1550" dirty="0">
                <a:solidFill>
                  <a:srgbClr val="A8B8CF"/>
                </a:solidFill>
                <a:latin typeface="Segoe UI" pitchFamily="34" charset="0"/>
                <a:ea typeface="Segoe UI" pitchFamily="34" charset="-122"/>
                <a:cs typeface="Segoe UI" pitchFamily="34" charset="-120"/>
              </a:rPr>
              <a:t>Surface local usage trends with policy context before cost becomes invisible.</a:t>
            </a:r>
            <a:endParaRPr lang="en-US" sz="1550" dirty="0"/>
          </a:p>
        </p:txBody>
      </p:sp>
      <p:sp>
        <p:nvSpPr>
          <p:cNvPr id="7" name="Shape 5"/>
          <p:cNvSpPr/>
          <p:nvPr/>
        </p:nvSpPr>
        <p:spPr>
          <a:xfrm>
            <a:off x="548640" y="6446520"/>
            <a:ext cx="11091672" cy="0"/>
          </a:xfrm>
          <a:prstGeom prst="line">
            <a:avLst/>
          </a:prstGeom>
          <a:solidFill>
            <a:srgbClr val="142238"/>
          </a:solidFill>
          <a:ln w="7620">
            <a:solidFill>
              <a:srgbClr val="2B405B"/>
            </a:solidFill>
            <a:prstDash val="solid"/>
          </a:ln>
        </p:spPr>
      </p:sp>
      <p:sp>
        <p:nvSpPr>
          <p:cNvPr id="8" name="s12-text-6"/>
          <p:cNvSpPr/>
          <p:nvPr/>
        </p:nvSpPr>
        <p:spPr>
          <a:xfrm>
            <a:off x="548640" y="6556248"/>
            <a:ext cx="5852160" cy="164592"/>
          </a:xfrm>
          <a:prstGeom prst="rect">
            <a:avLst/>
          </a:prstGeom>
          <a:noFill/>
          <a:ln/>
        </p:spPr>
        <p:txBody>
          <a:bodyPr wrap="square" lIns="0" tIns="0" rIns="0" bIns="0" rtlCol="0" anchor="t"/>
          <a:lstStyle/>
          <a:p>
            <a:pPr indent="0" marL="0">
              <a:buNone/>
            </a:pPr>
            <a:r>
              <a:rPr lang="en-US" sz="950" dirty="0">
                <a:solidFill>
                  <a:srgbClr val="A8B8CF"/>
                </a:solidFill>
                <a:latin typeface="Segoe UI" pitchFamily="34" charset="0"/>
                <a:ea typeface="Segoe UI" pitchFamily="34" charset="-122"/>
                <a:cs typeface="Segoe UI" pitchFamily="34" charset="-120"/>
              </a:rPr>
              <a:t>PROTOTYPE  |  POLICY-GOVERNED AGENT ACTIONS</a:t>
            </a:r>
            <a:endParaRPr lang="en-US" sz="950" dirty="0"/>
          </a:p>
        </p:txBody>
      </p:sp>
      <p:sp>
        <p:nvSpPr>
          <p:cNvPr id="9" name="s12-text-7"/>
          <p:cNvSpPr/>
          <p:nvPr/>
        </p:nvSpPr>
        <p:spPr>
          <a:xfrm>
            <a:off x="10863072" y="6528816"/>
            <a:ext cx="777240" cy="210312"/>
          </a:xfrm>
          <a:prstGeom prst="rect">
            <a:avLst/>
          </a:prstGeom>
          <a:noFill/>
          <a:ln/>
        </p:spPr>
        <p:txBody>
          <a:bodyPr wrap="square" lIns="0" tIns="0" rIns="0" bIns="0" rtlCol="0" anchor="t"/>
          <a:lstStyle/>
          <a:p>
            <a:pPr algn="r" indent="0" marL="0">
              <a:buNone/>
            </a:pPr>
            <a:r>
              <a:rPr lang="en-US" sz="1100" dirty="0">
                <a:solidFill>
                  <a:srgbClr val="53DDF2"/>
                </a:solidFill>
                <a:latin typeface="Segoe UI" pitchFamily="34" charset="0"/>
                <a:ea typeface="Segoe UI" pitchFamily="34" charset="-122"/>
                <a:cs typeface="Segoe UI" pitchFamily="34" charset="-120"/>
              </a:rPr>
              <a:t>12 / 17</a:t>
            </a:r>
            <a:endParaRPr lang="en-US" sz="1100" dirty="0"/>
          </a:p>
        </p:txBody>
      </p:sp>
      <p:sp>
        <p:nvSpPr>
          <p:cNvPr id="10" name="Shape 8"/>
          <p:cNvSpPr/>
          <p:nvPr/>
        </p:nvSpPr>
        <p:spPr>
          <a:xfrm>
            <a:off x="548640" y="1938528"/>
            <a:ext cx="3886200" cy="3639312"/>
          </a:xfrm>
          <a:prstGeom prst="roundRect">
            <a:avLst>
              <a:gd name="adj" fmla="val 4020"/>
            </a:avLst>
          </a:prstGeom>
          <a:solidFill>
            <a:srgbClr val="142238"/>
          </a:solidFill>
          <a:ln w="10160">
            <a:solidFill>
              <a:srgbClr val="49DCA2"/>
            </a:solidFill>
            <a:prstDash val="solid"/>
          </a:ln>
        </p:spPr>
      </p:sp>
      <p:sp>
        <p:nvSpPr>
          <p:cNvPr id="11" name="s12-text-8"/>
          <p:cNvSpPr/>
          <p:nvPr/>
        </p:nvSpPr>
        <p:spPr>
          <a:xfrm>
            <a:off x="786384" y="2139696"/>
            <a:ext cx="3429000" cy="310896"/>
          </a:xfrm>
          <a:prstGeom prst="rect">
            <a:avLst/>
          </a:prstGeom>
          <a:noFill/>
          <a:ln/>
        </p:spPr>
        <p:txBody>
          <a:bodyPr wrap="square" lIns="0" tIns="0" rIns="0" bIns="0" rtlCol="0" anchor="t"/>
          <a:lstStyle/>
          <a:p>
            <a:pPr indent="0" marL="0">
              <a:buNone/>
            </a:pPr>
            <a:r>
              <a:rPr lang="en-US" sz="1000" b="1" spc="80" kern="0" dirty="0">
                <a:solidFill>
                  <a:srgbClr val="49DCA2"/>
                </a:solidFill>
                <a:latin typeface="Segoe UI" pitchFamily="34" charset="0"/>
                <a:ea typeface="Segoe UI" pitchFamily="34" charset="-122"/>
                <a:cs typeface="Segoe UI" pitchFamily="34" charset="-120"/>
              </a:rPr>
              <a:t>TRENDING_COST</a:t>
            </a:r>
            <a:endParaRPr lang="en-US" sz="1000" dirty="0"/>
          </a:p>
        </p:txBody>
      </p:sp>
      <p:sp>
        <p:nvSpPr>
          <p:cNvPr id="12" name="s12-text-9"/>
          <p:cNvSpPr/>
          <p:nvPr/>
        </p:nvSpPr>
        <p:spPr>
          <a:xfrm>
            <a:off x="786384" y="2542032"/>
            <a:ext cx="3383280" cy="868680"/>
          </a:xfrm>
          <a:prstGeom prst="rect">
            <a:avLst/>
          </a:prstGeom>
          <a:noFill/>
          <a:ln/>
        </p:spPr>
        <p:txBody>
          <a:bodyPr wrap="square" lIns="0" tIns="0" rIns="0" bIns="0" rtlCol="0" anchor="t"/>
          <a:lstStyle/>
          <a:p>
            <a:pPr indent="0" marL="0">
              <a:buNone/>
            </a:pPr>
            <a:r>
              <a:rPr lang="en-US" sz="1800" b="1" dirty="0">
                <a:solidFill>
                  <a:srgbClr val="F3F7FC"/>
                </a:solidFill>
                <a:latin typeface="Segoe UI" pitchFamily="34" charset="0"/>
                <a:ea typeface="Segoe UI" pitchFamily="34" charset="-122"/>
                <a:cs typeface="Segoe UI" pitchFamily="34" charset="-120"/>
              </a:rPr>
              <a:t>Make operational usage visible through the same policy surface.</a:t>
            </a:r>
            <a:endParaRPr lang="en-US" sz="1800" dirty="0"/>
          </a:p>
        </p:txBody>
      </p:sp>
      <p:sp>
        <p:nvSpPr>
          <p:cNvPr id="13" name="s12-text-10"/>
          <p:cNvSpPr/>
          <p:nvPr/>
        </p:nvSpPr>
        <p:spPr>
          <a:xfrm>
            <a:off x="786384" y="3493008"/>
            <a:ext cx="1005840" cy="201168"/>
          </a:xfrm>
          <a:prstGeom prst="rect">
            <a:avLst/>
          </a:prstGeom>
          <a:noFill/>
          <a:ln/>
        </p:spPr>
        <p:txBody>
          <a:bodyPr wrap="square" lIns="0" tIns="0" rIns="0" bIns="0" rtlCol="0" anchor="t"/>
          <a:lstStyle/>
          <a:p>
            <a:pPr indent="0" marL="0">
              <a:buNone/>
            </a:pPr>
            <a:r>
              <a:rPr lang="en-US" sz="1000" b="1" dirty="0">
                <a:solidFill>
                  <a:srgbClr val="A8B8CF"/>
                </a:solidFill>
                <a:latin typeface="Segoe UI" pitchFamily="34" charset="0"/>
                <a:ea typeface="Segoe UI" pitchFamily="34" charset="-122"/>
                <a:cs typeface="Segoe UI" pitchFamily="34" charset="-120"/>
              </a:rPr>
              <a:t>CHECKS</a:t>
            </a:r>
            <a:endParaRPr lang="en-US" sz="1000" dirty="0"/>
          </a:p>
        </p:txBody>
      </p:sp>
      <p:sp>
        <p:nvSpPr>
          <p:cNvPr id="14" name="s12-text-11"/>
          <p:cNvSpPr/>
          <p:nvPr/>
        </p:nvSpPr>
        <p:spPr>
          <a:xfrm>
            <a:off x="786384" y="3730752"/>
            <a:ext cx="3364992" cy="1051560"/>
          </a:xfrm>
          <a:prstGeom prst="rect">
            <a:avLst/>
          </a:prstGeom>
          <a:noFill/>
          <a:ln/>
        </p:spPr>
        <p:txBody>
          <a:bodyPr wrap="square" lIns="0" tIns="0" rIns="0" bIns="0" rtlCol="0" anchor="t"/>
          <a:lstStyle/>
          <a:p>
            <a:pPr indent="0" marL="0">
              <a:buNone/>
            </a:pPr>
            <a:r>
              <a:rPr lang="en-US" sz="1450" dirty="0">
                <a:solidFill>
                  <a:srgbClr val="F3F7FC"/>
                </a:solidFill>
                <a:latin typeface="Segoe UI" pitchFamily="34" charset="0"/>
                <a:ea typeface="Segoe UI" pitchFamily="34" charset="-122"/>
                <a:cs typeface="Segoe UI" pitchFamily="34" charset="-120"/>
              </a:rPr>
              <a:t>Local CLI usage-style SQLite data</a:t>
            </a:r>
            <a:endParaRPr lang="en-US" sz="1450" dirty="0"/>
          </a:p>
          <a:p>
            <a:pPr indent="0" marL="0">
              <a:buNone/>
            </a:pPr>
            <a:r>
              <a:rPr lang="en-US" sz="1450" dirty="0">
                <a:solidFill>
                  <a:srgbClr val="F3F7FC"/>
                </a:solidFill>
                <a:latin typeface="Segoe UI" pitchFamily="34" charset="0"/>
                <a:ea typeface="Segoe UI" pitchFamily="34" charset="-122"/>
                <a:cs typeface="Segoe UI" pitchFamily="34" charset="-120"/>
              </a:rPr>
              <a:t>Month-to-date cost and current-day usage</a:t>
            </a:r>
            <a:endParaRPr lang="en-US" sz="1450" dirty="0"/>
          </a:p>
          <a:p>
            <a:pPr indent="0" marL="0">
              <a:buNone/>
            </a:pPr>
            <a:r>
              <a:rPr lang="en-US" sz="1450" dirty="0">
                <a:solidFill>
                  <a:srgbClr val="F3F7FC"/>
                </a:solidFill>
                <a:latin typeface="Segoe UI" pitchFamily="34" charset="0"/>
                <a:ea typeface="Segoe UI" pitchFamily="34" charset="-122"/>
                <a:cs typeface="Segoe UI" pitchFamily="34" charset="-120"/>
              </a:rPr>
              <a:t>Configured advisory threshold</a:t>
            </a:r>
            <a:endParaRPr lang="en-US" sz="1450" dirty="0"/>
          </a:p>
        </p:txBody>
      </p:sp>
      <p:sp>
        <p:nvSpPr>
          <p:cNvPr id="15" name="s12-text-12"/>
          <p:cNvSpPr/>
          <p:nvPr/>
        </p:nvSpPr>
        <p:spPr>
          <a:xfrm>
            <a:off x="786384" y="4846320"/>
            <a:ext cx="1508760" cy="201168"/>
          </a:xfrm>
          <a:prstGeom prst="rect">
            <a:avLst/>
          </a:prstGeom>
          <a:noFill/>
          <a:ln/>
        </p:spPr>
        <p:txBody>
          <a:bodyPr wrap="square" lIns="0" tIns="0" rIns="0" bIns="0" rtlCol="0" anchor="t"/>
          <a:lstStyle/>
          <a:p>
            <a:pPr indent="0" marL="0">
              <a:buNone/>
            </a:pPr>
            <a:r>
              <a:rPr lang="en-US" sz="1000" b="1" dirty="0">
                <a:solidFill>
                  <a:srgbClr val="A8B8CF"/>
                </a:solidFill>
                <a:latin typeface="Segoe UI" pitchFamily="34" charset="0"/>
                <a:ea typeface="Segoe UI" pitchFamily="34" charset="-122"/>
                <a:cs typeface="Segoe UI" pitchFamily="34" charset="-120"/>
              </a:rPr>
              <a:t>POLICY RESULT</a:t>
            </a:r>
            <a:endParaRPr lang="en-US" sz="1000" dirty="0"/>
          </a:p>
        </p:txBody>
      </p:sp>
      <p:sp>
        <p:nvSpPr>
          <p:cNvPr id="16" name="s12-text-13"/>
          <p:cNvSpPr/>
          <p:nvPr/>
        </p:nvSpPr>
        <p:spPr>
          <a:xfrm>
            <a:off x="786384" y="5074920"/>
            <a:ext cx="3364992" cy="420624"/>
          </a:xfrm>
          <a:prstGeom prst="rect">
            <a:avLst/>
          </a:prstGeom>
          <a:noFill/>
          <a:ln/>
        </p:spPr>
        <p:txBody>
          <a:bodyPr wrap="square" lIns="0" tIns="0" rIns="0" bIns="0" rtlCol="0" anchor="t"/>
          <a:lstStyle/>
          <a:p>
            <a:pPr indent="0" marL="0">
              <a:buNone/>
            </a:pPr>
            <a:r>
              <a:rPr lang="en-US" sz="1400" b="1" dirty="0">
                <a:solidFill>
                  <a:srgbClr val="FFCE67"/>
                </a:solidFill>
                <a:latin typeface="Segoe UI" pitchFamily="34" charset="0"/>
                <a:ea typeface="Segoe UI" pitchFamily="34" charset="-122"/>
                <a:cs typeface="Segoe UI" pitchFamily="34" charset="-120"/>
              </a:rPr>
              <a:t>Above threshold reports an advisory—not a hard block</a:t>
            </a:r>
            <a:endParaRPr lang="en-US" sz="1400" dirty="0"/>
          </a:p>
        </p:txBody>
      </p:sp>
      <p:sp>
        <p:nvSpPr>
          <p:cNvPr id="17" name="Shape 15"/>
          <p:cNvSpPr/>
          <p:nvPr/>
        </p:nvSpPr>
        <p:spPr>
          <a:xfrm>
            <a:off x="4645152" y="1938528"/>
            <a:ext cx="6995160" cy="3639312"/>
          </a:xfrm>
          <a:prstGeom prst="roundRect">
            <a:avLst>
              <a:gd name="adj" fmla="val 4020"/>
            </a:avLst>
          </a:prstGeom>
          <a:solidFill>
            <a:srgbClr val="142238"/>
          </a:solidFill>
          <a:ln w="10160">
            <a:solidFill>
              <a:srgbClr val="2B405B"/>
            </a:solidFill>
            <a:prstDash val="solid"/>
          </a:ln>
        </p:spPr>
      </p:sp>
      <p:sp>
        <p:nvSpPr>
          <p:cNvPr id="18" name="Shape 16"/>
          <p:cNvSpPr/>
          <p:nvPr/>
        </p:nvSpPr>
        <p:spPr>
          <a:xfrm>
            <a:off x="4672584" y="1965960"/>
            <a:ext cx="6940296" cy="3584448"/>
          </a:xfrm>
          <a:prstGeom prst="rect">
            <a:avLst/>
          </a:prstGeom>
          <a:solidFill>
            <a:srgbClr val="07101D"/>
          </a:solidFill>
          <a:ln w="10160">
            <a:solidFill>
              <a:srgbClr val="2B405B"/>
            </a:solidFill>
            <a:prstDash val="solid"/>
          </a:ln>
        </p:spPr>
      </p:sp>
      <p:sp>
        <p:nvSpPr>
          <p:cNvPr id="19" name="s12-text-14"/>
          <p:cNvSpPr/>
          <p:nvPr/>
        </p:nvSpPr>
        <p:spPr>
          <a:xfrm>
            <a:off x="4956048" y="2212848"/>
            <a:ext cx="2834640" cy="256032"/>
          </a:xfrm>
          <a:prstGeom prst="rect">
            <a:avLst/>
          </a:prstGeom>
          <a:noFill/>
          <a:ln/>
        </p:spPr>
        <p:txBody>
          <a:bodyPr wrap="square" lIns="0" tIns="0" rIns="0" bIns="0" rtlCol="0" anchor="t"/>
          <a:lstStyle/>
          <a:p>
            <a:pPr indent="0" marL="0">
              <a:buNone/>
            </a:pPr>
            <a:r>
              <a:rPr lang="en-US" sz="1200" b="1" spc="90" kern="0" dirty="0">
                <a:solidFill>
                  <a:srgbClr val="49DCA2"/>
                </a:solidFill>
                <a:latin typeface="Segoe UI" pitchFamily="34" charset="0"/>
                <a:ea typeface="Segoe UI" pitchFamily="34" charset="-122"/>
                <a:cs typeface="Segoe UI" pitchFamily="34" charset="-120"/>
              </a:rPr>
              <a:t>▶  SCREEN RECORDING</a:t>
            </a:r>
            <a:endParaRPr lang="en-US" sz="1200" dirty="0"/>
          </a:p>
        </p:txBody>
      </p:sp>
      <p:sp>
        <p:nvSpPr>
          <p:cNvPr id="20" name="s12-text-15"/>
          <p:cNvSpPr/>
          <p:nvPr/>
        </p:nvSpPr>
        <p:spPr>
          <a:xfrm>
            <a:off x="4956048" y="2724912"/>
            <a:ext cx="6355080" cy="1078992"/>
          </a:xfrm>
          <a:prstGeom prst="rect">
            <a:avLst/>
          </a:prstGeom>
          <a:noFill/>
          <a:ln/>
        </p:spPr>
        <p:txBody>
          <a:bodyPr wrap="square" lIns="0" tIns="0" rIns="0" bIns="0" rtlCol="0" anchor="t"/>
          <a:lstStyle/>
          <a:p>
            <a:pPr indent="0" marL="0">
              <a:buNone/>
            </a:pPr>
            <a:r>
              <a:rPr lang="en-US" sz="1500" dirty="0">
                <a:solidFill>
                  <a:srgbClr val="F3F7FC"/>
                </a:solidFill>
                <a:latin typeface="Consolas" pitchFamily="34" charset="0"/>
                <a:ea typeface="Consolas" pitchFamily="34" charset="-122"/>
                <a:cs typeface="Consolas" pitchFamily="34" charset="-120"/>
              </a:rPr>
              <a:t>npm run demo -- --gate trending-cost</a:t>
            </a:r>
            <a:endParaRPr lang="en-US" sz="1500" dirty="0"/>
          </a:p>
        </p:txBody>
      </p:sp>
      <p:sp>
        <p:nvSpPr>
          <p:cNvPr id="21" name="Shape 19"/>
          <p:cNvSpPr/>
          <p:nvPr/>
        </p:nvSpPr>
        <p:spPr>
          <a:xfrm>
            <a:off x="4956048" y="4142232"/>
            <a:ext cx="1901952" cy="713232"/>
          </a:xfrm>
          <a:prstGeom prst="roundRect">
            <a:avLst>
              <a:gd name="adj" fmla="val 20513"/>
            </a:avLst>
          </a:prstGeom>
          <a:solidFill>
            <a:srgbClr val="142238"/>
          </a:solidFill>
          <a:ln w="10160">
            <a:solidFill>
              <a:srgbClr val="49DCA2"/>
            </a:solidFill>
            <a:prstDash val="solid"/>
          </a:ln>
        </p:spPr>
      </p:sp>
      <p:sp>
        <p:nvSpPr>
          <p:cNvPr id="22" name="s12-text-16"/>
          <p:cNvSpPr/>
          <p:nvPr/>
        </p:nvSpPr>
        <p:spPr>
          <a:xfrm>
            <a:off x="5084064" y="4279392"/>
            <a:ext cx="1645920" cy="164592"/>
          </a:xfrm>
          <a:prstGeom prst="rect">
            <a:avLst/>
          </a:prstGeom>
          <a:noFill/>
          <a:ln/>
        </p:spPr>
        <p:txBody>
          <a:bodyPr wrap="square" lIns="0" tIns="0" rIns="0" bIns="0" rtlCol="0" anchor="t"/>
          <a:lstStyle/>
          <a:p>
            <a:pPr indent="0" marL="0">
              <a:buNone/>
            </a:pPr>
            <a:r>
              <a:rPr lang="en-US" sz="950" b="1" dirty="0">
                <a:solidFill>
                  <a:srgbClr val="A8B8CF"/>
                </a:solidFill>
                <a:latin typeface="Segoe UI" pitchFamily="34" charset="0"/>
                <a:ea typeface="Segoe UI" pitchFamily="34" charset="-122"/>
                <a:cs typeface="Segoe UI" pitchFamily="34" charset="-120"/>
              </a:rPr>
              <a:t>BELOW</a:t>
            </a:r>
            <a:endParaRPr lang="en-US" sz="950" dirty="0"/>
          </a:p>
        </p:txBody>
      </p:sp>
      <p:sp>
        <p:nvSpPr>
          <p:cNvPr id="23" name="s12-text-17"/>
          <p:cNvSpPr/>
          <p:nvPr/>
        </p:nvSpPr>
        <p:spPr>
          <a:xfrm>
            <a:off x="5084064" y="4535424"/>
            <a:ext cx="1645920" cy="201168"/>
          </a:xfrm>
          <a:prstGeom prst="rect">
            <a:avLst/>
          </a:prstGeom>
          <a:noFill/>
          <a:ln/>
        </p:spPr>
        <p:txBody>
          <a:bodyPr wrap="square" lIns="0" tIns="0" rIns="0" bIns="0" rtlCol="0" anchor="t"/>
          <a:lstStyle/>
          <a:p>
            <a:pPr indent="0" marL="0">
              <a:buNone/>
            </a:pPr>
            <a:r>
              <a:rPr lang="en-US" sz="1400" b="1" dirty="0">
                <a:solidFill>
                  <a:srgbClr val="49DCA2"/>
                </a:solidFill>
                <a:latin typeface="Segoe UI" pitchFamily="34" charset="0"/>
                <a:ea typeface="Segoe UI" pitchFamily="34" charset="-122"/>
                <a:cs typeface="Segoe UI" pitchFamily="34" charset="-120"/>
              </a:rPr>
              <a:t>reported</a:t>
            </a:r>
            <a:endParaRPr lang="en-US" sz="1400" dirty="0"/>
          </a:p>
        </p:txBody>
      </p:sp>
      <p:sp>
        <p:nvSpPr>
          <p:cNvPr id="24" name="Shape 22"/>
          <p:cNvSpPr/>
          <p:nvPr/>
        </p:nvSpPr>
        <p:spPr>
          <a:xfrm>
            <a:off x="7040880" y="4142232"/>
            <a:ext cx="1901952" cy="713232"/>
          </a:xfrm>
          <a:prstGeom prst="roundRect">
            <a:avLst>
              <a:gd name="adj" fmla="val 20513"/>
            </a:avLst>
          </a:prstGeom>
          <a:solidFill>
            <a:srgbClr val="142238"/>
          </a:solidFill>
          <a:ln w="10160">
            <a:solidFill>
              <a:srgbClr val="FFCE67"/>
            </a:solidFill>
            <a:prstDash val="solid"/>
          </a:ln>
        </p:spPr>
      </p:sp>
      <p:sp>
        <p:nvSpPr>
          <p:cNvPr id="25" name="s12-text-18"/>
          <p:cNvSpPr/>
          <p:nvPr/>
        </p:nvSpPr>
        <p:spPr>
          <a:xfrm>
            <a:off x="7168896" y="4279392"/>
            <a:ext cx="1645920" cy="164592"/>
          </a:xfrm>
          <a:prstGeom prst="rect">
            <a:avLst/>
          </a:prstGeom>
          <a:noFill/>
          <a:ln/>
        </p:spPr>
        <p:txBody>
          <a:bodyPr wrap="square" lIns="0" tIns="0" rIns="0" bIns="0" rtlCol="0" anchor="t"/>
          <a:lstStyle/>
          <a:p>
            <a:pPr indent="0" marL="0">
              <a:buNone/>
            </a:pPr>
            <a:r>
              <a:rPr lang="en-US" sz="950" b="1" dirty="0">
                <a:solidFill>
                  <a:srgbClr val="A8B8CF"/>
                </a:solidFill>
                <a:latin typeface="Segoe UI" pitchFamily="34" charset="0"/>
                <a:ea typeface="Segoe UI" pitchFamily="34" charset="-122"/>
                <a:cs typeface="Segoe UI" pitchFamily="34" charset="-120"/>
              </a:rPr>
              <a:t>ABOVE</a:t>
            </a:r>
            <a:endParaRPr lang="en-US" sz="950" dirty="0"/>
          </a:p>
        </p:txBody>
      </p:sp>
      <p:sp>
        <p:nvSpPr>
          <p:cNvPr id="26" name="s12-text-19"/>
          <p:cNvSpPr/>
          <p:nvPr/>
        </p:nvSpPr>
        <p:spPr>
          <a:xfrm>
            <a:off x="7168896" y="4535424"/>
            <a:ext cx="1645920" cy="201168"/>
          </a:xfrm>
          <a:prstGeom prst="rect">
            <a:avLst/>
          </a:prstGeom>
          <a:noFill/>
          <a:ln/>
        </p:spPr>
        <p:txBody>
          <a:bodyPr wrap="square" lIns="0" tIns="0" rIns="0" bIns="0" rtlCol="0" anchor="t"/>
          <a:lstStyle/>
          <a:p>
            <a:pPr indent="0" marL="0">
              <a:buNone/>
            </a:pPr>
            <a:r>
              <a:rPr lang="en-US" sz="1400" b="1" dirty="0">
                <a:solidFill>
                  <a:srgbClr val="FFCE67"/>
                </a:solidFill>
                <a:latin typeface="Segoe UI" pitchFamily="34" charset="0"/>
                <a:ea typeface="Segoe UI" pitchFamily="34" charset="-122"/>
                <a:cs typeface="Segoe UI" pitchFamily="34" charset="-120"/>
              </a:rPr>
              <a:t>advisory</a:t>
            </a:r>
            <a:endParaRPr lang="en-US" sz="1400" dirty="0"/>
          </a:p>
        </p:txBody>
      </p:sp>
      <p:sp>
        <p:nvSpPr>
          <p:cNvPr id="27" name="Shape 25"/>
          <p:cNvSpPr/>
          <p:nvPr/>
        </p:nvSpPr>
        <p:spPr>
          <a:xfrm>
            <a:off x="9125712" y="4142232"/>
            <a:ext cx="1901952" cy="713232"/>
          </a:xfrm>
          <a:prstGeom prst="roundRect">
            <a:avLst>
              <a:gd name="adj" fmla="val 20513"/>
            </a:avLst>
          </a:prstGeom>
          <a:solidFill>
            <a:srgbClr val="142238"/>
          </a:solidFill>
          <a:ln w="10160">
            <a:solidFill>
              <a:srgbClr val="B5A0FF"/>
            </a:solidFill>
            <a:prstDash val="solid"/>
          </a:ln>
        </p:spPr>
      </p:sp>
      <p:sp>
        <p:nvSpPr>
          <p:cNvPr id="28" name="s12-text-20"/>
          <p:cNvSpPr/>
          <p:nvPr/>
        </p:nvSpPr>
        <p:spPr>
          <a:xfrm>
            <a:off x="9253728" y="4279392"/>
            <a:ext cx="1645920" cy="164592"/>
          </a:xfrm>
          <a:prstGeom prst="rect">
            <a:avLst/>
          </a:prstGeom>
          <a:noFill/>
          <a:ln/>
        </p:spPr>
        <p:txBody>
          <a:bodyPr wrap="square" lIns="0" tIns="0" rIns="0" bIns="0" rtlCol="0" anchor="t"/>
          <a:lstStyle/>
          <a:p>
            <a:pPr indent="0" marL="0">
              <a:buNone/>
            </a:pPr>
            <a:r>
              <a:rPr lang="en-US" sz="950" b="1" dirty="0">
                <a:solidFill>
                  <a:srgbClr val="A8B8CF"/>
                </a:solidFill>
                <a:latin typeface="Segoe UI" pitchFamily="34" charset="0"/>
                <a:ea typeface="Segoe UI" pitchFamily="34" charset="-122"/>
                <a:cs typeface="Segoe UI" pitchFamily="34" charset="-120"/>
              </a:rPr>
              <a:t>MISSING</a:t>
            </a:r>
            <a:endParaRPr lang="en-US" sz="950" dirty="0"/>
          </a:p>
        </p:txBody>
      </p:sp>
      <p:sp>
        <p:nvSpPr>
          <p:cNvPr id="29" name="s12-text-21"/>
          <p:cNvSpPr/>
          <p:nvPr/>
        </p:nvSpPr>
        <p:spPr>
          <a:xfrm>
            <a:off x="9253728" y="4535424"/>
            <a:ext cx="1645920" cy="201168"/>
          </a:xfrm>
          <a:prstGeom prst="rect">
            <a:avLst/>
          </a:prstGeom>
          <a:noFill/>
          <a:ln/>
        </p:spPr>
        <p:txBody>
          <a:bodyPr wrap="square" lIns="0" tIns="0" rIns="0" bIns="0" rtlCol="0" anchor="t"/>
          <a:lstStyle/>
          <a:p>
            <a:pPr indent="0" marL="0">
              <a:buNone/>
            </a:pPr>
            <a:r>
              <a:rPr lang="en-US" sz="1400" b="1" dirty="0">
                <a:solidFill>
                  <a:srgbClr val="B5A0FF"/>
                </a:solidFill>
                <a:latin typeface="Segoe UI" pitchFamily="34" charset="0"/>
                <a:ea typeface="Segoe UI" pitchFamily="34" charset="-122"/>
                <a:cs typeface="Segoe UI" pitchFamily="34" charset="-120"/>
              </a:rPr>
              <a:t>explicit</a:t>
            </a:r>
            <a:endParaRPr lang="en-US" sz="1400" dirty="0"/>
          </a:p>
        </p:txBody>
      </p:sp>
      <p:sp>
        <p:nvSpPr>
          <p:cNvPr id="30" name="s12-text-22"/>
          <p:cNvSpPr/>
          <p:nvPr/>
        </p:nvSpPr>
        <p:spPr>
          <a:xfrm>
            <a:off x="4956048" y="5093208"/>
            <a:ext cx="6355080" cy="182880"/>
          </a:xfrm>
          <a:prstGeom prst="rect">
            <a:avLst/>
          </a:prstGeom>
          <a:noFill/>
          <a:ln/>
        </p:spPr>
        <p:txBody>
          <a:bodyPr wrap="square" lIns="0" tIns="0" rIns="0" bIns="0" rtlCol="0" anchor="t"/>
          <a:lstStyle/>
          <a:p>
            <a:pPr indent="0" marL="0">
              <a:buNone/>
            </a:pPr>
            <a:r>
              <a:rPr lang="en-US" sz="1050" dirty="0">
                <a:solidFill>
                  <a:srgbClr val="A8B8CF"/>
                </a:solidFill>
                <a:latin typeface="Segoe UI" pitchFamily="34" charset="0"/>
                <a:ea typeface="Segoe UI" pitchFamily="34" charset="-122"/>
                <a:cs typeface="Segoe UI" pitchFamily="34" charset="-120"/>
              </a:rPr>
              <a:t>Recording slot: recordings/trending-cost.mp4</a:t>
            </a:r>
            <a:endParaRPr lang="en-US" sz="1050" dirty="0"/>
          </a:p>
        </p:txBody>
      </p:sp>
      <p:sp>
        <p:nvSpPr>
          <p:cNvPr id="31" name="Shape 29"/>
          <p:cNvSpPr/>
          <p:nvPr/>
        </p:nvSpPr>
        <p:spPr>
          <a:xfrm>
            <a:off x="548640" y="5687568"/>
            <a:ext cx="11091672" cy="585216"/>
          </a:xfrm>
          <a:prstGeom prst="roundRect">
            <a:avLst>
              <a:gd name="adj" fmla="val 25000"/>
            </a:avLst>
          </a:prstGeom>
          <a:solidFill>
            <a:srgbClr val="142238"/>
          </a:solidFill>
          <a:ln w="10160">
            <a:solidFill>
              <a:srgbClr val="2B405B"/>
            </a:solidFill>
            <a:prstDash val="solid"/>
          </a:ln>
        </p:spPr>
      </p:sp>
      <p:sp>
        <p:nvSpPr>
          <p:cNvPr id="32" name="Shape 30"/>
          <p:cNvSpPr/>
          <p:nvPr/>
        </p:nvSpPr>
        <p:spPr>
          <a:xfrm>
            <a:off x="548640" y="5687568"/>
            <a:ext cx="41148" cy="585216"/>
          </a:xfrm>
          <a:prstGeom prst="rect">
            <a:avLst/>
          </a:prstGeom>
          <a:solidFill>
            <a:srgbClr val="49DCA2"/>
          </a:solidFill>
          <a:ln w="12700">
            <a:solidFill>
              <a:srgbClr val="2B405B">
                <a:alpha val="0"/>
              </a:srgbClr>
            </a:solidFill>
            <a:prstDash val="solid"/>
          </a:ln>
        </p:spPr>
      </p:sp>
      <p:sp>
        <p:nvSpPr>
          <p:cNvPr id="33" name="s12-text-23"/>
          <p:cNvSpPr/>
          <p:nvPr/>
        </p:nvSpPr>
        <p:spPr>
          <a:xfrm>
            <a:off x="758952" y="5833872"/>
            <a:ext cx="10652760" cy="292608"/>
          </a:xfrm>
          <a:prstGeom prst="rect">
            <a:avLst/>
          </a:prstGeom>
          <a:noFill/>
          <a:ln/>
        </p:spPr>
        <p:txBody>
          <a:bodyPr wrap="square" lIns="0" tIns="0" rIns="0" bIns="0" rtlCol="0" anchor="t"/>
          <a:lstStyle/>
          <a:p>
            <a:pPr indent="0" marL="0">
              <a:buNone/>
            </a:pPr>
            <a:r>
              <a:rPr lang="en-US" sz="1600" dirty="0">
                <a:solidFill>
                  <a:srgbClr val="49DCA2"/>
                </a:solidFill>
                <a:latin typeface="Segoe UI" pitchFamily="34" charset="0"/>
                <a:ea typeface="Segoe UI" pitchFamily="34" charset="-122"/>
                <a:cs typeface="Segoe UI" pitchFamily="34" charset="-120"/>
              </a:rPr>
              <a:t>Synthetic disposable data only; this is not billing, spend reservation or account-wide enforcement.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p:bgPr>
    </p:bg>
    <p:spTree>
      <p:nvGrpSpPr>
        <p:cNvPr id="1" name=""/>
        <p:cNvGrpSpPr/>
        <p:nvPr/>
      </p:nvGrpSpPr>
      <p:grpSpPr>
        <a:xfrm>
          <a:off x="0" y="0"/>
          <a:ext cx="0" cy="0"/>
          <a:chOff x="0" y="0"/>
          <a:chExt cx="0" cy="0"/>
        </a:xfrm>
      </p:grpSpPr>
      <p:sp>
        <p:nvSpPr>
          <p:cNvPr id="2" name="s13-text-1"/>
          <p:cNvSpPr/>
          <p:nvPr/>
        </p:nvSpPr>
        <p:spPr>
          <a:xfrm>
            <a:off x="548640" y="219456"/>
            <a:ext cx="2834640" cy="219456"/>
          </a:xfrm>
          <a:prstGeom prst="rect">
            <a:avLst/>
          </a:prstGeom>
          <a:noFill/>
          <a:ln/>
        </p:spPr>
        <p:txBody>
          <a:bodyPr wrap="square" lIns="0" tIns="0" rIns="0" bIns="0" rtlCol="0" anchor="t"/>
          <a:lstStyle/>
          <a:p>
            <a:pPr indent="0" marL="0">
              <a:buNone/>
            </a:pPr>
            <a:r>
              <a:rPr lang="en-US" sz="1300" b="1" spc="80" kern="0" dirty="0">
                <a:solidFill>
                  <a:srgbClr val="53DDF2"/>
                </a:solidFill>
                <a:latin typeface="Segoe UI" pitchFamily="34" charset="0"/>
                <a:ea typeface="Segoe UI" pitchFamily="34" charset="-122"/>
                <a:cs typeface="Segoe UI" pitchFamily="34" charset="-120"/>
              </a:rPr>
              <a:t>AGENT AIRLOCK</a:t>
            </a:r>
            <a:endParaRPr lang="en-US" sz="1300" dirty="0"/>
          </a:p>
        </p:txBody>
      </p:sp>
      <p:sp>
        <p:nvSpPr>
          <p:cNvPr id="3" name="s13-text-2"/>
          <p:cNvSpPr/>
          <p:nvPr/>
        </p:nvSpPr>
        <p:spPr>
          <a:xfrm>
            <a:off x="3657600" y="237744"/>
            <a:ext cx="4663440" cy="201168"/>
          </a:xfrm>
          <a:prstGeom prst="rect">
            <a:avLst/>
          </a:prstGeom>
          <a:noFill/>
          <a:ln/>
        </p:spPr>
        <p:txBody>
          <a:bodyPr wrap="square" lIns="0" tIns="0" rIns="0" bIns="0" rtlCol="0" anchor="t"/>
          <a:lstStyle/>
          <a:p>
            <a:pPr algn="ctr" indent="0" marL="0">
              <a:buNone/>
            </a:pPr>
            <a:r>
              <a:rPr lang="en-US" sz="1100" spc="100" kern="0" dirty="0">
                <a:solidFill>
                  <a:srgbClr val="A8B8CF"/>
                </a:solidFill>
                <a:latin typeface="Segoe UI" pitchFamily="34" charset="0"/>
                <a:ea typeface="Segoe UI" pitchFamily="34" charset="-122"/>
                <a:cs typeface="Segoe UI" pitchFamily="34" charset="-120"/>
              </a:rPr>
              <a:t>EVIDENCE</a:t>
            </a:r>
            <a:endParaRPr lang="en-US" sz="1100" dirty="0"/>
          </a:p>
        </p:txBody>
      </p:sp>
      <p:sp>
        <p:nvSpPr>
          <p:cNvPr id="4" name="s13-text-3"/>
          <p:cNvSpPr/>
          <p:nvPr/>
        </p:nvSpPr>
        <p:spPr>
          <a:xfrm>
            <a:off x="8412480" y="237744"/>
            <a:ext cx="3227832" cy="201168"/>
          </a:xfrm>
          <a:prstGeom prst="rect">
            <a:avLst/>
          </a:prstGeom>
          <a:noFill/>
          <a:ln/>
        </p:spPr>
        <p:txBody>
          <a:bodyPr wrap="square" lIns="0" tIns="0" rIns="0" bIns="0" rtlCol="0" anchor="t"/>
          <a:lstStyle/>
          <a:p>
            <a:pPr algn="r" indent="0" marL="0">
              <a:buNone/>
            </a:pPr>
            <a:r>
              <a:rPr lang="en-US" sz="1050" dirty="0">
                <a:solidFill>
                  <a:srgbClr val="A8B8CF"/>
                </a:solidFill>
                <a:latin typeface="Segoe UI" pitchFamily="34" charset="0"/>
                <a:ea typeface="Segoe UI" pitchFamily="34" charset="-122"/>
                <a:cs typeface="Segoe UI" pitchFamily="34" charset="-120"/>
              </a:rPr>
              <a:t>TEAM SHOWCASE</a:t>
            </a:r>
            <a:endParaRPr lang="en-US" sz="1050" dirty="0"/>
          </a:p>
        </p:txBody>
      </p:sp>
      <p:sp>
        <p:nvSpPr>
          <p:cNvPr id="5" name="s13-text-4"/>
          <p:cNvSpPr/>
          <p:nvPr/>
        </p:nvSpPr>
        <p:spPr>
          <a:xfrm>
            <a:off x="548640" y="640080"/>
            <a:ext cx="11091672" cy="914400"/>
          </a:xfrm>
          <a:prstGeom prst="rect">
            <a:avLst/>
          </a:prstGeom>
          <a:noFill/>
          <a:ln/>
        </p:spPr>
        <p:txBody>
          <a:bodyPr wrap="square" lIns="0" tIns="0" rIns="0" bIns="0" rtlCol="0" anchor="t"/>
          <a:lstStyle/>
          <a:p>
            <a:pPr indent="0" marL="0">
              <a:buNone/>
            </a:pPr>
            <a:r>
              <a:rPr lang="en-US" sz="3000" b="1" dirty="0">
                <a:solidFill>
                  <a:srgbClr val="F3F7FC"/>
                </a:solidFill>
                <a:latin typeface="Segoe UI" pitchFamily="34" charset="0"/>
                <a:ea typeface="Segoe UI" pitchFamily="34" charset="-122"/>
                <a:cs typeface="Segoe UI" pitchFamily="34" charset="-120"/>
              </a:rPr>
              <a:t>Every decision leaves evidence</a:t>
            </a:r>
            <a:endParaRPr lang="en-US" sz="3000" dirty="0"/>
          </a:p>
        </p:txBody>
      </p:sp>
      <p:sp>
        <p:nvSpPr>
          <p:cNvPr id="6" name="s13-text-5"/>
          <p:cNvSpPr/>
          <p:nvPr/>
        </p:nvSpPr>
        <p:spPr>
          <a:xfrm>
            <a:off x="548640" y="1600200"/>
            <a:ext cx="11091672" cy="338328"/>
          </a:xfrm>
          <a:prstGeom prst="rect">
            <a:avLst/>
          </a:prstGeom>
          <a:noFill/>
          <a:ln/>
        </p:spPr>
        <p:txBody>
          <a:bodyPr wrap="square" lIns="0" tIns="0" rIns="0" bIns="0" rtlCol="0" anchor="t"/>
          <a:lstStyle/>
          <a:p>
            <a:pPr indent="0" marL="0">
              <a:buNone/>
            </a:pPr>
            <a:r>
              <a:rPr lang="en-US" sz="1550" dirty="0">
                <a:solidFill>
                  <a:srgbClr val="A8B8CF"/>
                </a:solidFill>
                <a:latin typeface="Segoe UI" pitchFamily="34" charset="0"/>
                <a:ea typeface="Segoe UI" pitchFamily="34" charset="-122"/>
                <a:cs typeface="Segoe UI" pitchFamily="34" charset="-120"/>
              </a:rPr>
              <a:t>Receipts explain what was checked and whether the guarded executor ran.</a:t>
            </a:r>
            <a:endParaRPr lang="en-US" sz="1550" dirty="0"/>
          </a:p>
        </p:txBody>
      </p:sp>
      <p:sp>
        <p:nvSpPr>
          <p:cNvPr id="7" name="Shape 5"/>
          <p:cNvSpPr/>
          <p:nvPr/>
        </p:nvSpPr>
        <p:spPr>
          <a:xfrm>
            <a:off x="548640" y="6446520"/>
            <a:ext cx="11091672" cy="0"/>
          </a:xfrm>
          <a:prstGeom prst="line">
            <a:avLst/>
          </a:prstGeom>
          <a:solidFill>
            <a:srgbClr val="142238"/>
          </a:solidFill>
          <a:ln w="7620">
            <a:solidFill>
              <a:srgbClr val="2B405B"/>
            </a:solidFill>
            <a:prstDash val="solid"/>
          </a:ln>
        </p:spPr>
      </p:sp>
      <p:sp>
        <p:nvSpPr>
          <p:cNvPr id="8" name="s13-text-6"/>
          <p:cNvSpPr/>
          <p:nvPr/>
        </p:nvSpPr>
        <p:spPr>
          <a:xfrm>
            <a:off x="548640" y="6556248"/>
            <a:ext cx="5852160" cy="164592"/>
          </a:xfrm>
          <a:prstGeom prst="rect">
            <a:avLst/>
          </a:prstGeom>
          <a:noFill/>
          <a:ln/>
        </p:spPr>
        <p:txBody>
          <a:bodyPr wrap="square" lIns="0" tIns="0" rIns="0" bIns="0" rtlCol="0" anchor="t"/>
          <a:lstStyle/>
          <a:p>
            <a:pPr indent="0" marL="0">
              <a:buNone/>
            </a:pPr>
            <a:r>
              <a:rPr lang="en-US" sz="950" dirty="0">
                <a:solidFill>
                  <a:srgbClr val="A8B8CF"/>
                </a:solidFill>
                <a:latin typeface="Segoe UI" pitchFamily="34" charset="0"/>
                <a:ea typeface="Segoe UI" pitchFamily="34" charset="-122"/>
                <a:cs typeface="Segoe UI" pitchFamily="34" charset="-120"/>
              </a:rPr>
              <a:t>PROTOTYPE  |  POLICY-GOVERNED AGENT ACTIONS</a:t>
            </a:r>
            <a:endParaRPr lang="en-US" sz="950" dirty="0"/>
          </a:p>
        </p:txBody>
      </p:sp>
      <p:sp>
        <p:nvSpPr>
          <p:cNvPr id="9" name="s13-text-7"/>
          <p:cNvSpPr/>
          <p:nvPr/>
        </p:nvSpPr>
        <p:spPr>
          <a:xfrm>
            <a:off x="10863072" y="6528816"/>
            <a:ext cx="777240" cy="210312"/>
          </a:xfrm>
          <a:prstGeom prst="rect">
            <a:avLst/>
          </a:prstGeom>
          <a:noFill/>
          <a:ln/>
        </p:spPr>
        <p:txBody>
          <a:bodyPr wrap="square" lIns="0" tIns="0" rIns="0" bIns="0" rtlCol="0" anchor="t"/>
          <a:lstStyle/>
          <a:p>
            <a:pPr algn="r" indent="0" marL="0">
              <a:buNone/>
            </a:pPr>
            <a:r>
              <a:rPr lang="en-US" sz="1100" dirty="0">
                <a:solidFill>
                  <a:srgbClr val="53DDF2"/>
                </a:solidFill>
                <a:latin typeface="Segoe UI" pitchFamily="34" charset="0"/>
                <a:ea typeface="Segoe UI" pitchFamily="34" charset="-122"/>
                <a:cs typeface="Segoe UI" pitchFamily="34" charset="-120"/>
              </a:rPr>
              <a:t>13 / 17</a:t>
            </a:r>
            <a:endParaRPr lang="en-US" sz="1100" dirty="0"/>
          </a:p>
        </p:txBody>
      </p:sp>
      <p:sp>
        <p:nvSpPr>
          <p:cNvPr id="10" name="Shape 8"/>
          <p:cNvSpPr/>
          <p:nvPr/>
        </p:nvSpPr>
        <p:spPr>
          <a:xfrm>
            <a:off x="548640" y="2011680"/>
            <a:ext cx="2743200" cy="420624"/>
          </a:xfrm>
          <a:prstGeom prst="rect">
            <a:avLst/>
          </a:prstGeom>
          <a:solidFill>
            <a:srgbClr val="203650"/>
          </a:solidFill>
          <a:ln w="12700">
            <a:solidFill>
              <a:srgbClr val="2B405B">
                <a:alpha val="0"/>
              </a:srgbClr>
            </a:solidFill>
            <a:prstDash val="solid"/>
          </a:ln>
        </p:spPr>
      </p:sp>
      <p:sp>
        <p:nvSpPr>
          <p:cNvPr id="11" name="s13-text-8"/>
          <p:cNvSpPr/>
          <p:nvPr/>
        </p:nvSpPr>
        <p:spPr>
          <a:xfrm>
            <a:off x="713232" y="2121408"/>
            <a:ext cx="2414016" cy="201168"/>
          </a:xfrm>
          <a:prstGeom prst="rect">
            <a:avLst/>
          </a:prstGeom>
          <a:noFill/>
          <a:ln/>
        </p:spPr>
        <p:txBody>
          <a:bodyPr wrap="square" lIns="0" tIns="0" rIns="0" bIns="0" rtlCol="0" anchor="t"/>
          <a:lstStyle/>
          <a:p>
            <a:pPr indent="0" marL="0">
              <a:buNone/>
            </a:pPr>
            <a:r>
              <a:rPr lang="en-US" sz="1100" b="1" dirty="0">
                <a:solidFill>
                  <a:srgbClr val="53DDF2"/>
                </a:solidFill>
                <a:latin typeface="Segoe UI" pitchFamily="34" charset="0"/>
                <a:ea typeface="Segoe UI" pitchFamily="34" charset="-122"/>
                <a:cs typeface="Segoe UI" pitchFamily="34" charset="-120"/>
              </a:rPr>
              <a:t>RECEIPT FIELD</a:t>
            </a:r>
            <a:endParaRPr lang="en-US" sz="1100" dirty="0"/>
          </a:p>
        </p:txBody>
      </p:sp>
      <p:sp>
        <p:nvSpPr>
          <p:cNvPr id="12" name="Shape 10"/>
          <p:cNvSpPr/>
          <p:nvPr/>
        </p:nvSpPr>
        <p:spPr>
          <a:xfrm>
            <a:off x="3291840" y="2011680"/>
            <a:ext cx="5074920" cy="420624"/>
          </a:xfrm>
          <a:prstGeom prst="rect">
            <a:avLst/>
          </a:prstGeom>
          <a:solidFill>
            <a:srgbClr val="203650"/>
          </a:solidFill>
          <a:ln w="12700">
            <a:solidFill>
              <a:srgbClr val="2B405B">
                <a:alpha val="0"/>
              </a:srgbClr>
            </a:solidFill>
            <a:prstDash val="solid"/>
          </a:ln>
        </p:spPr>
      </p:sp>
      <p:sp>
        <p:nvSpPr>
          <p:cNvPr id="13" name="s13-text-9"/>
          <p:cNvSpPr/>
          <p:nvPr/>
        </p:nvSpPr>
        <p:spPr>
          <a:xfrm>
            <a:off x="3456432" y="2121408"/>
            <a:ext cx="4745736" cy="201168"/>
          </a:xfrm>
          <a:prstGeom prst="rect">
            <a:avLst/>
          </a:prstGeom>
          <a:noFill/>
          <a:ln/>
        </p:spPr>
        <p:txBody>
          <a:bodyPr wrap="square" lIns="0" tIns="0" rIns="0" bIns="0" rtlCol="0" anchor="t"/>
          <a:lstStyle/>
          <a:p>
            <a:pPr indent="0" marL="0">
              <a:buNone/>
            </a:pPr>
            <a:r>
              <a:rPr lang="en-US" sz="1100" b="1" dirty="0">
                <a:solidFill>
                  <a:srgbClr val="53DDF2"/>
                </a:solidFill>
                <a:latin typeface="Segoe UI" pitchFamily="34" charset="0"/>
                <a:ea typeface="Segoe UI" pitchFamily="34" charset="-122"/>
                <a:cs typeface="Segoe UI" pitchFamily="34" charset="-120"/>
              </a:rPr>
              <a:t>QUESTION ANSWERED</a:t>
            </a:r>
            <a:endParaRPr lang="en-US" sz="1100" dirty="0"/>
          </a:p>
        </p:txBody>
      </p:sp>
      <p:sp>
        <p:nvSpPr>
          <p:cNvPr id="14" name="Shape 12"/>
          <p:cNvSpPr/>
          <p:nvPr/>
        </p:nvSpPr>
        <p:spPr>
          <a:xfrm>
            <a:off x="8366760" y="2011680"/>
            <a:ext cx="3273552" cy="420624"/>
          </a:xfrm>
          <a:prstGeom prst="rect">
            <a:avLst/>
          </a:prstGeom>
          <a:solidFill>
            <a:srgbClr val="203650"/>
          </a:solidFill>
          <a:ln w="12700">
            <a:solidFill>
              <a:srgbClr val="2B405B">
                <a:alpha val="0"/>
              </a:srgbClr>
            </a:solidFill>
            <a:prstDash val="solid"/>
          </a:ln>
        </p:spPr>
      </p:sp>
      <p:sp>
        <p:nvSpPr>
          <p:cNvPr id="15" name="s13-text-10"/>
          <p:cNvSpPr/>
          <p:nvPr/>
        </p:nvSpPr>
        <p:spPr>
          <a:xfrm>
            <a:off x="8531352" y="2121408"/>
            <a:ext cx="2944368" cy="201168"/>
          </a:xfrm>
          <a:prstGeom prst="rect">
            <a:avLst/>
          </a:prstGeom>
          <a:noFill/>
          <a:ln/>
        </p:spPr>
        <p:txBody>
          <a:bodyPr wrap="square" lIns="0" tIns="0" rIns="0" bIns="0" rtlCol="0" anchor="t"/>
          <a:lstStyle/>
          <a:p>
            <a:pPr indent="0" marL="0">
              <a:buNone/>
            </a:pPr>
            <a:r>
              <a:rPr lang="en-US" sz="1100" b="1" dirty="0">
                <a:solidFill>
                  <a:srgbClr val="53DDF2"/>
                </a:solidFill>
                <a:latin typeface="Segoe UI" pitchFamily="34" charset="0"/>
                <a:ea typeface="Segoe UI" pitchFamily="34" charset="-122"/>
                <a:cs typeface="Segoe UI" pitchFamily="34" charset="-120"/>
              </a:rPr>
              <a:t>IMPORTANT LIMIT</a:t>
            </a:r>
            <a:endParaRPr lang="en-US" sz="1100" dirty="0"/>
          </a:p>
        </p:txBody>
      </p:sp>
      <p:sp>
        <p:nvSpPr>
          <p:cNvPr id="16" name="Shape 14"/>
          <p:cNvSpPr/>
          <p:nvPr/>
        </p:nvSpPr>
        <p:spPr>
          <a:xfrm>
            <a:off x="548640" y="2459736"/>
            <a:ext cx="2711196" cy="553212"/>
          </a:xfrm>
          <a:prstGeom prst="rect">
            <a:avLst/>
          </a:prstGeom>
          <a:solidFill>
            <a:srgbClr val="142238"/>
          </a:solidFill>
          <a:ln w="12700">
            <a:solidFill>
              <a:srgbClr val="2B405B">
                <a:alpha val="0"/>
              </a:srgbClr>
            </a:solidFill>
            <a:prstDash val="solid"/>
          </a:ln>
        </p:spPr>
      </p:sp>
      <p:sp>
        <p:nvSpPr>
          <p:cNvPr id="17" name="s13-text-11"/>
          <p:cNvSpPr/>
          <p:nvPr/>
        </p:nvSpPr>
        <p:spPr>
          <a:xfrm>
            <a:off x="694944" y="2551176"/>
            <a:ext cx="2560320" cy="466344"/>
          </a:xfrm>
          <a:prstGeom prst="rect">
            <a:avLst/>
          </a:prstGeom>
          <a:noFill/>
          <a:ln/>
        </p:spPr>
        <p:txBody>
          <a:bodyPr wrap="square" lIns="0" tIns="0" rIns="0" bIns="0" rtlCol="0" anchor="t"/>
          <a:lstStyle/>
          <a:p>
            <a:pPr indent="0" marL="0">
              <a:buNone/>
            </a:pPr>
            <a:r>
              <a:rPr lang="en-US" sz="1400" b="1" dirty="0">
                <a:solidFill>
                  <a:srgbClr val="F3F7FC"/>
                </a:solidFill>
                <a:latin typeface="Segoe UI" pitchFamily="34" charset="0"/>
                <a:ea typeface="Segoe UI" pitchFamily="34" charset="-122"/>
                <a:cs typeface="Segoe UI" pitchFamily="34" charset="-120"/>
              </a:rPr>
              <a:t>Policy ID + hash</a:t>
            </a:r>
            <a:endParaRPr lang="en-US" sz="1400" dirty="0"/>
          </a:p>
        </p:txBody>
      </p:sp>
      <p:sp>
        <p:nvSpPr>
          <p:cNvPr id="18" name="Shape 16"/>
          <p:cNvSpPr/>
          <p:nvPr/>
        </p:nvSpPr>
        <p:spPr>
          <a:xfrm>
            <a:off x="3291840" y="2459736"/>
            <a:ext cx="5042916" cy="553212"/>
          </a:xfrm>
          <a:prstGeom prst="rect">
            <a:avLst/>
          </a:prstGeom>
          <a:solidFill>
            <a:srgbClr val="142238"/>
          </a:solidFill>
          <a:ln w="12700">
            <a:solidFill>
              <a:srgbClr val="2B405B">
                <a:alpha val="0"/>
              </a:srgbClr>
            </a:solidFill>
            <a:prstDash val="solid"/>
          </a:ln>
        </p:spPr>
      </p:sp>
      <p:sp>
        <p:nvSpPr>
          <p:cNvPr id="19" name="s13-text-12"/>
          <p:cNvSpPr/>
          <p:nvPr/>
        </p:nvSpPr>
        <p:spPr>
          <a:xfrm>
            <a:off x="3438144" y="2551176"/>
            <a:ext cx="4892040" cy="466344"/>
          </a:xfrm>
          <a:prstGeom prst="rect">
            <a:avLst/>
          </a:prstGeom>
          <a:noFill/>
          <a:ln/>
        </p:spPr>
        <p:txBody>
          <a:bodyPr wrap="square" lIns="0" tIns="0" rIns="0" bIns="0" rtlCol="0" anchor="t"/>
          <a:lstStyle/>
          <a:p>
            <a:pPr indent="0" marL="0">
              <a:buNone/>
            </a:pPr>
            <a:r>
              <a:rPr lang="en-US" sz="1400" dirty="0">
                <a:solidFill>
                  <a:srgbClr val="A8B8CF"/>
                </a:solidFill>
                <a:latin typeface="Segoe UI" pitchFamily="34" charset="0"/>
                <a:ea typeface="Segoe UI" pitchFamily="34" charset="-122"/>
                <a:cs typeface="Segoe UI" pitchFamily="34" charset="-120"/>
              </a:rPr>
              <a:t>Which reviewed policy applied?</a:t>
            </a:r>
            <a:endParaRPr lang="en-US" sz="1400" dirty="0"/>
          </a:p>
        </p:txBody>
      </p:sp>
      <p:sp>
        <p:nvSpPr>
          <p:cNvPr id="20" name="Shape 18"/>
          <p:cNvSpPr/>
          <p:nvPr/>
        </p:nvSpPr>
        <p:spPr>
          <a:xfrm>
            <a:off x="8366760" y="2459736"/>
            <a:ext cx="3241548" cy="553212"/>
          </a:xfrm>
          <a:prstGeom prst="rect">
            <a:avLst/>
          </a:prstGeom>
          <a:solidFill>
            <a:srgbClr val="142238"/>
          </a:solidFill>
          <a:ln w="12700">
            <a:solidFill>
              <a:srgbClr val="2B405B">
                <a:alpha val="0"/>
              </a:srgbClr>
            </a:solidFill>
            <a:prstDash val="solid"/>
          </a:ln>
        </p:spPr>
      </p:sp>
      <p:sp>
        <p:nvSpPr>
          <p:cNvPr id="21" name="s13-text-13"/>
          <p:cNvSpPr/>
          <p:nvPr/>
        </p:nvSpPr>
        <p:spPr>
          <a:xfrm>
            <a:off x="8513064" y="2551176"/>
            <a:ext cx="3090672" cy="466344"/>
          </a:xfrm>
          <a:prstGeom prst="rect">
            <a:avLst/>
          </a:prstGeom>
          <a:noFill/>
          <a:ln/>
        </p:spPr>
        <p:txBody>
          <a:bodyPr wrap="square" lIns="0" tIns="0" rIns="0" bIns="0" rtlCol="0" anchor="t"/>
          <a:lstStyle/>
          <a:p>
            <a:pPr indent="0" marL="0">
              <a:buNone/>
            </a:pPr>
            <a:r>
              <a:rPr lang="en-US" sz="1400" dirty="0">
                <a:solidFill>
                  <a:srgbClr val="A8B8CF"/>
                </a:solidFill>
                <a:latin typeface="Segoe UI" pitchFamily="34" charset="0"/>
                <a:ea typeface="Segoe UI" pitchFamily="34" charset="-122"/>
                <a:cs typeface="Segoe UI" pitchFamily="34" charset="-120"/>
              </a:rPr>
              <a:t>Not whole-plugin integrity</a:t>
            </a:r>
            <a:endParaRPr lang="en-US" sz="1400" dirty="0"/>
          </a:p>
        </p:txBody>
      </p:sp>
      <p:sp>
        <p:nvSpPr>
          <p:cNvPr id="22" name="Shape 20"/>
          <p:cNvSpPr/>
          <p:nvPr/>
        </p:nvSpPr>
        <p:spPr>
          <a:xfrm>
            <a:off x="548640" y="3054096"/>
            <a:ext cx="2711196" cy="553212"/>
          </a:xfrm>
          <a:prstGeom prst="rect">
            <a:avLst/>
          </a:prstGeom>
          <a:solidFill>
            <a:srgbClr val="0F1B2D"/>
          </a:solidFill>
          <a:ln w="12700">
            <a:solidFill>
              <a:srgbClr val="2B405B">
                <a:alpha val="0"/>
              </a:srgbClr>
            </a:solidFill>
            <a:prstDash val="solid"/>
          </a:ln>
        </p:spPr>
      </p:sp>
      <p:sp>
        <p:nvSpPr>
          <p:cNvPr id="23" name="s13-text-14"/>
          <p:cNvSpPr/>
          <p:nvPr/>
        </p:nvSpPr>
        <p:spPr>
          <a:xfrm>
            <a:off x="694944" y="3145536"/>
            <a:ext cx="2560320" cy="466344"/>
          </a:xfrm>
          <a:prstGeom prst="rect">
            <a:avLst/>
          </a:prstGeom>
          <a:noFill/>
          <a:ln/>
        </p:spPr>
        <p:txBody>
          <a:bodyPr wrap="square" lIns="0" tIns="0" rIns="0" bIns="0" rtlCol="0" anchor="t"/>
          <a:lstStyle/>
          <a:p>
            <a:pPr indent="0" marL="0">
              <a:buNone/>
            </a:pPr>
            <a:r>
              <a:rPr lang="en-US" sz="1400" b="1" dirty="0">
                <a:solidFill>
                  <a:srgbClr val="F3F7FC"/>
                </a:solidFill>
                <a:latin typeface="Segoe UI" pitchFamily="34" charset="0"/>
                <a:ea typeface="Segoe UI" pitchFamily="34" charset="-122"/>
                <a:cs typeface="Segoe UI" pitchFamily="34" charset="-120"/>
              </a:rPr>
              <a:t>Gate checks</a:t>
            </a:r>
            <a:endParaRPr lang="en-US" sz="1400" dirty="0"/>
          </a:p>
        </p:txBody>
      </p:sp>
      <p:sp>
        <p:nvSpPr>
          <p:cNvPr id="24" name="Shape 22"/>
          <p:cNvSpPr/>
          <p:nvPr/>
        </p:nvSpPr>
        <p:spPr>
          <a:xfrm>
            <a:off x="3291840" y="3054096"/>
            <a:ext cx="5042916" cy="553212"/>
          </a:xfrm>
          <a:prstGeom prst="rect">
            <a:avLst/>
          </a:prstGeom>
          <a:solidFill>
            <a:srgbClr val="0F1B2D"/>
          </a:solidFill>
          <a:ln w="12700">
            <a:solidFill>
              <a:srgbClr val="2B405B">
                <a:alpha val="0"/>
              </a:srgbClr>
            </a:solidFill>
            <a:prstDash val="solid"/>
          </a:ln>
        </p:spPr>
      </p:sp>
      <p:sp>
        <p:nvSpPr>
          <p:cNvPr id="25" name="s13-text-15"/>
          <p:cNvSpPr/>
          <p:nvPr/>
        </p:nvSpPr>
        <p:spPr>
          <a:xfrm>
            <a:off x="3438144" y="3145536"/>
            <a:ext cx="4892040" cy="466344"/>
          </a:xfrm>
          <a:prstGeom prst="rect">
            <a:avLst/>
          </a:prstGeom>
          <a:noFill/>
          <a:ln/>
        </p:spPr>
        <p:txBody>
          <a:bodyPr wrap="square" lIns="0" tIns="0" rIns="0" bIns="0" rtlCol="0" anchor="t"/>
          <a:lstStyle/>
          <a:p>
            <a:pPr indent="0" marL="0">
              <a:buNone/>
            </a:pPr>
            <a:r>
              <a:rPr lang="en-US" sz="1400" dirty="0">
                <a:solidFill>
                  <a:srgbClr val="A8B8CF"/>
                </a:solidFill>
                <a:latin typeface="Segoe UI" pitchFamily="34" charset="0"/>
                <a:ea typeface="Segoe UI" pitchFamily="34" charset="-122"/>
                <a:cs typeface="Segoe UI" pitchFamily="34" charset="-120"/>
              </a:rPr>
              <a:t>Which controls ran and decided?</a:t>
            </a:r>
            <a:endParaRPr lang="en-US" sz="1400" dirty="0"/>
          </a:p>
        </p:txBody>
      </p:sp>
      <p:sp>
        <p:nvSpPr>
          <p:cNvPr id="26" name="Shape 24"/>
          <p:cNvSpPr/>
          <p:nvPr/>
        </p:nvSpPr>
        <p:spPr>
          <a:xfrm>
            <a:off x="8366760" y="3054096"/>
            <a:ext cx="3241548" cy="553212"/>
          </a:xfrm>
          <a:prstGeom prst="rect">
            <a:avLst/>
          </a:prstGeom>
          <a:solidFill>
            <a:srgbClr val="0F1B2D"/>
          </a:solidFill>
          <a:ln w="12700">
            <a:solidFill>
              <a:srgbClr val="2B405B">
                <a:alpha val="0"/>
              </a:srgbClr>
            </a:solidFill>
            <a:prstDash val="solid"/>
          </a:ln>
        </p:spPr>
      </p:sp>
      <p:sp>
        <p:nvSpPr>
          <p:cNvPr id="27" name="s13-text-16"/>
          <p:cNvSpPr/>
          <p:nvPr/>
        </p:nvSpPr>
        <p:spPr>
          <a:xfrm>
            <a:off x="8513064" y="3145536"/>
            <a:ext cx="3090672" cy="466344"/>
          </a:xfrm>
          <a:prstGeom prst="rect">
            <a:avLst/>
          </a:prstGeom>
          <a:noFill/>
          <a:ln/>
        </p:spPr>
        <p:txBody>
          <a:bodyPr wrap="square" lIns="0" tIns="0" rIns="0" bIns="0" rtlCol="0" anchor="t"/>
          <a:lstStyle/>
          <a:p>
            <a:pPr indent="0" marL="0">
              <a:buNone/>
            </a:pPr>
            <a:r>
              <a:rPr lang="en-US" sz="1400" dirty="0">
                <a:solidFill>
                  <a:srgbClr val="A8B8CF"/>
                </a:solidFill>
                <a:latin typeface="Segoe UI" pitchFamily="34" charset="0"/>
                <a:ea typeface="Segoe UI" pitchFamily="34" charset="-122"/>
                <a:cs typeface="Segoe UI" pitchFamily="34" charset="-120"/>
              </a:rPr>
              <a:t>Detection remains bounded</a:t>
            </a:r>
            <a:endParaRPr lang="en-US" sz="1400" dirty="0"/>
          </a:p>
        </p:txBody>
      </p:sp>
      <p:sp>
        <p:nvSpPr>
          <p:cNvPr id="28" name="Shape 26"/>
          <p:cNvSpPr/>
          <p:nvPr/>
        </p:nvSpPr>
        <p:spPr>
          <a:xfrm>
            <a:off x="548640" y="3648456"/>
            <a:ext cx="2711196" cy="553212"/>
          </a:xfrm>
          <a:prstGeom prst="rect">
            <a:avLst/>
          </a:prstGeom>
          <a:solidFill>
            <a:srgbClr val="142238"/>
          </a:solidFill>
          <a:ln w="12700">
            <a:solidFill>
              <a:srgbClr val="2B405B">
                <a:alpha val="0"/>
              </a:srgbClr>
            </a:solidFill>
            <a:prstDash val="solid"/>
          </a:ln>
        </p:spPr>
      </p:sp>
      <p:sp>
        <p:nvSpPr>
          <p:cNvPr id="29" name="s13-text-17"/>
          <p:cNvSpPr/>
          <p:nvPr/>
        </p:nvSpPr>
        <p:spPr>
          <a:xfrm>
            <a:off x="694944" y="3739896"/>
            <a:ext cx="2560320" cy="466344"/>
          </a:xfrm>
          <a:prstGeom prst="rect">
            <a:avLst/>
          </a:prstGeom>
          <a:noFill/>
          <a:ln/>
        </p:spPr>
        <p:txBody>
          <a:bodyPr wrap="square" lIns="0" tIns="0" rIns="0" bIns="0" rtlCol="0" anchor="t"/>
          <a:lstStyle/>
          <a:p>
            <a:pPr indent="0" marL="0">
              <a:buNone/>
            </a:pPr>
            <a:r>
              <a:rPr lang="en-US" sz="1400" b="1" dirty="0">
                <a:solidFill>
                  <a:srgbClr val="F3F7FC"/>
                </a:solidFill>
                <a:latin typeface="Segoe UI" pitchFamily="34" charset="0"/>
                <a:ea typeface="Segoe UI" pitchFamily="34" charset="-122"/>
                <a:cs typeface="Segoe UI" pitchFamily="34" charset="-120"/>
              </a:rPr>
              <a:t>Safe findings</a:t>
            </a:r>
            <a:endParaRPr lang="en-US" sz="1400" dirty="0"/>
          </a:p>
        </p:txBody>
      </p:sp>
      <p:sp>
        <p:nvSpPr>
          <p:cNvPr id="30" name="Shape 28"/>
          <p:cNvSpPr/>
          <p:nvPr/>
        </p:nvSpPr>
        <p:spPr>
          <a:xfrm>
            <a:off x="3291840" y="3648456"/>
            <a:ext cx="5042916" cy="553212"/>
          </a:xfrm>
          <a:prstGeom prst="rect">
            <a:avLst/>
          </a:prstGeom>
          <a:solidFill>
            <a:srgbClr val="142238"/>
          </a:solidFill>
          <a:ln w="12700">
            <a:solidFill>
              <a:srgbClr val="2B405B">
                <a:alpha val="0"/>
              </a:srgbClr>
            </a:solidFill>
            <a:prstDash val="solid"/>
          </a:ln>
        </p:spPr>
      </p:sp>
      <p:sp>
        <p:nvSpPr>
          <p:cNvPr id="31" name="s13-text-18"/>
          <p:cNvSpPr/>
          <p:nvPr/>
        </p:nvSpPr>
        <p:spPr>
          <a:xfrm>
            <a:off x="3438144" y="3739896"/>
            <a:ext cx="4892040" cy="466344"/>
          </a:xfrm>
          <a:prstGeom prst="rect">
            <a:avLst/>
          </a:prstGeom>
          <a:noFill/>
          <a:ln/>
        </p:spPr>
        <p:txBody>
          <a:bodyPr wrap="square" lIns="0" tIns="0" rIns="0" bIns="0" rtlCol="0" anchor="t"/>
          <a:lstStyle/>
          <a:p>
            <a:pPr indent="0" marL="0">
              <a:buNone/>
            </a:pPr>
            <a:r>
              <a:rPr lang="en-US" sz="1400" dirty="0">
                <a:solidFill>
                  <a:srgbClr val="A8B8CF"/>
                </a:solidFill>
                <a:latin typeface="Segoe UI" pitchFamily="34" charset="0"/>
                <a:ea typeface="Segoe UI" pitchFamily="34" charset="-122"/>
                <a:cs typeface="Segoe UI" pitchFamily="34" charset="-120"/>
              </a:rPr>
              <a:t>What rule and location matched?</a:t>
            </a:r>
            <a:endParaRPr lang="en-US" sz="1400" dirty="0"/>
          </a:p>
        </p:txBody>
      </p:sp>
      <p:sp>
        <p:nvSpPr>
          <p:cNvPr id="32" name="Shape 30"/>
          <p:cNvSpPr/>
          <p:nvPr/>
        </p:nvSpPr>
        <p:spPr>
          <a:xfrm>
            <a:off x="8366760" y="3648456"/>
            <a:ext cx="3241548" cy="553212"/>
          </a:xfrm>
          <a:prstGeom prst="rect">
            <a:avLst/>
          </a:prstGeom>
          <a:solidFill>
            <a:srgbClr val="142238"/>
          </a:solidFill>
          <a:ln w="12700">
            <a:solidFill>
              <a:srgbClr val="2B405B">
                <a:alpha val="0"/>
              </a:srgbClr>
            </a:solidFill>
            <a:prstDash val="solid"/>
          </a:ln>
        </p:spPr>
      </p:sp>
      <p:sp>
        <p:nvSpPr>
          <p:cNvPr id="33" name="s13-text-19"/>
          <p:cNvSpPr/>
          <p:nvPr/>
        </p:nvSpPr>
        <p:spPr>
          <a:xfrm>
            <a:off x="8513064" y="3739896"/>
            <a:ext cx="3090672" cy="466344"/>
          </a:xfrm>
          <a:prstGeom prst="rect">
            <a:avLst/>
          </a:prstGeom>
          <a:noFill/>
          <a:ln/>
        </p:spPr>
        <p:txBody>
          <a:bodyPr wrap="square" lIns="0" tIns="0" rIns="0" bIns="0" rtlCol="0" anchor="t"/>
          <a:lstStyle/>
          <a:p>
            <a:pPr indent="0" marL="0">
              <a:buNone/>
            </a:pPr>
            <a:r>
              <a:rPr lang="en-US" sz="1400" dirty="0">
                <a:solidFill>
                  <a:srgbClr val="A8B8CF"/>
                </a:solidFill>
                <a:latin typeface="Segoe UI" pitchFamily="34" charset="0"/>
                <a:ea typeface="Segoe UI" pitchFamily="34" charset="-122"/>
                <a:cs typeface="Segoe UI" pitchFamily="34" charset="-120"/>
              </a:rPr>
              <a:t>Raw sensitive value is omitted</a:t>
            </a:r>
            <a:endParaRPr lang="en-US" sz="1400" dirty="0"/>
          </a:p>
        </p:txBody>
      </p:sp>
      <p:sp>
        <p:nvSpPr>
          <p:cNvPr id="34" name="Shape 32"/>
          <p:cNvSpPr/>
          <p:nvPr/>
        </p:nvSpPr>
        <p:spPr>
          <a:xfrm>
            <a:off x="548640" y="4242816"/>
            <a:ext cx="2711196" cy="553212"/>
          </a:xfrm>
          <a:prstGeom prst="rect">
            <a:avLst/>
          </a:prstGeom>
          <a:solidFill>
            <a:srgbClr val="0F1B2D"/>
          </a:solidFill>
          <a:ln w="12700">
            <a:solidFill>
              <a:srgbClr val="2B405B">
                <a:alpha val="0"/>
              </a:srgbClr>
            </a:solidFill>
            <a:prstDash val="solid"/>
          </a:ln>
        </p:spPr>
      </p:sp>
      <p:sp>
        <p:nvSpPr>
          <p:cNvPr id="35" name="s13-text-20"/>
          <p:cNvSpPr/>
          <p:nvPr/>
        </p:nvSpPr>
        <p:spPr>
          <a:xfrm>
            <a:off x="694944" y="4334256"/>
            <a:ext cx="2560320" cy="466344"/>
          </a:xfrm>
          <a:prstGeom prst="rect">
            <a:avLst/>
          </a:prstGeom>
          <a:noFill/>
          <a:ln/>
        </p:spPr>
        <p:txBody>
          <a:bodyPr wrap="square" lIns="0" tIns="0" rIns="0" bIns="0" rtlCol="0" anchor="t"/>
          <a:lstStyle/>
          <a:p>
            <a:pPr indent="0" marL="0">
              <a:buNone/>
            </a:pPr>
            <a:r>
              <a:rPr lang="en-US" sz="1400" b="1" dirty="0">
                <a:solidFill>
                  <a:srgbClr val="F3F7FC"/>
                </a:solidFill>
                <a:latin typeface="Segoe UI" pitchFamily="34" charset="0"/>
                <a:ea typeface="Segoe UI" pitchFamily="34" charset="-122"/>
                <a:cs typeface="Segoe UI" pitchFamily="34" charset="-120"/>
              </a:rPr>
              <a:t>Execution state</a:t>
            </a:r>
            <a:endParaRPr lang="en-US" sz="1400" dirty="0"/>
          </a:p>
        </p:txBody>
      </p:sp>
      <p:sp>
        <p:nvSpPr>
          <p:cNvPr id="36" name="Shape 34"/>
          <p:cNvSpPr/>
          <p:nvPr/>
        </p:nvSpPr>
        <p:spPr>
          <a:xfrm>
            <a:off x="3291840" y="4242816"/>
            <a:ext cx="5042916" cy="553212"/>
          </a:xfrm>
          <a:prstGeom prst="rect">
            <a:avLst/>
          </a:prstGeom>
          <a:solidFill>
            <a:srgbClr val="0F1B2D"/>
          </a:solidFill>
          <a:ln w="12700">
            <a:solidFill>
              <a:srgbClr val="2B405B">
                <a:alpha val="0"/>
              </a:srgbClr>
            </a:solidFill>
            <a:prstDash val="solid"/>
          </a:ln>
        </p:spPr>
      </p:sp>
      <p:sp>
        <p:nvSpPr>
          <p:cNvPr id="37" name="s13-text-21"/>
          <p:cNvSpPr/>
          <p:nvPr/>
        </p:nvSpPr>
        <p:spPr>
          <a:xfrm>
            <a:off x="3438144" y="4334256"/>
            <a:ext cx="4892040" cy="466344"/>
          </a:xfrm>
          <a:prstGeom prst="rect">
            <a:avLst/>
          </a:prstGeom>
          <a:noFill/>
          <a:ln/>
        </p:spPr>
        <p:txBody>
          <a:bodyPr wrap="square" lIns="0" tIns="0" rIns="0" bIns="0" rtlCol="0" anchor="t"/>
          <a:lstStyle/>
          <a:p>
            <a:pPr indent="0" marL="0">
              <a:buNone/>
            </a:pPr>
            <a:r>
              <a:rPr lang="en-US" sz="1400" dirty="0">
                <a:solidFill>
                  <a:srgbClr val="A8B8CF"/>
                </a:solidFill>
                <a:latin typeface="Segoe UI" pitchFamily="34" charset="0"/>
                <a:ea typeface="Segoe UI" pitchFamily="34" charset="-122"/>
                <a:cs typeface="Segoe UI" pitchFamily="34" charset="-120"/>
              </a:rPr>
              <a:t>Did this executor start?</a:t>
            </a:r>
            <a:endParaRPr lang="en-US" sz="1400" dirty="0"/>
          </a:p>
        </p:txBody>
      </p:sp>
      <p:sp>
        <p:nvSpPr>
          <p:cNvPr id="38" name="Shape 36"/>
          <p:cNvSpPr/>
          <p:nvPr/>
        </p:nvSpPr>
        <p:spPr>
          <a:xfrm>
            <a:off x="8366760" y="4242816"/>
            <a:ext cx="3241548" cy="553212"/>
          </a:xfrm>
          <a:prstGeom prst="rect">
            <a:avLst/>
          </a:prstGeom>
          <a:solidFill>
            <a:srgbClr val="0F1B2D"/>
          </a:solidFill>
          <a:ln w="12700">
            <a:solidFill>
              <a:srgbClr val="2B405B">
                <a:alpha val="0"/>
              </a:srgbClr>
            </a:solidFill>
            <a:prstDash val="solid"/>
          </a:ln>
        </p:spPr>
      </p:sp>
      <p:sp>
        <p:nvSpPr>
          <p:cNvPr id="39" name="s13-text-22"/>
          <p:cNvSpPr/>
          <p:nvPr/>
        </p:nvSpPr>
        <p:spPr>
          <a:xfrm>
            <a:off x="8513064" y="4334256"/>
            <a:ext cx="3090672" cy="466344"/>
          </a:xfrm>
          <a:prstGeom prst="rect">
            <a:avLst/>
          </a:prstGeom>
          <a:noFill/>
          <a:ln/>
        </p:spPr>
        <p:txBody>
          <a:bodyPr wrap="square" lIns="0" tIns="0" rIns="0" bIns="0" rtlCol="0" anchor="t"/>
          <a:lstStyle/>
          <a:p>
            <a:pPr indent="0" marL="0">
              <a:buNone/>
            </a:pPr>
            <a:r>
              <a:rPr lang="en-US" sz="1400" dirty="0">
                <a:solidFill>
                  <a:srgbClr val="A8B8CF"/>
                </a:solidFill>
                <a:latin typeface="Segoe UI" pitchFamily="34" charset="0"/>
                <a:ea typeface="Segoe UI" pitchFamily="34" charset="-122"/>
                <a:cs typeface="Segoe UI" pitchFamily="34" charset="-120"/>
              </a:rPr>
              <a:t>Does not prove no alternate route existed</a:t>
            </a:r>
            <a:endParaRPr lang="en-US" sz="1400" dirty="0"/>
          </a:p>
        </p:txBody>
      </p:sp>
      <p:sp>
        <p:nvSpPr>
          <p:cNvPr id="40" name="Shape 38"/>
          <p:cNvSpPr/>
          <p:nvPr/>
        </p:nvSpPr>
        <p:spPr>
          <a:xfrm>
            <a:off x="548640" y="4837176"/>
            <a:ext cx="2711196" cy="553212"/>
          </a:xfrm>
          <a:prstGeom prst="rect">
            <a:avLst/>
          </a:prstGeom>
          <a:solidFill>
            <a:srgbClr val="142238"/>
          </a:solidFill>
          <a:ln w="12700">
            <a:solidFill>
              <a:srgbClr val="2B405B">
                <a:alpha val="0"/>
              </a:srgbClr>
            </a:solidFill>
            <a:prstDash val="solid"/>
          </a:ln>
        </p:spPr>
      </p:sp>
      <p:sp>
        <p:nvSpPr>
          <p:cNvPr id="41" name="s13-text-23"/>
          <p:cNvSpPr/>
          <p:nvPr/>
        </p:nvSpPr>
        <p:spPr>
          <a:xfrm>
            <a:off x="694944" y="4928616"/>
            <a:ext cx="2560320" cy="466344"/>
          </a:xfrm>
          <a:prstGeom prst="rect">
            <a:avLst/>
          </a:prstGeom>
          <a:noFill/>
          <a:ln/>
        </p:spPr>
        <p:txBody>
          <a:bodyPr wrap="square" lIns="0" tIns="0" rIns="0" bIns="0" rtlCol="0" anchor="t"/>
          <a:lstStyle/>
          <a:p>
            <a:pPr indent="0" marL="0">
              <a:buNone/>
            </a:pPr>
            <a:r>
              <a:rPr lang="en-US" sz="1400" b="1" dirty="0">
                <a:solidFill>
                  <a:srgbClr val="F3F7FC"/>
                </a:solidFill>
                <a:latin typeface="Segoe UI" pitchFamily="34" charset="0"/>
                <a:ea typeface="Segoe UI" pitchFamily="34" charset="-122"/>
                <a:cs typeface="Segoe UI" pitchFamily="34" charset="-120"/>
              </a:rPr>
              <a:t>Artifact / error</a:t>
            </a:r>
            <a:endParaRPr lang="en-US" sz="1400" dirty="0"/>
          </a:p>
        </p:txBody>
      </p:sp>
      <p:sp>
        <p:nvSpPr>
          <p:cNvPr id="42" name="Shape 40"/>
          <p:cNvSpPr/>
          <p:nvPr/>
        </p:nvSpPr>
        <p:spPr>
          <a:xfrm>
            <a:off x="3291840" y="4837176"/>
            <a:ext cx="5042916" cy="553212"/>
          </a:xfrm>
          <a:prstGeom prst="rect">
            <a:avLst/>
          </a:prstGeom>
          <a:solidFill>
            <a:srgbClr val="142238"/>
          </a:solidFill>
          <a:ln w="12700">
            <a:solidFill>
              <a:srgbClr val="2B405B">
                <a:alpha val="0"/>
              </a:srgbClr>
            </a:solidFill>
            <a:prstDash val="solid"/>
          </a:ln>
        </p:spPr>
      </p:sp>
      <p:sp>
        <p:nvSpPr>
          <p:cNvPr id="43" name="s13-text-24"/>
          <p:cNvSpPr/>
          <p:nvPr/>
        </p:nvSpPr>
        <p:spPr>
          <a:xfrm>
            <a:off x="3438144" y="4928616"/>
            <a:ext cx="4892040" cy="466344"/>
          </a:xfrm>
          <a:prstGeom prst="rect">
            <a:avLst/>
          </a:prstGeom>
          <a:noFill/>
          <a:ln/>
        </p:spPr>
        <p:txBody>
          <a:bodyPr wrap="square" lIns="0" tIns="0" rIns="0" bIns="0" rtlCol="0" anchor="t"/>
          <a:lstStyle/>
          <a:p>
            <a:pPr indent="0" marL="0">
              <a:buNone/>
            </a:pPr>
            <a:r>
              <a:rPr lang="en-US" sz="1400" dirty="0">
                <a:solidFill>
                  <a:srgbClr val="A8B8CF"/>
                </a:solidFill>
                <a:latin typeface="Segoe UI" pitchFamily="34" charset="0"/>
                <a:ea typeface="Segoe UI" pitchFamily="34" charset="-122"/>
                <a:cs typeface="Segoe UI" pitchFamily="34" charset="-120"/>
              </a:rPr>
              <a:t>What happened after allow?</a:t>
            </a:r>
            <a:endParaRPr lang="en-US" sz="1400" dirty="0"/>
          </a:p>
        </p:txBody>
      </p:sp>
      <p:sp>
        <p:nvSpPr>
          <p:cNvPr id="44" name="Shape 42"/>
          <p:cNvSpPr/>
          <p:nvPr/>
        </p:nvSpPr>
        <p:spPr>
          <a:xfrm>
            <a:off x="8366760" y="4837176"/>
            <a:ext cx="3241548" cy="553212"/>
          </a:xfrm>
          <a:prstGeom prst="rect">
            <a:avLst/>
          </a:prstGeom>
          <a:solidFill>
            <a:srgbClr val="142238"/>
          </a:solidFill>
          <a:ln w="12700">
            <a:solidFill>
              <a:srgbClr val="2B405B">
                <a:alpha val="0"/>
              </a:srgbClr>
            </a:solidFill>
            <a:prstDash val="solid"/>
          </a:ln>
        </p:spPr>
      </p:sp>
      <p:sp>
        <p:nvSpPr>
          <p:cNvPr id="45" name="s13-text-25"/>
          <p:cNvSpPr/>
          <p:nvPr/>
        </p:nvSpPr>
        <p:spPr>
          <a:xfrm>
            <a:off x="8513064" y="4928616"/>
            <a:ext cx="3090672" cy="466344"/>
          </a:xfrm>
          <a:prstGeom prst="rect">
            <a:avLst/>
          </a:prstGeom>
          <a:noFill/>
          <a:ln/>
        </p:spPr>
        <p:txBody>
          <a:bodyPr wrap="square" lIns="0" tIns="0" rIns="0" bIns="0" rtlCol="0" anchor="t"/>
          <a:lstStyle/>
          <a:p>
            <a:pPr indent="0" marL="0">
              <a:buNone/>
            </a:pPr>
            <a:r>
              <a:rPr lang="en-US" sz="1400" dirty="0">
                <a:solidFill>
                  <a:srgbClr val="A8B8CF"/>
                </a:solidFill>
                <a:latin typeface="Segoe UI" pitchFamily="34" charset="0"/>
                <a:ea typeface="Segoe UI" pitchFamily="34" charset="-122"/>
                <a:cs typeface="Segoe UI" pitchFamily="34" charset="-120"/>
              </a:rPr>
              <a:t>External effects may require stronger attestation</a:t>
            </a:r>
            <a:endParaRPr lang="en-US" sz="1400" dirty="0"/>
          </a:p>
        </p:txBody>
      </p:sp>
      <p:sp>
        <p:nvSpPr>
          <p:cNvPr id="46" name="Shape 44"/>
          <p:cNvSpPr/>
          <p:nvPr/>
        </p:nvSpPr>
        <p:spPr>
          <a:xfrm>
            <a:off x="548640" y="5687568"/>
            <a:ext cx="11091672" cy="585216"/>
          </a:xfrm>
          <a:prstGeom prst="roundRect">
            <a:avLst>
              <a:gd name="adj" fmla="val 25000"/>
            </a:avLst>
          </a:prstGeom>
          <a:solidFill>
            <a:srgbClr val="142238"/>
          </a:solidFill>
          <a:ln w="10160">
            <a:solidFill>
              <a:srgbClr val="2B405B"/>
            </a:solidFill>
            <a:prstDash val="solid"/>
          </a:ln>
        </p:spPr>
      </p:sp>
      <p:sp>
        <p:nvSpPr>
          <p:cNvPr id="47" name="Shape 45"/>
          <p:cNvSpPr/>
          <p:nvPr/>
        </p:nvSpPr>
        <p:spPr>
          <a:xfrm>
            <a:off x="548640" y="5687568"/>
            <a:ext cx="41148" cy="585216"/>
          </a:xfrm>
          <a:prstGeom prst="rect">
            <a:avLst/>
          </a:prstGeom>
          <a:solidFill>
            <a:srgbClr val="53DDF2"/>
          </a:solidFill>
          <a:ln w="12700">
            <a:solidFill>
              <a:srgbClr val="2B405B">
                <a:alpha val="0"/>
              </a:srgbClr>
            </a:solidFill>
            <a:prstDash val="solid"/>
          </a:ln>
        </p:spPr>
      </p:sp>
      <p:sp>
        <p:nvSpPr>
          <p:cNvPr id="48" name="s13-text-26"/>
          <p:cNvSpPr/>
          <p:nvPr/>
        </p:nvSpPr>
        <p:spPr>
          <a:xfrm>
            <a:off x="758952" y="5833872"/>
            <a:ext cx="10652760" cy="292608"/>
          </a:xfrm>
          <a:prstGeom prst="rect">
            <a:avLst/>
          </a:prstGeom>
          <a:noFill/>
          <a:ln/>
        </p:spPr>
        <p:txBody>
          <a:bodyPr wrap="square" lIns="0" tIns="0" rIns="0" bIns="0" rtlCol="0" anchor="t"/>
          <a:lstStyle/>
          <a:p>
            <a:pPr indent="0" marL="0">
              <a:buNone/>
            </a:pPr>
            <a:r>
              <a:rPr lang="en-US" sz="1600" dirty="0">
                <a:solidFill>
                  <a:srgbClr val="53DDF2"/>
                </a:solidFill>
                <a:latin typeface="Segoe UI" pitchFamily="34" charset="0"/>
                <a:ea typeface="Segoe UI" pitchFamily="34" charset="-122"/>
                <a:cs typeface="Segoe UI" pitchFamily="34" charset="-120"/>
              </a:rPr>
              <a:t>Evidence is part of the control path, not an after-the-fact log message.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20"/>
        </a:solidFill>
      </p:bgPr>
    </p:bg>
    <p:spTree>
      <p:nvGrpSpPr>
        <p:cNvPr id="1" name=""/>
        <p:cNvGrpSpPr/>
        <p:nvPr/>
      </p:nvGrpSpPr>
      <p:grpSpPr>
        <a:xfrm>
          <a:off x="0" y="0"/>
          <a:ext cx="0" cy="0"/>
          <a:chOff x="0" y="0"/>
          <a:chExt cx="0" cy="0"/>
        </a:xfrm>
      </p:grpSpPr>
      <p:sp>
        <p:nvSpPr>
          <p:cNvPr id="2" name="s14-text-1"/>
          <p:cNvSpPr/>
          <p:nvPr/>
        </p:nvSpPr>
        <p:spPr>
          <a:xfrm>
            <a:off x="548640" y="219456"/>
            <a:ext cx="2834640" cy="219456"/>
          </a:xfrm>
          <a:prstGeom prst="rect">
            <a:avLst/>
          </a:prstGeom>
          <a:noFill/>
          <a:ln/>
        </p:spPr>
        <p:txBody>
          <a:bodyPr wrap="square" lIns="0" tIns="0" rIns="0" bIns="0" rtlCol="0" anchor="t"/>
          <a:lstStyle/>
          <a:p>
            <a:pPr indent="0" marL="0">
              <a:buNone/>
            </a:pPr>
            <a:r>
              <a:rPr lang="en-US" sz="1300" b="1" spc="80" kern="0" dirty="0">
                <a:solidFill>
                  <a:srgbClr val="53DDF2"/>
                </a:solidFill>
                <a:latin typeface="Segoe UI" pitchFamily="34" charset="0"/>
                <a:ea typeface="Segoe UI" pitchFamily="34" charset="-122"/>
                <a:cs typeface="Segoe UI" pitchFamily="34" charset="-120"/>
              </a:rPr>
              <a:t>AGENT AIRLOCK</a:t>
            </a:r>
            <a:endParaRPr lang="en-US" sz="1300" dirty="0"/>
          </a:p>
        </p:txBody>
      </p:sp>
      <p:sp>
        <p:nvSpPr>
          <p:cNvPr id="3" name="s14-text-2"/>
          <p:cNvSpPr/>
          <p:nvPr/>
        </p:nvSpPr>
        <p:spPr>
          <a:xfrm>
            <a:off x="3657600" y="237744"/>
            <a:ext cx="4663440" cy="201168"/>
          </a:xfrm>
          <a:prstGeom prst="rect">
            <a:avLst/>
          </a:prstGeom>
          <a:noFill/>
          <a:ln/>
        </p:spPr>
        <p:txBody>
          <a:bodyPr wrap="square" lIns="0" tIns="0" rIns="0" bIns="0" rtlCol="0" anchor="t"/>
          <a:lstStyle/>
          <a:p>
            <a:pPr algn="ctr" indent="0" marL="0">
              <a:buNone/>
            </a:pPr>
            <a:r>
              <a:rPr lang="en-US" sz="1100" spc="100" kern="0" dirty="0">
                <a:solidFill>
                  <a:srgbClr val="A8B8CF"/>
                </a:solidFill>
                <a:latin typeface="Segoe UI" pitchFamily="34" charset="0"/>
                <a:ea typeface="Segoe UI" pitchFamily="34" charset="-122"/>
                <a:cs typeface="Segoe UI" pitchFamily="34" charset="-120"/>
              </a:rPr>
              <a:t>EXTENSIBILITY</a:t>
            </a:r>
            <a:endParaRPr lang="en-US" sz="1100" dirty="0"/>
          </a:p>
        </p:txBody>
      </p:sp>
      <p:sp>
        <p:nvSpPr>
          <p:cNvPr id="4" name="s14-text-3"/>
          <p:cNvSpPr/>
          <p:nvPr/>
        </p:nvSpPr>
        <p:spPr>
          <a:xfrm>
            <a:off x="8412480" y="237744"/>
            <a:ext cx="3227832" cy="201168"/>
          </a:xfrm>
          <a:prstGeom prst="rect">
            <a:avLst/>
          </a:prstGeom>
          <a:noFill/>
          <a:ln/>
        </p:spPr>
        <p:txBody>
          <a:bodyPr wrap="square" lIns="0" tIns="0" rIns="0" bIns="0" rtlCol="0" anchor="t"/>
          <a:lstStyle/>
          <a:p>
            <a:pPr algn="r" indent="0" marL="0">
              <a:buNone/>
            </a:pPr>
            <a:r>
              <a:rPr lang="en-US" sz="1050" dirty="0">
                <a:solidFill>
                  <a:srgbClr val="A8B8CF"/>
                </a:solidFill>
                <a:latin typeface="Segoe UI" pitchFamily="34" charset="0"/>
                <a:ea typeface="Segoe UI" pitchFamily="34" charset="-122"/>
                <a:cs typeface="Segoe UI" pitchFamily="34" charset="-120"/>
              </a:rPr>
              <a:t>TEAM SHOWCASE</a:t>
            </a:r>
            <a:endParaRPr lang="en-US" sz="1050" dirty="0"/>
          </a:p>
        </p:txBody>
      </p:sp>
      <p:sp>
        <p:nvSpPr>
          <p:cNvPr id="5" name="s14-text-4"/>
          <p:cNvSpPr/>
          <p:nvPr/>
        </p:nvSpPr>
        <p:spPr>
          <a:xfrm>
            <a:off x="548640" y="640080"/>
            <a:ext cx="11091672" cy="914400"/>
          </a:xfrm>
          <a:prstGeom prst="rect">
            <a:avLst/>
          </a:prstGeom>
          <a:noFill/>
          <a:ln/>
        </p:spPr>
        <p:txBody>
          <a:bodyPr wrap="square" lIns="0" tIns="0" rIns="0" bIns="0" rtlCol="0" anchor="t"/>
          <a:lstStyle/>
          <a:p>
            <a:pPr indent="0" marL="0">
              <a:buNone/>
            </a:pPr>
            <a:r>
              <a:rPr lang="en-US" sz="3000" b="1" dirty="0">
                <a:solidFill>
                  <a:srgbClr val="F3F7FC"/>
                </a:solidFill>
                <a:latin typeface="Segoe UI" pitchFamily="34" charset="0"/>
                <a:ea typeface="Segoe UI" pitchFamily="34" charset="-122"/>
                <a:cs typeface="Segoe UI" pitchFamily="34" charset="-120"/>
              </a:rPr>
              <a:t>Adding a gate is intentionally small</a:t>
            </a:r>
            <a:endParaRPr lang="en-US" sz="3000" dirty="0"/>
          </a:p>
        </p:txBody>
      </p:sp>
      <p:sp>
        <p:nvSpPr>
          <p:cNvPr id="6" name="s14-text-5"/>
          <p:cNvSpPr/>
          <p:nvPr/>
        </p:nvSpPr>
        <p:spPr>
          <a:xfrm>
            <a:off x="548640" y="1600200"/>
            <a:ext cx="11091672" cy="338328"/>
          </a:xfrm>
          <a:prstGeom prst="rect">
            <a:avLst/>
          </a:prstGeom>
          <a:noFill/>
          <a:ln/>
        </p:spPr>
        <p:txBody>
          <a:bodyPr wrap="square" lIns="0" tIns="0" rIns="0" bIns="0" rtlCol="0" anchor="t"/>
          <a:lstStyle/>
          <a:p>
            <a:pPr indent="0" marL="0">
              <a:buNone/>
            </a:pPr>
            <a:r>
              <a:rPr lang="en-US" sz="1550" dirty="0">
                <a:solidFill>
                  <a:srgbClr val="A8B8CF"/>
                </a:solidFill>
                <a:latin typeface="Segoe UI" pitchFamily="34" charset="0"/>
                <a:ea typeface="Segoe UI" pitchFamily="34" charset="-122"/>
                <a:cs typeface="Segoe UI" pitchFamily="34" charset="-120"/>
              </a:rPr>
              <a:t>New checks plug into a stable result contract without owning the side effect.</a:t>
            </a:r>
            <a:endParaRPr lang="en-US" sz="1550" dirty="0"/>
          </a:p>
        </p:txBody>
      </p:sp>
      <p:sp>
        <p:nvSpPr>
          <p:cNvPr id="7" name="Shape 5"/>
          <p:cNvSpPr/>
          <p:nvPr/>
        </p:nvSpPr>
        <p:spPr>
          <a:xfrm>
            <a:off x="548640" y="6446520"/>
            <a:ext cx="11091672" cy="0"/>
          </a:xfrm>
          <a:prstGeom prst="line">
            <a:avLst/>
          </a:prstGeom>
          <a:solidFill>
            <a:srgbClr val="142238"/>
          </a:solidFill>
          <a:ln w="7620">
            <a:solidFill>
              <a:srgbClr val="2B405B"/>
            </a:solidFill>
            <a:prstDash val="solid"/>
          </a:ln>
        </p:spPr>
      </p:sp>
      <p:sp>
        <p:nvSpPr>
          <p:cNvPr id="8" name="s14-text-6"/>
          <p:cNvSpPr/>
          <p:nvPr/>
        </p:nvSpPr>
        <p:spPr>
          <a:xfrm>
            <a:off x="548640" y="6556248"/>
            <a:ext cx="5852160" cy="164592"/>
          </a:xfrm>
          <a:prstGeom prst="rect">
            <a:avLst/>
          </a:prstGeom>
          <a:noFill/>
          <a:ln/>
        </p:spPr>
        <p:txBody>
          <a:bodyPr wrap="square" lIns="0" tIns="0" rIns="0" bIns="0" rtlCol="0" anchor="t"/>
          <a:lstStyle/>
          <a:p>
            <a:pPr indent="0" marL="0">
              <a:buNone/>
            </a:pPr>
            <a:r>
              <a:rPr lang="en-US" sz="950" dirty="0">
                <a:solidFill>
                  <a:srgbClr val="A8B8CF"/>
                </a:solidFill>
                <a:latin typeface="Segoe UI" pitchFamily="34" charset="0"/>
                <a:ea typeface="Segoe UI" pitchFamily="34" charset="-122"/>
                <a:cs typeface="Segoe UI" pitchFamily="34" charset="-120"/>
              </a:rPr>
              <a:t>PROTOTYPE  |  POLICY-GOVERNED AGENT ACTIONS</a:t>
            </a:r>
            <a:endParaRPr lang="en-US" sz="950" dirty="0"/>
          </a:p>
        </p:txBody>
      </p:sp>
      <p:sp>
        <p:nvSpPr>
          <p:cNvPr id="9" name="s14-text-7"/>
          <p:cNvSpPr/>
          <p:nvPr/>
        </p:nvSpPr>
        <p:spPr>
          <a:xfrm>
            <a:off x="10863072" y="6528816"/>
            <a:ext cx="777240" cy="210312"/>
          </a:xfrm>
          <a:prstGeom prst="rect">
            <a:avLst/>
          </a:prstGeom>
          <a:noFill/>
          <a:ln/>
        </p:spPr>
        <p:txBody>
          <a:bodyPr wrap="square" lIns="0" tIns="0" rIns="0" bIns="0" rtlCol="0" anchor="t"/>
          <a:lstStyle/>
          <a:p>
            <a:pPr algn="r" indent="0" marL="0">
              <a:buNone/>
            </a:pPr>
            <a:r>
              <a:rPr lang="en-US" sz="1100" dirty="0">
                <a:solidFill>
                  <a:srgbClr val="53DDF2"/>
                </a:solidFill>
                <a:latin typeface="Segoe UI" pitchFamily="34" charset="0"/>
                <a:ea typeface="Segoe UI" pitchFamily="34" charset="-122"/>
                <a:cs typeface="Segoe UI" pitchFamily="34" charset="-120"/>
              </a:rPr>
              <a:t>14 / 17</a:t>
            </a:r>
            <a:endParaRPr lang="en-US" sz="1100" dirty="0"/>
          </a:p>
        </p:txBody>
      </p:sp>
      <p:sp>
        <p:nvSpPr>
          <p:cNvPr id="10" name="Shape 8"/>
          <p:cNvSpPr/>
          <p:nvPr/>
        </p:nvSpPr>
        <p:spPr>
          <a:xfrm>
            <a:off x="548640" y="1965960"/>
            <a:ext cx="6601968" cy="3502152"/>
          </a:xfrm>
          <a:prstGeom prst="roundRect">
            <a:avLst>
              <a:gd name="adj" fmla="val 4178"/>
            </a:avLst>
          </a:prstGeom>
          <a:solidFill>
            <a:srgbClr val="142238"/>
          </a:solidFill>
          <a:ln w="10160">
            <a:solidFill>
              <a:srgbClr val="2B405B"/>
            </a:solidFill>
            <a:prstDash val="solid"/>
          </a:ln>
        </p:spPr>
      </p:sp>
      <p:sp>
        <p:nvSpPr>
          <p:cNvPr id="11" name="s14-text-8"/>
          <p:cNvSpPr/>
          <p:nvPr/>
        </p:nvSpPr>
        <p:spPr>
          <a:xfrm>
            <a:off x="768096" y="2130552"/>
            <a:ext cx="6163056" cy="219456"/>
          </a:xfrm>
          <a:prstGeom prst="rect">
            <a:avLst/>
          </a:prstGeom>
          <a:noFill/>
          <a:ln/>
        </p:spPr>
        <p:txBody>
          <a:bodyPr wrap="square" lIns="0" tIns="0" rIns="0" bIns="0" rtlCol="0" anchor="t"/>
          <a:lstStyle/>
          <a:p>
            <a:pPr indent="0" marL="0">
              <a:buNone/>
            </a:pPr>
            <a:r>
              <a:rPr lang="en-US" sz="1100" b="1" spc="120" kern="0" dirty="0">
                <a:solidFill>
                  <a:srgbClr val="53DDF2"/>
                </a:solidFill>
                <a:latin typeface="Segoe UI" pitchFamily="34" charset="0"/>
                <a:ea typeface="Segoe UI" pitchFamily="34" charset="-122"/>
                <a:cs typeface="Segoe UI" pitchFamily="34" charset="-120"/>
              </a:rPr>
              <a:t>Gate shape / safe result</a:t>
            </a:r>
            <a:endParaRPr lang="en-US" sz="1100" dirty="0"/>
          </a:p>
        </p:txBody>
      </p:sp>
      <p:sp>
        <p:nvSpPr>
          <p:cNvPr id="12" name="s14-text-9"/>
          <p:cNvSpPr/>
          <p:nvPr/>
        </p:nvSpPr>
        <p:spPr>
          <a:xfrm>
            <a:off x="768096" y="2596896"/>
            <a:ext cx="6163056" cy="2679192"/>
          </a:xfrm>
          <a:prstGeom prst="rect">
            <a:avLst/>
          </a:prstGeom>
          <a:noFill/>
          <a:ln/>
        </p:spPr>
        <p:txBody>
          <a:bodyPr wrap="square" lIns="0" tIns="0" rIns="0" bIns="0" rtlCol="0" anchor="t"/>
          <a:lstStyle/>
          <a:p>
            <a:pPr indent="0" marL="0">
              <a:buNone/>
            </a:pPr>
            <a:r>
              <a:rPr lang="en-US" sz="1600" dirty="0">
                <a:solidFill>
                  <a:srgbClr val="F3F7FC"/>
                </a:solidFill>
                <a:latin typeface="Consolas" pitchFamily="34" charset="0"/>
                <a:ea typeface="Consolas" pitchFamily="34" charset="-122"/>
                <a:cs typeface="Consolas" pitchFamily="34" charset="-120"/>
              </a:rPr>
              <a:t>{</a:t>
            </a:r>
            <a:endParaRPr lang="en-US" sz="1600" dirty="0"/>
          </a:p>
          <a:p>
            <a:pPr indent="0" marL="0">
              <a:buNone/>
            </a:pPr>
            <a:r>
              <a:rPr lang="en-US" sz="1600" dirty="0">
                <a:solidFill>
                  <a:srgbClr val="F3F7FC"/>
                </a:solidFill>
                <a:latin typeface="Consolas" pitchFamily="34" charset="0"/>
                <a:ea typeface="Consolas" pitchFamily="34" charset="-122"/>
                <a:cs typeface="Consolas" pitchFamily="34" charset="-120"/>
              </a:rPr>
              <a:t>  id: "reviewed-check",</a:t>
            </a:r>
            <a:endParaRPr lang="en-US" sz="1600" dirty="0"/>
          </a:p>
          <a:p>
            <a:pPr indent="0" marL="0">
              <a:buNone/>
            </a:pPr>
            <a:r>
              <a:rPr lang="en-US" sz="1600" dirty="0">
                <a:solidFill>
                  <a:srgbClr val="F3F7FC"/>
                </a:solidFill>
                <a:latin typeface="Consolas" pitchFamily="34" charset="0"/>
                <a:ea typeface="Consolas" pitchFamily="34" charset="-122"/>
                <a:cs typeface="Consolas" pitchFamily="34" charset="-120"/>
              </a:rPr>
              <a:t>  failureReason: "check-failed",</a:t>
            </a:r>
            <a:endParaRPr lang="en-US" sz="1600" dirty="0"/>
          </a:p>
          <a:p>
            <a:pPr indent="0" marL="0">
              <a:buNone/>
            </a:pPr>
            <a:r>
              <a:rPr lang="en-US" sz="1600" dirty="0">
                <a:solidFill>
                  <a:srgbClr val="F3F7FC"/>
                </a:solidFill>
                <a:latin typeface="Consolas" pitchFamily="34" charset="0"/>
                <a:ea typeface="Consolas" pitchFamily="34" charset="-122"/>
                <a:cs typeface="Consolas" pitchFamily="34" charset="-120"/>
              </a:rPr>
              <a:t>  async evaluate(action) {</a:t>
            </a:r>
            <a:endParaRPr lang="en-US" sz="1600" dirty="0"/>
          </a:p>
          <a:p>
            <a:pPr indent="0" marL="0">
              <a:buNone/>
            </a:pPr>
            <a:r>
              <a:rPr lang="en-US" sz="1600" dirty="0">
                <a:solidFill>
                  <a:srgbClr val="F3F7FC"/>
                </a:solidFill>
                <a:latin typeface="Consolas" pitchFamily="34" charset="0"/>
                <a:ea typeface="Consolas" pitchFamily="34" charset="-122"/>
                <a:cs typeface="Consolas" pitchFamily="34" charset="-120"/>
              </a:rPr>
              <a:t>    return {</a:t>
            </a:r>
            <a:endParaRPr lang="en-US" sz="1600" dirty="0"/>
          </a:p>
          <a:p>
            <a:pPr indent="0" marL="0">
              <a:buNone/>
            </a:pPr>
            <a:r>
              <a:rPr lang="en-US" sz="1600" dirty="0">
                <a:solidFill>
                  <a:srgbClr val="F3F7FC"/>
                </a:solidFill>
                <a:latin typeface="Consolas" pitchFamily="34" charset="0"/>
                <a:ea typeface="Consolas" pitchFamily="34" charset="-122"/>
                <a:cs typeface="Consolas" pitchFamily="34" charset="-120"/>
              </a:rPr>
              <a:t>      decision: "allow",</a:t>
            </a:r>
            <a:endParaRPr lang="en-US" sz="1600" dirty="0"/>
          </a:p>
          <a:p>
            <a:pPr indent="0" marL="0">
              <a:buNone/>
            </a:pPr>
            <a:r>
              <a:rPr lang="en-US" sz="1600" dirty="0">
                <a:solidFill>
                  <a:srgbClr val="F3F7FC"/>
                </a:solidFill>
                <a:latin typeface="Consolas" pitchFamily="34" charset="0"/>
                <a:ea typeface="Consolas" pitchFamily="34" charset="-122"/>
                <a:cs typeface="Consolas" pitchFamily="34" charset="-120"/>
              </a:rPr>
              <a:t>      reason: "safe-reason-code",</a:t>
            </a:r>
            <a:endParaRPr lang="en-US" sz="1600" dirty="0"/>
          </a:p>
          <a:p>
            <a:pPr indent="0" marL="0">
              <a:buNone/>
            </a:pPr>
            <a:r>
              <a:rPr lang="en-US" sz="1600" dirty="0">
                <a:solidFill>
                  <a:srgbClr val="F3F7FC"/>
                </a:solidFill>
                <a:latin typeface="Consolas" pitchFamily="34" charset="0"/>
                <a:ea typeface="Consolas" pitchFamily="34" charset="-122"/>
                <a:cs typeface="Consolas" pitchFamily="34" charset="-120"/>
              </a:rPr>
              <a:t>      findings: []</a:t>
            </a:r>
            <a:endParaRPr lang="en-US" sz="1600" dirty="0"/>
          </a:p>
          <a:p>
            <a:pPr indent="0" marL="0">
              <a:buNone/>
            </a:pPr>
            <a:r>
              <a:rPr lang="en-US" sz="1600" dirty="0">
                <a:solidFill>
                  <a:srgbClr val="F3F7FC"/>
                </a:solidFill>
                <a:latin typeface="Consolas" pitchFamily="34" charset="0"/>
                <a:ea typeface="Consolas" pitchFamily="34" charset="-122"/>
                <a:cs typeface="Consolas" pitchFamily="34" charset="-120"/>
              </a:rPr>
              <a:t>    };</a:t>
            </a:r>
            <a:endParaRPr lang="en-US" sz="1600" dirty="0"/>
          </a:p>
          <a:p>
            <a:pPr indent="0" marL="0">
              <a:buNone/>
            </a:pPr>
            <a:r>
              <a:rPr lang="en-US" sz="1600" dirty="0">
                <a:solidFill>
                  <a:srgbClr val="F3F7FC"/>
                </a:solidFill>
                <a:latin typeface="Consolas" pitchFamily="34" charset="0"/>
                <a:ea typeface="Consolas" pitchFamily="34" charset="-122"/>
                <a:cs typeface="Consolas" pitchFamily="34" charset="-120"/>
              </a:rPr>
              <a:t>  }</a:t>
            </a:r>
            <a:endParaRPr lang="en-US" sz="1600" dirty="0"/>
          </a:p>
          <a:p>
            <a:pPr indent="0" marL="0">
              <a:buNone/>
            </a:pPr>
            <a:r>
              <a:rPr lang="en-US" sz="1600" dirty="0">
                <a:solidFill>
                  <a:srgbClr val="F3F7FC"/>
                </a:solidFill>
                <a:latin typeface="Consolas" pitchFamily="34" charset="0"/>
                <a:ea typeface="Consolas" pitchFamily="34" charset="-122"/>
                <a:cs typeface="Consolas" pitchFamily="34" charset="-120"/>
              </a:rPr>
              <a:t>}</a:t>
            </a:r>
            <a:endParaRPr lang="en-US" sz="1600" dirty="0"/>
          </a:p>
        </p:txBody>
      </p:sp>
      <p:sp>
        <p:nvSpPr>
          <p:cNvPr id="13" name="Shape 11"/>
          <p:cNvSpPr/>
          <p:nvPr/>
        </p:nvSpPr>
        <p:spPr>
          <a:xfrm>
            <a:off x="7360920" y="1965960"/>
            <a:ext cx="4279392" cy="1645920"/>
          </a:xfrm>
          <a:prstGeom prst="roundRect">
            <a:avLst>
              <a:gd name="adj" fmla="val 8889"/>
            </a:avLst>
          </a:prstGeom>
          <a:solidFill>
            <a:srgbClr val="142238"/>
          </a:solidFill>
          <a:ln w="10160">
            <a:solidFill>
              <a:srgbClr val="2B405B"/>
            </a:solidFill>
            <a:prstDash val="solid"/>
          </a:ln>
        </p:spPr>
      </p:sp>
      <p:sp>
        <p:nvSpPr>
          <p:cNvPr id="14" name="s14-text-10"/>
          <p:cNvSpPr/>
          <p:nvPr/>
        </p:nvSpPr>
        <p:spPr>
          <a:xfrm>
            <a:off x="7571232" y="2103120"/>
            <a:ext cx="3849624" cy="301752"/>
          </a:xfrm>
          <a:prstGeom prst="rect">
            <a:avLst/>
          </a:prstGeom>
          <a:noFill/>
          <a:ln/>
        </p:spPr>
        <p:txBody>
          <a:bodyPr wrap="square" lIns="0" tIns="0" rIns="0" bIns="0" rtlCol="0" anchor="t"/>
          <a:lstStyle/>
          <a:p>
            <a:pPr indent="0" marL="0">
              <a:buNone/>
            </a:pPr>
            <a:r>
              <a:rPr lang="en-US" sz="1800" b="1" dirty="0">
                <a:solidFill>
                  <a:srgbClr val="53DDF2"/>
                </a:solidFill>
                <a:latin typeface="Segoe UI" pitchFamily="34" charset="0"/>
                <a:ea typeface="Segoe UI" pitchFamily="34" charset="-122"/>
                <a:cs typeface="Segoe UI" pitchFamily="34" charset="-120"/>
              </a:rPr>
              <a:t>Read-only evaluator</a:t>
            </a:r>
            <a:endParaRPr lang="en-US" sz="1800" dirty="0"/>
          </a:p>
        </p:txBody>
      </p:sp>
      <p:sp>
        <p:nvSpPr>
          <p:cNvPr id="15" name="s14-text-11"/>
          <p:cNvSpPr/>
          <p:nvPr/>
        </p:nvSpPr>
        <p:spPr>
          <a:xfrm>
            <a:off x="7571232" y="2505456"/>
            <a:ext cx="3941064" cy="978408"/>
          </a:xfrm>
          <a:prstGeom prst="rect">
            <a:avLst/>
          </a:prstGeom>
          <a:noFill/>
          <a:ln/>
        </p:spPr>
        <p:txBody>
          <a:bodyPr wrap="square" lIns="0" tIns="0" rIns="0" bIns="0" rtlCol="0" anchor="t"/>
          <a:lstStyle/>
          <a:p>
            <a:pPr indent="0" marL="0">
              <a:buNone/>
            </a:pPr>
            <a:r>
              <a:rPr lang="en-US" sz="1800" dirty="0">
                <a:solidFill>
                  <a:srgbClr val="F3F7FC"/>
                </a:solidFill>
                <a:latin typeface="Segoe UI" pitchFamily="34" charset="0"/>
                <a:ea typeface="Segoe UI" pitchFamily="34" charset="-122"/>
                <a:cs typeface="Segoe UI" pitchFamily="34" charset="-120"/>
              </a:rPr>
              <a:t>The gate inspects the action; it never performs the protected operation.</a:t>
            </a:r>
            <a:endParaRPr lang="en-US" sz="1800" dirty="0"/>
          </a:p>
        </p:txBody>
      </p:sp>
      <p:sp>
        <p:nvSpPr>
          <p:cNvPr id="16" name="Shape 14"/>
          <p:cNvSpPr/>
          <p:nvPr/>
        </p:nvSpPr>
        <p:spPr>
          <a:xfrm>
            <a:off x="7360920" y="3730752"/>
            <a:ext cx="4279392" cy="1645920"/>
          </a:xfrm>
          <a:prstGeom prst="roundRect">
            <a:avLst>
              <a:gd name="adj" fmla="val 8889"/>
            </a:avLst>
          </a:prstGeom>
          <a:solidFill>
            <a:srgbClr val="142238"/>
          </a:solidFill>
          <a:ln w="10160">
            <a:solidFill>
              <a:srgbClr val="2B405B"/>
            </a:solidFill>
            <a:prstDash val="solid"/>
          </a:ln>
        </p:spPr>
      </p:sp>
      <p:sp>
        <p:nvSpPr>
          <p:cNvPr id="17" name="s14-text-12"/>
          <p:cNvSpPr/>
          <p:nvPr/>
        </p:nvSpPr>
        <p:spPr>
          <a:xfrm>
            <a:off x="7571232" y="3867912"/>
            <a:ext cx="3849624" cy="301752"/>
          </a:xfrm>
          <a:prstGeom prst="rect">
            <a:avLst/>
          </a:prstGeom>
          <a:noFill/>
          <a:ln/>
        </p:spPr>
        <p:txBody>
          <a:bodyPr wrap="square" lIns="0" tIns="0" rIns="0" bIns="0" rtlCol="0" anchor="t"/>
          <a:lstStyle/>
          <a:p>
            <a:pPr indent="0" marL="0">
              <a:buNone/>
            </a:pPr>
            <a:r>
              <a:rPr lang="en-US" sz="1800" b="1" dirty="0">
                <a:solidFill>
                  <a:srgbClr val="49DCA2"/>
                </a:solidFill>
                <a:latin typeface="Segoe UI" pitchFamily="34" charset="0"/>
                <a:ea typeface="Segoe UI" pitchFamily="34" charset="-122"/>
                <a:cs typeface="Segoe UI" pitchFamily="34" charset="-120"/>
              </a:rPr>
              <a:t>Explicit composition</a:t>
            </a:r>
            <a:endParaRPr lang="en-US" sz="1800" dirty="0"/>
          </a:p>
        </p:txBody>
      </p:sp>
      <p:sp>
        <p:nvSpPr>
          <p:cNvPr id="18" name="s14-text-13"/>
          <p:cNvSpPr/>
          <p:nvPr/>
        </p:nvSpPr>
        <p:spPr>
          <a:xfrm>
            <a:off x="7571232" y="4270248"/>
            <a:ext cx="3941064" cy="978408"/>
          </a:xfrm>
          <a:prstGeom prst="rect">
            <a:avLst/>
          </a:prstGeom>
          <a:noFill/>
          <a:ln/>
        </p:spPr>
        <p:txBody>
          <a:bodyPr wrap="square" lIns="0" tIns="0" rIns="0" bIns="0" rtlCol="0" anchor="t"/>
          <a:lstStyle/>
          <a:p>
            <a:pPr indent="0" marL="0">
              <a:buNone/>
            </a:pPr>
            <a:r>
              <a:rPr lang="en-US" sz="1800" dirty="0">
                <a:solidFill>
                  <a:srgbClr val="F3F7FC"/>
                </a:solidFill>
                <a:latin typeface="Segoe UI" pitchFamily="34" charset="0"/>
                <a:ea typeface="Segoe UI" pitchFamily="34" charset="-122"/>
                <a:cs typeface="Segoe UI" pitchFamily="34" charset="-120"/>
              </a:rPr>
              <a:t>Register trusted code, bind it in policy and test all decision paths.</a:t>
            </a:r>
            <a:endParaRPr lang="en-US" sz="1800" dirty="0"/>
          </a:p>
        </p:txBody>
      </p:sp>
      <p:sp>
        <p:nvSpPr>
          <p:cNvPr id="19" name="Shape 17"/>
          <p:cNvSpPr/>
          <p:nvPr/>
        </p:nvSpPr>
        <p:spPr>
          <a:xfrm>
            <a:off x="548640" y="5687568"/>
            <a:ext cx="11091672" cy="585216"/>
          </a:xfrm>
          <a:prstGeom prst="roundRect">
            <a:avLst>
              <a:gd name="adj" fmla="val 25000"/>
            </a:avLst>
          </a:prstGeom>
          <a:solidFill>
            <a:srgbClr val="142238"/>
          </a:solidFill>
          <a:ln w="10160">
            <a:solidFill>
              <a:srgbClr val="2B405B"/>
            </a:solidFill>
            <a:prstDash val="solid"/>
          </a:ln>
        </p:spPr>
      </p:sp>
      <p:sp>
        <p:nvSpPr>
          <p:cNvPr id="20" name="Shape 18"/>
          <p:cNvSpPr/>
          <p:nvPr/>
        </p:nvSpPr>
        <p:spPr>
          <a:xfrm>
            <a:off x="548640" y="5687568"/>
            <a:ext cx="41148" cy="585216"/>
          </a:xfrm>
          <a:prstGeom prst="rect">
            <a:avLst/>
          </a:prstGeom>
          <a:solidFill>
            <a:srgbClr val="53DDF2"/>
          </a:solidFill>
          <a:ln w="12700">
            <a:solidFill>
              <a:srgbClr val="2B405B">
                <a:alpha val="0"/>
              </a:srgbClr>
            </a:solidFill>
            <a:prstDash val="solid"/>
          </a:ln>
        </p:spPr>
      </p:sp>
      <p:sp>
        <p:nvSpPr>
          <p:cNvPr id="21" name="s14-text-14"/>
          <p:cNvSpPr/>
          <p:nvPr/>
        </p:nvSpPr>
        <p:spPr>
          <a:xfrm>
            <a:off x="758952" y="5833872"/>
            <a:ext cx="10652760" cy="292608"/>
          </a:xfrm>
          <a:prstGeom prst="rect">
            <a:avLst/>
          </a:prstGeom>
          <a:noFill/>
          <a:ln/>
        </p:spPr>
        <p:txBody>
          <a:bodyPr wrap="square" lIns="0" tIns="0" rIns="0" bIns="0" rtlCol="0" anchor="t"/>
          <a:lstStyle/>
          <a:p>
            <a:pPr indent="0" marL="0">
              <a:buNone/>
            </a:pPr>
            <a:r>
              <a:rPr lang="en-US" sz="1600" dirty="0">
                <a:solidFill>
                  <a:srgbClr val="53DDF2"/>
                </a:solidFill>
                <a:latin typeface="Segoe UI" pitchFamily="34" charset="0"/>
                <a:ea typeface="Segoe UI" pitchFamily="34" charset="-122"/>
                <a:cs typeface="Segoe UI" pitchFamily="34" charset="-120"/>
              </a:rPr>
              <a:t>The extension point is the gate. The enforcement owner remains the broker.</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220"/>
        </a:solidFill>
      </p:bgPr>
    </p:bg>
    <p:spTree>
      <p:nvGrpSpPr>
        <p:cNvPr id="1" name=""/>
        <p:cNvGrpSpPr/>
        <p:nvPr/>
      </p:nvGrpSpPr>
      <p:grpSpPr>
        <a:xfrm>
          <a:off x="0" y="0"/>
          <a:ext cx="0" cy="0"/>
          <a:chOff x="0" y="0"/>
          <a:chExt cx="0" cy="0"/>
        </a:xfrm>
      </p:grpSpPr>
      <p:sp>
        <p:nvSpPr>
          <p:cNvPr id="2" name="s15-text-1"/>
          <p:cNvSpPr/>
          <p:nvPr/>
        </p:nvSpPr>
        <p:spPr>
          <a:xfrm>
            <a:off x="548640" y="219456"/>
            <a:ext cx="2834640" cy="219456"/>
          </a:xfrm>
          <a:prstGeom prst="rect">
            <a:avLst/>
          </a:prstGeom>
          <a:noFill/>
          <a:ln/>
        </p:spPr>
        <p:txBody>
          <a:bodyPr wrap="square" lIns="0" tIns="0" rIns="0" bIns="0" rtlCol="0" anchor="t"/>
          <a:lstStyle/>
          <a:p>
            <a:pPr indent="0" marL="0">
              <a:buNone/>
            </a:pPr>
            <a:r>
              <a:rPr lang="en-US" sz="1300" b="1" spc="80" kern="0" dirty="0">
                <a:solidFill>
                  <a:srgbClr val="53DDF2"/>
                </a:solidFill>
                <a:latin typeface="Segoe UI" pitchFamily="34" charset="0"/>
                <a:ea typeface="Segoe UI" pitchFamily="34" charset="-122"/>
                <a:cs typeface="Segoe UI" pitchFamily="34" charset="-120"/>
              </a:rPr>
              <a:t>AGENT AIRLOCK</a:t>
            </a:r>
            <a:endParaRPr lang="en-US" sz="1300" dirty="0"/>
          </a:p>
        </p:txBody>
      </p:sp>
      <p:sp>
        <p:nvSpPr>
          <p:cNvPr id="3" name="s15-text-2"/>
          <p:cNvSpPr/>
          <p:nvPr/>
        </p:nvSpPr>
        <p:spPr>
          <a:xfrm>
            <a:off x="3657600" y="237744"/>
            <a:ext cx="4663440" cy="201168"/>
          </a:xfrm>
          <a:prstGeom prst="rect">
            <a:avLst/>
          </a:prstGeom>
          <a:noFill/>
          <a:ln/>
        </p:spPr>
        <p:txBody>
          <a:bodyPr wrap="square" lIns="0" tIns="0" rIns="0" bIns="0" rtlCol="0" anchor="t"/>
          <a:lstStyle/>
          <a:p>
            <a:pPr algn="ctr" indent="0" marL="0">
              <a:buNone/>
            </a:pPr>
            <a:r>
              <a:rPr lang="en-US" sz="1100" spc="100" kern="0" dirty="0">
                <a:solidFill>
                  <a:srgbClr val="A8B8CF"/>
                </a:solidFill>
                <a:latin typeface="Segoe UI" pitchFamily="34" charset="0"/>
                <a:ea typeface="Segoe UI" pitchFamily="34" charset="-122"/>
                <a:cs typeface="Segoe UI" pitchFamily="34" charset="-120"/>
              </a:rPr>
              <a:t>BOUNDARY</a:t>
            </a:r>
            <a:endParaRPr lang="en-US" sz="1100" dirty="0"/>
          </a:p>
        </p:txBody>
      </p:sp>
      <p:sp>
        <p:nvSpPr>
          <p:cNvPr id="4" name="s15-text-3"/>
          <p:cNvSpPr/>
          <p:nvPr/>
        </p:nvSpPr>
        <p:spPr>
          <a:xfrm>
            <a:off x="8412480" y="237744"/>
            <a:ext cx="3227832" cy="201168"/>
          </a:xfrm>
          <a:prstGeom prst="rect">
            <a:avLst/>
          </a:prstGeom>
          <a:noFill/>
          <a:ln/>
        </p:spPr>
        <p:txBody>
          <a:bodyPr wrap="square" lIns="0" tIns="0" rIns="0" bIns="0" rtlCol="0" anchor="t"/>
          <a:lstStyle/>
          <a:p>
            <a:pPr algn="r" indent="0" marL="0">
              <a:buNone/>
            </a:pPr>
            <a:r>
              <a:rPr lang="en-US" sz="1050" dirty="0">
                <a:solidFill>
                  <a:srgbClr val="A8B8CF"/>
                </a:solidFill>
                <a:latin typeface="Segoe UI" pitchFamily="34" charset="0"/>
                <a:ea typeface="Segoe UI" pitchFamily="34" charset="-122"/>
                <a:cs typeface="Segoe UI" pitchFamily="34" charset="-120"/>
              </a:rPr>
              <a:t>TEAM SHOWCASE</a:t>
            </a:r>
            <a:endParaRPr lang="en-US" sz="1050" dirty="0"/>
          </a:p>
        </p:txBody>
      </p:sp>
      <p:sp>
        <p:nvSpPr>
          <p:cNvPr id="5" name="s15-text-4"/>
          <p:cNvSpPr/>
          <p:nvPr/>
        </p:nvSpPr>
        <p:spPr>
          <a:xfrm>
            <a:off x="548640" y="640080"/>
            <a:ext cx="11091672" cy="914400"/>
          </a:xfrm>
          <a:prstGeom prst="rect">
            <a:avLst/>
          </a:prstGeom>
          <a:noFill/>
          <a:ln/>
        </p:spPr>
        <p:txBody>
          <a:bodyPr wrap="square" lIns="0" tIns="0" rIns="0" bIns="0" rtlCol="0" anchor="t"/>
          <a:lstStyle/>
          <a:p>
            <a:pPr indent="0" marL="0">
              <a:buNone/>
            </a:pPr>
            <a:r>
              <a:rPr lang="en-US" sz="3000" b="1" dirty="0">
                <a:solidFill>
                  <a:srgbClr val="F3F7FC"/>
                </a:solidFill>
                <a:latin typeface="Segoe UI" pitchFamily="34" charset="0"/>
                <a:ea typeface="Segoe UI" pitchFamily="34" charset="-122"/>
                <a:cs typeface="Segoe UI" pitchFamily="34" charset="-120"/>
              </a:rPr>
              <a:t>What the prototype enforces—and what it does not yet</a:t>
            </a:r>
            <a:endParaRPr lang="en-US" sz="3000" dirty="0"/>
          </a:p>
        </p:txBody>
      </p:sp>
      <p:sp>
        <p:nvSpPr>
          <p:cNvPr id="6" name="s15-text-5"/>
          <p:cNvSpPr/>
          <p:nvPr/>
        </p:nvSpPr>
        <p:spPr>
          <a:xfrm>
            <a:off x="548640" y="1600200"/>
            <a:ext cx="11091672" cy="338328"/>
          </a:xfrm>
          <a:prstGeom prst="rect">
            <a:avLst/>
          </a:prstGeom>
          <a:noFill/>
          <a:ln/>
        </p:spPr>
        <p:txBody>
          <a:bodyPr wrap="square" lIns="0" tIns="0" rIns="0" bIns="0" rtlCol="0" anchor="t"/>
          <a:lstStyle/>
          <a:p>
            <a:pPr indent="0" marL="0">
              <a:buNone/>
            </a:pPr>
            <a:r>
              <a:rPr lang="en-US" sz="1550" dirty="0">
                <a:solidFill>
                  <a:srgbClr val="A8B8CF"/>
                </a:solidFill>
                <a:latin typeface="Segoe UI" pitchFamily="34" charset="0"/>
                <a:ea typeface="Segoe UI" pitchFamily="34" charset="-122"/>
                <a:cs typeface="Segoe UI" pitchFamily="34" charset="-120"/>
              </a:rPr>
              <a:t>Airlock controls supported actions routed through Airlock. Alternate permitted routes remain the system-level gap.</a:t>
            </a:r>
            <a:endParaRPr lang="en-US" sz="1550" dirty="0"/>
          </a:p>
        </p:txBody>
      </p:sp>
      <p:sp>
        <p:nvSpPr>
          <p:cNvPr id="7" name="Shape 5"/>
          <p:cNvSpPr/>
          <p:nvPr/>
        </p:nvSpPr>
        <p:spPr>
          <a:xfrm>
            <a:off x="548640" y="6446520"/>
            <a:ext cx="11091672" cy="0"/>
          </a:xfrm>
          <a:prstGeom prst="line">
            <a:avLst/>
          </a:prstGeom>
          <a:solidFill>
            <a:srgbClr val="142238"/>
          </a:solidFill>
          <a:ln w="7620">
            <a:solidFill>
              <a:srgbClr val="2B405B"/>
            </a:solidFill>
            <a:prstDash val="solid"/>
          </a:ln>
        </p:spPr>
      </p:sp>
      <p:sp>
        <p:nvSpPr>
          <p:cNvPr id="8" name="s15-text-6"/>
          <p:cNvSpPr/>
          <p:nvPr/>
        </p:nvSpPr>
        <p:spPr>
          <a:xfrm>
            <a:off x="548640" y="6556248"/>
            <a:ext cx="5852160" cy="164592"/>
          </a:xfrm>
          <a:prstGeom prst="rect">
            <a:avLst/>
          </a:prstGeom>
          <a:noFill/>
          <a:ln/>
        </p:spPr>
        <p:txBody>
          <a:bodyPr wrap="square" lIns="0" tIns="0" rIns="0" bIns="0" rtlCol="0" anchor="t"/>
          <a:lstStyle/>
          <a:p>
            <a:pPr indent="0" marL="0">
              <a:buNone/>
            </a:pPr>
            <a:r>
              <a:rPr lang="en-US" sz="950" dirty="0">
                <a:solidFill>
                  <a:srgbClr val="A8B8CF"/>
                </a:solidFill>
                <a:latin typeface="Segoe UI" pitchFamily="34" charset="0"/>
                <a:ea typeface="Segoe UI" pitchFamily="34" charset="-122"/>
                <a:cs typeface="Segoe UI" pitchFamily="34" charset="-120"/>
              </a:rPr>
              <a:t>PROTOTYPE  |  POLICY-GOVERNED AGENT ACTIONS</a:t>
            </a:r>
            <a:endParaRPr lang="en-US" sz="950" dirty="0"/>
          </a:p>
        </p:txBody>
      </p:sp>
      <p:sp>
        <p:nvSpPr>
          <p:cNvPr id="9" name="s15-text-7"/>
          <p:cNvSpPr/>
          <p:nvPr/>
        </p:nvSpPr>
        <p:spPr>
          <a:xfrm>
            <a:off x="10863072" y="6528816"/>
            <a:ext cx="777240" cy="210312"/>
          </a:xfrm>
          <a:prstGeom prst="rect">
            <a:avLst/>
          </a:prstGeom>
          <a:noFill/>
          <a:ln/>
        </p:spPr>
        <p:txBody>
          <a:bodyPr wrap="square" lIns="0" tIns="0" rIns="0" bIns="0" rtlCol="0" anchor="t"/>
          <a:lstStyle/>
          <a:p>
            <a:pPr algn="r" indent="0" marL="0">
              <a:buNone/>
            </a:pPr>
            <a:r>
              <a:rPr lang="en-US" sz="1100" dirty="0">
                <a:solidFill>
                  <a:srgbClr val="53DDF2"/>
                </a:solidFill>
                <a:latin typeface="Segoe UI" pitchFamily="34" charset="0"/>
                <a:ea typeface="Segoe UI" pitchFamily="34" charset="-122"/>
                <a:cs typeface="Segoe UI" pitchFamily="34" charset="-120"/>
              </a:rPr>
              <a:t>15 / 17</a:t>
            </a:r>
            <a:endParaRPr lang="en-US" sz="1100" dirty="0"/>
          </a:p>
        </p:txBody>
      </p:sp>
      <p:sp>
        <p:nvSpPr>
          <p:cNvPr id="10" name="s15-text-8"/>
          <p:cNvSpPr/>
          <p:nvPr/>
        </p:nvSpPr>
        <p:spPr>
          <a:xfrm>
            <a:off x="548640" y="2194560"/>
            <a:ext cx="2926080" cy="228600"/>
          </a:xfrm>
          <a:prstGeom prst="rect">
            <a:avLst/>
          </a:prstGeom>
          <a:noFill/>
          <a:ln/>
        </p:spPr>
        <p:txBody>
          <a:bodyPr wrap="square" lIns="0" tIns="0" rIns="0" bIns="0" rtlCol="0" anchor="t"/>
          <a:lstStyle/>
          <a:p>
            <a:pPr indent="0" marL="0">
              <a:buNone/>
            </a:pPr>
            <a:r>
              <a:rPr lang="en-US" sz="1100" b="1" dirty="0">
                <a:solidFill>
                  <a:srgbClr val="53DDF2"/>
                </a:solidFill>
                <a:latin typeface="Segoe UI" pitchFamily="34" charset="0"/>
                <a:ea typeface="Segoe UI" pitchFamily="34" charset="-122"/>
                <a:cs typeface="Segoe UI" pitchFamily="34" charset="-120"/>
              </a:rPr>
              <a:t>AIRLOCK ROUTE</a:t>
            </a:r>
            <a:endParaRPr lang="en-US" sz="1100" dirty="0"/>
          </a:p>
        </p:txBody>
      </p:sp>
      <p:sp>
        <p:nvSpPr>
          <p:cNvPr id="11" name="Shape 9"/>
          <p:cNvSpPr/>
          <p:nvPr/>
        </p:nvSpPr>
        <p:spPr>
          <a:xfrm>
            <a:off x="548640" y="2606040"/>
            <a:ext cx="3502152" cy="804672"/>
          </a:xfrm>
          <a:prstGeom prst="roundRect">
            <a:avLst>
              <a:gd name="adj" fmla="val 18182"/>
            </a:avLst>
          </a:prstGeom>
          <a:solidFill>
            <a:srgbClr val="142238"/>
          </a:solidFill>
          <a:ln w="10160">
            <a:solidFill>
              <a:srgbClr val="53DDF2"/>
            </a:solidFill>
            <a:prstDash val="solid"/>
          </a:ln>
        </p:spPr>
      </p:sp>
      <p:sp>
        <p:nvSpPr>
          <p:cNvPr id="12" name="s15-text-9"/>
          <p:cNvSpPr/>
          <p:nvPr/>
        </p:nvSpPr>
        <p:spPr>
          <a:xfrm>
            <a:off x="713232" y="2862072"/>
            <a:ext cx="3172968" cy="347472"/>
          </a:xfrm>
          <a:prstGeom prst="rect">
            <a:avLst/>
          </a:prstGeom>
          <a:noFill/>
          <a:ln/>
        </p:spPr>
        <p:txBody>
          <a:bodyPr wrap="square" lIns="0" tIns="0" rIns="0" bIns="0" rtlCol="0" anchor="t"/>
          <a:lstStyle/>
          <a:p>
            <a:pPr indent="0" marL="0">
              <a:buNone/>
            </a:pPr>
            <a:r>
              <a:rPr lang="en-US" sz="1900" b="1" dirty="0">
                <a:solidFill>
                  <a:srgbClr val="F3F7FC"/>
                </a:solidFill>
                <a:latin typeface="Segoe UI" pitchFamily="34" charset="0"/>
                <a:ea typeface="Segoe UI" pitchFamily="34" charset="-122"/>
                <a:cs typeface="Segoe UI" pitchFamily="34" charset="-120"/>
              </a:rPr>
              <a:t>Airlock MCP tool</a:t>
            </a:r>
            <a:endParaRPr lang="en-US" sz="1900" dirty="0"/>
          </a:p>
        </p:txBody>
      </p:sp>
      <p:sp>
        <p:nvSpPr>
          <p:cNvPr id="13" name="Shape 11"/>
          <p:cNvSpPr/>
          <p:nvPr/>
        </p:nvSpPr>
        <p:spPr>
          <a:xfrm>
            <a:off x="4096512" y="3026664"/>
            <a:ext cx="201168" cy="0"/>
          </a:xfrm>
          <a:prstGeom prst="line">
            <a:avLst/>
          </a:prstGeom>
          <a:solidFill>
            <a:srgbClr val="142238"/>
          </a:solidFill>
          <a:ln w="22860">
            <a:solidFill>
              <a:srgbClr val="53DDF2"/>
            </a:solidFill>
            <a:prstDash val="solid"/>
            <a:headEnd type="none"/>
            <a:tailEnd type="triangle"/>
          </a:ln>
        </p:spPr>
      </p:sp>
      <p:sp>
        <p:nvSpPr>
          <p:cNvPr id="14" name="Shape 12"/>
          <p:cNvSpPr/>
          <p:nvPr/>
        </p:nvSpPr>
        <p:spPr>
          <a:xfrm>
            <a:off x="4343400" y="2606040"/>
            <a:ext cx="3502152" cy="804672"/>
          </a:xfrm>
          <a:prstGeom prst="roundRect">
            <a:avLst>
              <a:gd name="adj" fmla="val 18182"/>
            </a:avLst>
          </a:prstGeom>
          <a:solidFill>
            <a:srgbClr val="142238"/>
          </a:solidFill>
          <a:ln w="10160">
            <a:solidFill>
              <a:srgbClr val="53DDF2"/>
            </a:solidFill>
            <a:prstDash val="solid"/>
          </a:ln>
        </p:spPr>
      </p:sp>
      <p:sp>
        <p:nvSpPr>
          <p:cNvPr id="15" name="s15-text-10"/>
          <p:cNvSpPr/>
          <p:nvPr/>
        </p:nvSpPr>
        <p:spPr>
          <a:xfrm>
            <a:off x="4507992" y="2862072"/>
            <a:ext cx="3172968" cy="347472"/>
          </a:xfrm>
          <a:prstGeom prst="rect">
            <a:avLst/>
          </a:prstGeom>
          <a:noFill/>
          <a:ln/>
        </p:spPr>
        <p:txBody>
          <a:bodyPr wrap="square" lIns="0" tIns="0" rIns="0" bIns="0" rtlCol="0" anchor="t"/>
          <a:lstStyle/>
          <a:p>
            <a:pPr indent="0" marL="0">
              <a:buNone/>
            </a:pPr>
            <a:r>
              <a:rPr lang="en-US" sz="1900" b="1" dirty="0">
                <a:solidFill>
                  <a:srgbClr val="F3F7FC"/>
                </a:solidFill>
                <a:latin typeface="Segoe UI" pitchFamily="34" charset="0"/>
                <a:ea typeface="Segoe UI" pitchFamily="34" charset="-122"/>
                <a:cs typeface="Segoe UI" pitchFamily="34" charset="-120"/>
              </a:rPr>
              <a:t>Broker + required gates</a:t>
            </a:r>
            <a:endParaRPr lang="en-US" sz="1900" dirty="0"/>
          </a:p>
        </p:txBody>
      </p:sp>
      <p:sp>
        <p:nvSpPr>
          <p:cNvPr id="16" name="Shape 14"/>
          <p:cNvSpPr/>
          <p:nvPr/>
        </p:nvSpPr>
        <p:spPr>
          <a:xfrm>
            <a:off x="7891272" y="3026664"/>
            <a:ext cx="201168" cy="0"/>
          </a:xfrm>
          <a:prstGeom prst="line">
            <a:avLst/>
          </a:prstGeom>
          <a:solidFill>
            <a:srgbClr val="142238"/>
          </a:solidFill>
          <a:ln w="22860">
            <a:solidFill>
              <a:srgbClr val="53DDF2"/>
            </a:solidFill>
            <a:prstDash val="solid"/>
            <a:headEnd type="none"/>
            <a:tailEnd type="triangle"/>
          </a:ln>
        </p:spPr>
      </p:sp>
      <p:sp>
        <p:nvSpPr>
          <p:cNvPr id="17" name="Shape 15"/>
          <p:cNvSpPr/>
          <p:nvPr/>
        </p:nvSpPr>
        <p:spPr>
          <a:xfrm>
            <a:off x="8138160" y="2606040"/>
            <a:ext cx="3502152" cy="804672"/>
          </a:xfrm>
          <a:prstGeom prst="roundRect">
            <a:avLst>
              <a:gd name="adj" fmla="val 18182"/>
            </a:avLst>
          </a:prstGeom>
          <a:solidFill>
            <a:srgbClr val="142238"/>
          </a:solidFill>
          <a:ln w="10160">
            <a:solidFill>
              <a:srgbClr val="53DDF2"/>
            </a:solidFill>
            <a:prstDash val="solid"/>
          </a:ln>
        </p:spPr>
      </p:sp>
      <p:sp>
        <p:nvSpPr>
          <p:cNvPr id="18" name="s15-text-11"/>
          <p:cNvSpPr/>
          <p:nvPr/>
        </p:nvSpPr>
        <p:spPr>
          <a:xfrm>
            <a:off x="8302752" y="2862072"/>
            <a:ext cx="3172968" cy="347472"/>
          </a:xfrm>
          <a:prstGeom prst="rect">
            <a:avLst/>
          </a:prstGeom>
          <a:noFill/>
          <a:ln/>
        </p:spPr>
        <p:txBody>
          <a:bodyPr wrap="square" lIns="0" tIns="0" rIns="0" bIns="0" rtlCol="0" anchor="t"/>
          <a:lstStyle/>
          <a:p>
            <a:pPr indent="0" marL="0">
              <a:buNone/>
            </a:pPr>
            <a:r>
              <a:rPr lang="en-US" sz="1900" b="1" dirty="0">
                <a:solidFill>
                  <a:srgbClr val="F3F7FC"/>
                </a:solidFill>
                <a:latin typeface="Segoe UI" pitchFamily="34" charset="0"/>
                <a:ea typeface="Segoe UI" pitchFamily="34" charset="-122"/>
                <a:cs typeface="Segoe UI" pitchFamily="34" charset="-120"/>
              </a:rPr>
              <a:t>Local executor / artifact</a:t>
            </a:r>
            <a:endParaRPr lang="en-US" sz="1900" dirty="0"/>
          </a:p>
        </p:txBody>
      </p:sp>
      <p:sp>
        <p:nvSpPr>
          <p:cNvPr id="19" name="s15-text-12"/>
          <p:cNvSpPr/>
          <p:nvPr/>
        </p:nvSpPr>
        <p:spPr>
          <a:xfrm>
            <a:off x="548640" y="3840480"/>
            <a:ext cx="2926080" cy="228600"/>
          </a:xfrm>
          <a:prstGeom prst="rect">
            <a:avLst/>
          </a:prstGeom>
          <a:noFill/>
          <a:ln/>
        </p:spPr>
        <p:txBody>
          <a:bodyPr wrap="square" lIns="0" tIns="0" rIns="0" bIns="0" rtlCol="0" anchor="t"/>
          <a:lstStyle/>
          <a:p>
            <a:pPr indent="0" marL="0">
              <a:buNone/>
            </a:pPr>
            <a:r>
              <a:rPr lang="en-US" sz="1100" b="1" dirty="0">
                <a:solidFill>
                  <a:srgbClr val="FF7C8E"/>
                </a:solidFill>
                <a:latin typeface="Segoe UI" pitchFamily="34" charset="0"/>
                <a:ea typeface="Segoe UI" pitchFamily="34" charset="-122"/>
                <a:cs typeface="Segoe UI" pitchFamily="34" charset="-120"/>
              </a:rPr>
              <a:t>OTHER ROUTES</a:t>
            </a:r>
            <a:endParaRPr lang="en-US" sz="1100" dirty="0"/>
          </a:p>
        </p:txBody>
      </p:sp>
      <p:sp>
        <p:nvSpPr>
          <p:cNvPr id="20" name="Shape 18"/>
          <p:cNvSpPr/>
          <p:nvPr/>
        </p:nvSpPr>
        <p:spPr>
          <a:xfrm>
            <a:off x="548640" y="4251960"/>
            <a:ext cx="3502152" cy="804672"/>
          </a:xfrm>
          <a:prstGeom prst="roundRect">
            <a:avLst>
              <a:gd name="adj" fmla="val 18182"/>
            </a:avLst>
          </a:prstGeom>
          <a:solidFill>
            <a:srgbClr val="142238"/>
          </a:solidFill>
          <a:ln w="10160">
            <a:solidFill>
              <a:srgbClr val="FF7C8E"/>
            </a:solidFill>
            <a:prstDash val="solid"/>
          </a:ln>
        </p:spPr>
      </p:sp>
      <p:sp>
        <p:nvSpPr>
          <p:cNvPr id="21" name="s15-text-13"/>
          <p:cNvSpPr/>
          <p:nvPr/>
        </p:nvSpPr>
        <p:spPr>
          <a:xfrm>
            <a:off x="713232" y="4507992"/>
            <a:ext cx="3172968" cy="347472"/>
          </a:xfrm>
          <a:prstGeom prst="rect">
            <a:avLst/>
          </a:prstGeom>
          <a:noFill/>
          <a:ln/>
        </p:spPr>
        <p:txBody>
          <a:bodyPr wrap="square" lIns="0" tIns="0" rIns="0" bIns="0" rtlCol="0" anchor="t"/>
          <a:lstStyle/>
          <a:p>
            <a:pPr indent="0" marL="0">
              <a:buNone/>
            </a:pPr>
            <a:r>
              <a:rPr lang="en-US" sz="1900" b="1" dirty="0">
                <a:solidFill>
                  <a:srgbClr val="F3F7FC"/>
                </a:solidFill>
                <a:latin typeface="Segoe UI" pitchFamily="34" charset="0"/>
                <a:ea typeface="Segoe UI" pitchFamily="34" charset="-122"/>
                <a:cs typeface="Segoe UI" pitchFamily="34" charset="-120"/>
              </a:rPr>
              <a:t>Other MCP / shell</a:t>
            </a:r>
            <a:endParaRPr lang="en-US" sz="1900" dirty="0"/>
          </a:p>
        </p:txBody>
      </p:sp>
      <p:sp>
        <p:nvSpPr>
          <p:cNvPr id="22" name="Shape 20"/>
          <p:cNvSpPr/>
          <p:nvPr/>
        </p:nvSpPr>
        <p:spPr>
          <a:xfrm>
            <a:off x="4096512" y="4672584"/>
            <a:ext cx="201168" cy="0"/>
          </a:xfrm>
          <a:prstGeom prst="line">
            <a:avLst/>
          </a:prstGeom>
          <a:solidFill>
            <a:srgbClr val="142238"/>
          </a:solidFill>
          <a:ln w="22860">
            <a:solidFill>
              <a:srgbClr val="FF7C8E"/>
            </a:solidFill>
            <a:prstDash val="solid"/>
            <a:headEnd type="none"/>
            <a:tailEnd type="triangle"/>
          </a:ln>
        </p:spPr>
      </p:sp>
      <p:sp>
        <p:nvSpPr>
          <p:cNvPr id="23" name="Shape 21"/>
          <p:cNvSpPr/>
          <p:nvPr/>
        </p:nvSpPr>
        <p:spPr>
          <a:xfrm>
            <a:off x="4343400" y="4251960"/>
            <a:ext cx="3502152" cy="804672"/>
          </a:xfrm>
          <a:prstGeom prst="roundRect">
            <a:avLst>
              <a:gd name="adj" fmla="val 18182"/>
            </a:avLst>
          </a:prstGeom>
          <a:solidFill>
            <a:srgbClr val="142238"/>
          </a:solidFill>
          <a:ln w="10160">
            <a:solidFill>
              <a:srgbClr val="FF7C8E"/>
            </a:solidFill>
            <a:prstDash val="solid"/>
          </a:ln>
        </p:spPr>
      </p:sp>
      <p:sp>
        <p:nvSpPr>
          <p:cNvPr id="24" name="s15-text-14"/>
          <p:cNvSpPr/>
          <p:nvPr/>
        </p:nvSpPr>
        <p:spPr>
          <a:xfrm>
            <a:off x="4507992" y="4507992"/>
            <a:ext cx="3172968" cy="347472"/>
          </a:xfrm>
          <a:prstGeom prst="rect">
            <a:avLst/>
          </a:prstGeom>
          <a:noFill/>
          <a:ln/>
        </p:spPr>
        <p:txBody>
          <a:bodyPr wrap="square" lIns="0" tIns="0" rIns="0" bIns="0" rtlCol="0" anchor="t"/>
          <a:lstStyle/>
          <a:p>
            <a:pPr indent="0" marL="0">
              <a:buNone/>
            </a:pPr>
            <a:r>
              <a:rPr lang="en-US" sz="1900" b="1" dirty="0">
                <a:solidFill>
                  <a:srgbClr val="F3F7FC"/>
                </a:solidFill>
                <a:latin typeface="Segoe UI" pitchFamily="34" charset="0"/>
                <a:ea typeface="Segoe UI" pitchFamily="34" charset="-122"/>
                <a:cs typeface="Segoe UI" pitchFamily="34" charset="-120"/>
              </a:rPr>
              <a:t>Host permissions</a:t>
            </a:r>
            <a:endParaRPr lang="en-US" sz="1900" dirty="0"/>
          </a:p>
        </p:txBody>
      </p:sp>
      <p:sp>
        <p:nvSpPr>
          <p:cNvPr id="25" name="Shape 23"/>
          <p:cNvSpPr/>
          <p:nvPr/>
        </p:nvSpPr>
        <p:spPr>
          <a:xfrm>
            <a:off x="7891272" y="4672584"/>
            <a:ext cx="201168" cy="0"/>
          </a:xfrm>
          <a:prstGeom prst="line">
            <a:avLst/>
          </a:prstGeom>
          <a:solidFill>
            <a:srgbClr val="142238"/>
          </a:solidFill>
          <a:ln w="22860">
            <a:solidFill>
              <a:srgbClr val="FF7C8E"/>
            </a:solidFill>
            <a:prstDash val="solid"/>
            <a:headEnd type="none"/>
            <a:tailEnd type="triangle"/>
          </a:ln>
        </p:spPr>
      </p:sp>
      <p:sp>
        <p:nvSpPr>
          <p:cNvPr id="26" name="Shape 24"/>
          <p:cNvSpPr/>
          <p:nvPr/>
        </p:nvSpPr>
        <p:spPr>
          <a:xfrm>
            <a:off x="8138160" y="4251960"/>
            <a:ext cx="3502152" cy="804672"/>
          </a:xfrm>
          <a:prstGeom prst="roundRect">
            <a:avLst>
              <a:gd name="adj" fmla="val 18182"/>
            </a:avLst>
          </a:prstGeom>
          <a:solidFill>
            <a:srgbClr val="142238"/>
          </a:solidFill>
          <a:ln w="10160">
            <a:solidFill>
              <a:srgbClr val="FF7C8E"/>
            </a:solidFill>
            <a:prstDash val="solid"/>
          </a:ln>
        </p:spPr>
      </p:sp>
      <p:sp>
        <p:nvSpPr>
          <p:cNvPr id="27" name="s15-text-15"/>
          <p:cNvSpPr/>
          <p:nvPr/>
        </p:nvSpPr>
        <p:spPr>
          <a:xfrm>
            <a:off x="8302752" y="4507992"/>
            <a:ext cx="3172968" cy="347472"/>
          </a:xfrm>
          <a:prstGeom prst="rect">
            <a:avLst/>
          </a:prstGeom>
          <a:noFill/>
          <a:ln/>
        </p:spPr>
        <p:txBody>
          <a:bodyPr wrap="square" lIns="0" tIns="0" rIns="0" bIns="0" rtlCol="0" anchor="t"/>
          <a:lstStyle/>
          <a:p>
            <a:pPr indent="0" marL="0">
              <a:buNone/>
            </a:pPr>
            <a:r>
              <a:rPr lang="en-US" sz="1900" b="1" dirty="0">
                <a:solidFill>
                  <a:srgbClr val="F3F7FC"/>
                </a:solidFill>
                <a:latin typeface="Segoe UI" pitchFamily="34" charset="0"/>
                <a:ea typeface="Segoe UI" pitchFamily="34" charset="-122"/>
                <a:cs typeface="Segoe UI" pitchFamily="34" charset="-120"/>
              </a:rPr>
              <a:t>External operation</a:t>
            </a:r>
            <a:endParaRPr lang="en-US" sz="1900" dirty="0"/>
          </a:p>
        </p:txBody>
      </p:sp>
      <p:sp>
        <p:nvSpPr>
          <p:cNvPr id="28" name="Shape 26"/>
          <p:cNvSpPr/>
          <p:nvPr/>
        </p:nvSpPr>
        <p:spPr>
          <a:xfrm>
            <a:off x="548640" y="5687568"/>
            <a:ext cx="11091672" cy="585216"/>
          </a:xfrm>
          <a:prstGeom prst="roundRect">
            <a:avLst>
              <a:gd name="adj" fmla="val 25000"/>
            </a:avLst>
          </a:prstGeom>
          <a:solidFill>
            <a:srgbClr val="142238"/>
          </a:solidFill>
          <a:ln w="10160">
            <a:solidFill>
              <a:srgbClr val="2B405B"/>
            </a:solidFill>
            <a:prstDash val="solid"/>
          </a:ln>
        </p:spPr>
      </p:sp>
      <p:sp>
        <p:nvSpPr>
          <p:cNvPr id="29" name="Shape 27"/>
          <p:cNvSpPr/>
          <p:nvPr/>
        </p:nvSpPr>
        <p:spPr>
          <a:xfrm>
            <a:off x="548640" y="5687568"/>
            <a:ext cx="41148" cy="585216"/>
          </a:xfrm>
          <a:prstGeom prst="rect">
            <a:avLst/>
          </a:prstGeom>
          <a:solidFill>
            <a:srgbClr val="FFCE67"/>
          </a:solidFill>
          <a:ln w="12700">
            <a:solidFill>
              <a:srgbClr val="2B405B">
                <a:alpha val="0"/>
              </a:srgbClr>
            </a:solidFill>
            <a:prstDash val="solid"/>
          </a:ln>
        </p:spPr>
      </p:sp>
      <p:sp>
        <p:nvSpPr>
          <p:cNvPr id="30" name="s15-text-16"/>
          <p:cNvSpPr/>
          <p:nvPr/>
        </p:nvSpPr>
        <p:spPr>
          <a:xfrm>
            <a:off x="758952" y="5833872"/>
            <a:ext cx="10652760" cy="292608"/>
          </a:xfrm>
          <a:prstGeom prst="rect">
            <a:avLst/>
          </a:prstGeom>
          <a:noFill/>
          <a:ln/>
        </p:spPr>
        <p:txBody>
          <a:bodyPr wrap="square" lIns="0" tIns="0" rIns="0" bIns="0" rtlCol="0" anchor="t"/>
          <a:lstStyle/>
          <a:p>
            <a:pPr indent="0" marL="0">
              <a:buNone/>
            </a:pPr>
            <a:r>
              <a:rPr lang="en-US" sz="1600" dirty="0">
                <a:solidFill>
                  <a:srgbClr val="FFCE67"/>
                </a:solidFill>
                <a:latin typeface="Segoe UI" pitchFamily="34" charset="0"/>
                <a:ea typeface="Segoe UI" pitchFamily="34" charset="-122"/>
                <a:cs typeface="Segoe UI" pitchFamily="34" charset="-120"/>
              </a:rPr>
              <a:t>Another MCP or shell route cannot override an Airlock block; it can bypass Airlock if the host still permits that route.</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220"/>
        </a:solidFill>
      </p:bgPr>
    </p:bg>
    <p:spTree>
      <p:nvGrpSpPr>
        <p:cNvPr id="1" name=""/>
        <p:cNvGrpSpPr/>
        <p:nvPr/>
      </p:nvGrpSpPr>
      <p:grpSpPr>
        <a:xfrm>
          <a:off x="0" y="0"/>
          <a:ext cx="0" cy="0"/>
          <a:chOff x="0" y="0"/>
          <a:chExt cx="0" cy="0"/>
        </a:xfrm>
      </p:grpSpPr>
      <p:sp>
        <p:nvSpPr>
          <p:cNvPr id="2" name="s16-text-1"/>
          <p:cNvSpPr/>
          <p:nvPr/>
        </p:nvSpPr>
        <p:spPr>
          <a:xfrm>
            <a:off x="548640" y="219456"/>
            <a:ext cx="2834640" cy="219456"/>
          </a:xfrm>
          <a:prstGeom prst="rect">
            <a:avLst/>
          </a:prstGeom>
          <a:noFill/>
          <a:ln/>
        </p:spPr>
        <p:txBody>
          <a:bodyPr wrap="square" lIns="0" tIns="0" rIns="0" bIns="0" rtlCol="0" anchor="t"/>
          <a:lstStyle/>
          <a:p>
            <a:pPr indent="0" marL="0">
              <a:buNone/>
            </a:pPr>
            <a:r>
              <a:rPr lang="en-US" sz="1300" b="1" spc="80" kern="0" dirty="0">
                <a:solidFill>
                  <a:srgbClr val="53DDF2"/>
                </a:solidFill>
                <a:latin typeface="Segoe UI" pitchFamily="34" charset="0"/>
                <a:ea typeface="Segoe UI" pitchFamily="34" charset="-122"/>
                <a:cs typeface="Segoe UI" pitchFamily="34" charset="-120"/>
              </a:rPr>
              <a:t>AGENT AIRLOCK</a:t>
            </a:r>
            <a:endParaRPr lang="en-US" sz="1300" dirty="0"/>
          </a:p>
        </p:txBody>
      </p:sp>
      <p:sp>
        <p:nvSpPr>
          <p:cNvPr id="3" name="s16-text-2"/>
          <p:cNvSpPr/>
          <p:nvPr/>
        </p:nvSpPr>
        <p:spPr>
          <a:xfrm>
            <a:off x="3657600" y="237744"/>
            <a:ext cx="4663440" cy="201168"/>
          </a:xfrm>
          <a:prstGeom prst="rect">
            <a:avLst/>
          </a:prstGeom>
          <a:noFill/>
          <a:ln/>
        </p:spPr>
        <p:txBody>
          <a:bodyPr wrap="square" lIns="0" tIns="0" rIns="0" bIns="0" rtlCol="0" anchor="t"/>
          <a:lstStyle/>
          <a:p>
            <a:pPr algn="ctr" indent="0" marL="0">
              <a:buNone/>
            </a:pPr>
            <a:r>
              <a:rPr lang="en-US" sz="1100" spc="100" kern="0" dirty="0">
                <a:solidFill>
                  <a:srgbClr val="A8B8CF"/>
                </a:solidFill>
                <a:latin typeface="Segoe UI" pitchFamily="34" charset="0"/>
                <a:ea typeface="Segoe UI" pitchFamily="34" charset="-122"/>
                <a:cs typeface="Segoe UI" pitchFamily="34" charset="-120"/>
              </a:rPr>
              <a:t>PATH FORWARD</a:t>
            </a:r>
            <a:endParaRPr lang="en-US" sz="1100" dirty="0"/>
          </a:p>
        </p:txBody>
      </p:sp>
      <p:sp>
        <p:nvSpPr>
          <p:cNvPr id="4" name="s16-text-3"/>
          <p:cNvSpPr/>
          <p:nvPr/>
        </p:nvSpPr>
        <p:spPr>
          <a:xfrm>
            <a:off x="8412480" y="237744"/>
            <a:ext cx="3227832" cy="201168"/>
          </a:xfrm>
          <a:prstGeom prst="rect">
            <a:avLst/>
          </a:prstGeom>
          <a:noFill/>
          <a:ln/>
        </p:spPr>
        <p:txBody>
          <a:bodyPr wrap="square" lIns="0" tIns="0" rIns="0" bIns="0" rtlCol="0" anchor="t"/>
          <a:lstStyle/>
          <a:p>
            <a:pPr algn="r" indent="0" marL="0">
              <a:buNone/>
            </a:pPr>
            <a:r>
              <a:rPr lang="en-US" sz="1050" dirty="0">
                <a:solidFill>
                  <a:srgbClr val="A8B8CF"/>
                </a:solidFill>
                <a:latin typeface="Segoe UI" pitchFamily="34" charset="0"/>
                <a:ea typeface="Segoe UI" pitchFamily="34" charset="-122"/>
                <a:cs typeface="Segoe UI" pitchFamily="34" charset="-120"/>
              </a:rPr>
              <a:t>TEAM SHOWCASE</a:t>
            </a:r>
            <a:endParaRPr lang="en-US" sz="1050" dirty="0"/>
          </a:p>
        </p:txBody>
      </p:sp>
      <p:sp>
        <p:nvSpPr>
          <p:cNvPr id="5" name="s16-text-4"/>
          <p:cNvSpPr/>
          <p:nvPr/>
        </p:nvSpPr>
        <p:spPr>
          <a:xfrm>
            <a:off x="548640" y="640080"/>
            <a:ext cx="11091672" cy="914400"/>
          </a:xfrm>
          <a:prstGeom prst="rect">
            <a:avLst/>
          </a:prstGeom>
          <a:noFill/>
          <a:ln/>
        </p:spPr>
        <p:txBody>
          <a:bodyPr wrap="square" lIns="0" tIns="0" rIns="0" bIns="0" rtlCol="0" anchor="t"/>
          <a:lstStyle/>
          <a:p>
            <a:pPr indent="0" marL="0">
              <a:buNone/>
            </a:pPr>
            <a:r>
              <a:rPr lang="en-US" sz="3000" b="1" dirty="0">
                <a:solidFill>
                  <a:srgbClr val="F3F7FC"/>
                </a:solidFill>
                <a:latin typeface="Segoe UI" pitchFamily="34" charset="0"/>
                <a:ea typeface="Segoe UI" pitchFamily="34" charset="-122"/>
                <a:cs typeface="Segoe UI" pitchFamily="34" charset="-120"/>
              </a:rPr>
              <a:t>The path from prototype to shared enforcement</a:t>
            </a:r>
            <a:endParaRPr lang="en-US" sz="3000" dirty="0"/>
          </a:p>
        </p:txBody>
      </p:sp>
      <p:sp>
        <p:nvSpPr>
          <p:cNvPr id="6" name="s16-text-5"/>
          <p:cNvSpPr/>
          <p:nvPr/>
        </p:nvSpPr>
        <p:spPr>
          <a:xfrm>
            <a:off x="548640" y="1600200"/>
            <a:ext cx="11091672" cy="338328"/>
          </a:xfrm>
          <a:prstGeom prst="rect">
            <a:avLst/>
          </a:prstGeom>
          <a:noFill/>
          <a:ln/>
        </p:spPr>
        <p:txBody>
          <a:bodyPr wrap="square" lIns="0" tIns="0" rIns="0" bIns="0" rtlCol="0" anchor="t"/>
          <a:lstStyle/>
          <a:p>
            <a:pPr indent="0" marL="0">
              <a:buNone/>
            </a:pPr>
            <a:r>
              <a:rPr lang="en-US" sz="1550" dirty="0">
                <a:solidFill>
                  <a:srgbClr val="A8B8CF"/>
                </a:solidFill>
                <a:latin typeface="Segoe UI" pitchFamily="34" charset="0"/>
                <a:ea typeface="Segoe UI" pitchFamily="34" charset="-122"/>
                <a:cs typeface="Segoe UI" pitchFamily="34" charset="-120"/>
              </a:rPr>
              <a:t>The next milestone is not more warnings. It is making protected routes unavoidable.</a:t>
            </a:r>
            <a:endParaRPr lang="en-US" sz="1550" dirty="0"/>
          </a:p>
        </p:txBody>
      </p:sp>
      <p:sp>
        <p:nvSpPr>
          <p:cNvPr id="7" name="Shape 5"/>
          <p:cNvSpPr/>
          <p:nvPr/>
        </p:nvSpPr>
        <p:spPr>
          <a:xfrm>
            <a:off x="548640" y="6446520"/>
            <a:ext cx="11091672" cy="0"/>
          </a:xfrm>
          <a:prstGeom prst="line">
            <a:avLst/>
          </a:prstGeom>
          <a:solidFill>
            <a:srgbClr val="142238"/>
          </a:solidFill>
          <a:ln w="7620">
            <a:solidFill>
              <a:srgbClr val="2B405B"/>
            </a:solidFill>
            <a:prstDash val="solid"/>
          </a:ln>
        </p:spPr>
      </p:sp>
      <p:sp>
        <p:nvSpPr>
          <p:cNvPr id="8" name="s16-text-6"/>
          <p:cNvSpPr/>
          <p:nvPr/>
        </p:nvSpPr>
        <p:spPr>
          <a:xfrm>
            <a:off x="548640" y="6556248"/>
            <a:ext cx="5852160" cy="164592"/>
          </a:xfrm>
          <a:prstGeom prst="rect">
            <a:avLst/>
          </a:prstGeom>
          <a:noFill/>
          <a:ln/>
        </p:spPr>
        <p:txBody>
          <a:bodyPr wrap="square" lIns="0" tIns="0" rIns="0" bIns="0" rtlCol="0" anchor="t"/>
          <a:lstStyle/>
          <a:p>
            <a:pPr indent="0" marL="0">
              <a:buNone/>
            </a:pPr>
            <a:r>
              <a:rPr lang="en-US" sz="950" dirty="0">
                <a:solidFill>
                  <a:srgbClr val="A8B8CF"/>
                </a:solidFill>
                <a:latin typeface="Segoe UI" pitchFamily="34" charset="0"/>
                <a:ea typeface="Segoe UI" pitchFamily="34" charset="-122"/>
                <a:cs typeface="Segoe UI" pitchFamily="34" charset="-120"/>
              </a:rPr>
              <a:t>PROTOTYPE  |  POLICY-GOVERNED AGENT ACTIONS</a:t>
            </a:r>
            <a:endParaRPr lang="en-US" sz="950" dirty="0"/>
          </a:p>
        </p:txBody>
      </p:sp>
      <p:sp>
        <p:nvSpPr>
          <p:cNvPr id="9" name="s16-text-7"/>
          <p:cNvSpPr/>
          <p:nvPr/>
        </p:nvSpPr>
        <p:spPr>
          <a:xfrm>
            <a:off x="10863072" y="6528816"/>
            <a:ext cx="777240" cy="210312"/>
          </a:xfrm>
          <a:prstGeom prst="rect">
            <a:avLst/>
          </a:prstGeom>
          <a:noFill/>
          <a:ln/>
        </p:spPr>
        <p:txBody>
          <a:bodyPr wrap="square" lIns="0" tIns="0" rIns="0" bIns="0" rtlCol="0" anchor="t"/>
          <a:lstStyle/>
          <a:p>
            <a:pPr algn="r" indent="0" marL="0">
              <a:buNone/>
            </a:pPr>
            <a:r>
              <a:rPr lang="en-US" sz="1100" dirty="0">
                <a:solidFill>
                  <a:srgbClr val="53DDF2"/>
                </a:solidFill>
                <a:latin typeface="Segoe UI" pitchFamily="34" charset="0"/>
                <a:ea typeface="Segoe UI" pitchFamily="34" charset="-122"/>
                <a:cs typeface="Segoe UI" pitchFamily="34" charset="-120"/>
              </a:rPr>
              <a:t>16 / 17</a:t>
            </a:r>
            <a:endParaRPr lang="en-US" sz="1100" dirty="0"/>
          </a:p>
        </p:txBody>
      </p:sp>
      <p:sp>
        <p:nvSpPr>
          <p:cNvPr id="10" name="Shape 8"/>
          <p:cNvSpPr/>
          <p:nvPr/>
        </p:nvSpPr>
        <p:spPr>
          <a:xfrm>
            <a:off x="548640" y="2011680"/>
            <a:ext cx="2743200" cy="420624"/>
          </a:xfrm>
          <a:prstGeom prst="rect">
            <a:avLst/>
          </a:prstGeom>
          <a:solidFill>
            <a:srgbClr val="203650"/>
          </a:solidFill>
          <a:ln w="12700">
            <a:solidFill>
              <a:srgbClr val="2B405B">
                <a:alpha val="0"/>
              </a:srgbClr>
            </a:solidFill>
            <a:prstDash val="solid"/>
          </a:ln>
        </p:spPr>
      </p:sp>
      <p:sp>
        <p:nvSpPr>
          <p:cNvPr id="11" name="s16-text-8"/>
          <p:cNvSpPr/>
          <p:nvPr/>
        </p:nvSpPr>
        <p:spPr>
          <a:xfrm>
            <a:off x="713232" y="2121408"/>
            <a:ext cx="2414016" cy="201168"/>
          </a:xfrm>
          <a:prstGeom prst="rect">
            <a:avLst/>
          </a:prstGeom>
          <a:noFill/>
          <a:ln/>
        </p:spPr>
        <p:txBody>
          <a:bodyPr wrap="square" lIns="0" tIns="0" rIns="0" bIns="0" rtlCol="0" anchor="t"/>
          <a:lstStyle/>
          <a:p>
            <a:pPr indent="0" marL="0">
              <a:buNone/>
            </a:pPr>
            <a:r>
              <a:rPr lang="en-US" sz="1100" b="1" dirty="0">
                <a:solidFill>
                  <a:srgbClr val="53DDF2"/>
                </a:solidFill>
                <a:latin typeface="Segoe UI" pitchFamily="34" charset="0"/>
                <a:ea typeface="Segoe UI" pitchFamily="34" charset="-122"/>
                <a:cs typeface="Segoe UI" pitchFamily="34" charset="-120"/>
              </a:rPr>
              <a:t>PRIORITY</a:t>
            </a:r>
            <a:endParaRPr lang="en-US" sz="1100" dirty="0"/>
          </a:p>
        </p:txBody>
      </p:sp>
      <p:sp>
        <p:nvSpPr>
          <p:cNvPr id="12" name="Shape 10"/>
          <p:cNvSpPr/>
          <p:nvPr/>
        </p:nvSpPr>
        <p:spPr>
          <a:xfrm>
            <a:off x="3291840" y="2011680"/>
            <a:ext cx="5074920" cy="420624"/>
          </a:xfrm>
          <a:prstGeom prst="rect">
            <a:avLst/>
          </a:prstGeom>
          <a:solidFill>
            <a:srgbClr val="203650"/>
          </a:solidFill>
          <a:ln w="12700">
            <a:solidFill>
              <a:srgbClr val="2B405B">
                <a:alpha val="0"/>
              </a:srgbClr>
            </a:solidFill>
            <a:prstDash val="solid"/>
          </a:ln>
        </p:spPr>
      </p:sp>
      <p:sp>
        <p:nvSpPr>
          <p:cNvPr id="13" name="s16-text-9"/>
          <p:cNvSpPr/>
          <p:nvPr/>
        </p:nvSpPr>
        <p:spPr>
          <a:xfrm>
            <a:off x="3456432" y="2121408"/>
            <a:ext cx="4745736" cy="201168"/>
          </a:xfrm>
          <a:prstGeom prst="rect">
            <a:avLst/>
          </a:prstGeom>
          <a:noFill/>
          <a:ln/>
        </p:spPr>
        <p:txBody>
          <a:bodyPr wrap="square" lIns="0" tIns="0" rIns="0" bIns="0" rtlCol="0" anchor="t"/>
          <a:lstStyle/>
          <a:p>
            <a:pPr indent="0" marL="0">
              <a:buNone/>
            </a:pPr>
            <a:r>
              <a:rPr lang="en-US" sz="1100" b="1" dirty="0">
                <a:solidFill>
                  <a:srgbClr val="53DDF2"/>
                </a:solidFill>
                <a:latin typeface="Segoe UI" pitchFamily="34" charset="0"/>
                <a:ea typeface="Segoe UI" pitchFamily="34" charset="-122"/>
                <a:cs typeface="Segoe UI" pitchFamily="34" charset="-120"/>
              </a:rPr>
              <a:t>CAPABILITY</a:t>
            </a:r>
            <a:endParaRPr lang="en-US" sz="1100" dirty="0"/>
          </a:p>
        </p:txBody>
      </p:sp>
      <p:sp>
        <p:nvSpPr>
          <p:cNvPr id="14" name="Shape 12"/>
          <p:cNvSpPr/>
          <p:nvPr/>
        </p:nvSpPr>
        <p:spPr>
          <a:xfrm>
            <a:off x="8366760" y="2011680"/>
            <a:ext cx="3273552" cy="420624"/>
          </a:xfrm>
          <a:prstGeom prst="rect">
            <a:avLst/>
          </a:prstGeom>
          <a:solidFill>
            <a:srgbClr val="203650"/>
          </a:solidFill>
          <a:ln w="12700">
            <a:solidFill>
              <a:srgbClr val="2B405B">
                <a:alpha val="0"/>
              </a:srgbClr>
            </a:solidFill>
            <a:prstDash val="solid"/>
          </a:ln>
        </p:spPr>
      </p:sp>
      <p:sp>
        <p:nvSpPr>
          <p:cNvPr id="15" name="s16-text-10"/>
          <p:cNvSpPr/>
          <p:nvPr/>
        </p:nvSpPr>
        <p:spPr>
          <a:xfrm>
            <a:off x="8531352" y="2121408"/>
            <a:ext cx="2944368" cy="201168"/>
          </a:xfrm>
          <a:prstGeom prst="rect">
            <a:avLst/>
          </a:prstGeom>
          <a:noFill/>
          <a:ln/>
        </p:spPr>
        <p:txBody>
          <a:bodyPr wrap="square" lIns="0" tIns="0" rIns="0" bIns="0" rtlCol="0" anchor="t"/>
          <a:lstStyle/>
          <a:p>
            <a:pPr indent="0" marL="0">
              <a:buNone/>
            </a:pPr>
            <a:r>
              <a:rPr lang="en-US" sz="1100" b="1" dirty="0">
                <a:solidFill>
                  <a:srgbClr val="53DDF2"/>
                </a:solidFill>
                <a:latin typeface="Segoe UI" pitchFamily="34" charset="0"/>
                <a:ea typeface="Segoe UI" pitchFamily="34" charset="-122"/>
                <a:cs typeface="Segoe UI" pitchFamily="34" charset="-120"/>
              </a:rPr>
              <a:t>PROOF</a:t>
            </a:r>
            <a:endParaRPr lang="en-US" sz="1100" dirty="0"/>
          </a:p>
        </p:txBody>
      </p:sp>
      <p:sp>
        <p:nvSpPr>
          <p:cNvPr id="16" name="Shape 14"/>
          <p:cNvSpPr/>
          <p:nvPr/>
        </p:nvSpPr>
        <p:spPr>
          <a:xfrm>
            <a:off x="548640" y="2459736"/>
            <a:ext cx="2711196" cy="553212"/>
          </a:xfrm>
          <a:prstGeom prst="rect">
            <a:avLst/>
          </a:prstGeom>
          <a:solidFill>
            <a:srgbClr val="142238"/>
          </a:solidFill>
          <a:ln w="12700">
            <a:solidFill>
              <a:srgbClr val="2B405B">
                <a:alpha val="0"/>
              </a:srgbClr>
            </a:solidFill>
            <a:prstDash val="solid"/>
          </a:ln>
        </p:spPr>
      </p:sp>
      <p:sp>
        <p:nvSpPr>
          <p:cNvPr id="17" name="s16-text-11"/>
          <p:cNvSpPr/>
          <p:nvPr/>
        </p:nvSpPr>
        <p:spPr>
          <a:xfrm>
            <a:off x="694944" y="2551176"/>
            <a:ext cx="2560320" cy="466344"/>
          </a:xfrm>
          <a:prstGeom prst="rect">
            <a:avLst/>
          </a:prstGeom>
          <a:noFill/>
          <a:ln/>
        </p:spPr>
        <p:txBody>
          <a:bodyPr wrap="square" lIns="0" tIns="0" rIns="0" bIns="0" rtlCol="0" anchor="t"/>
          <a:lstStyle/>
          <a:p>
            <a:pPr indent="0" marL="0">
              <a:buNone/>
            </a:pPr>
            <a:r>
              <a:rPr lang="en-US" sz="1400" b="1" dirty="0">
                <a:solidFill>
                  <a:srgbClr val="F3F7FC"/>
                </a:solidFill>
                <a:latin typeface="Segoe UI" pitchFamily="34" charset="0"/>
                <a:ea typeface="Segoe UI" pitchFamily="34" charset="-122"/>
                <a:cs typeface="Segoe UI" pitchFamily="34" charset="-120"/>
              </a:rPr>
              <a:t>1</a:t>
            </a:r>
            <a:endParaRPr lang="en-US" sz="1400" dirty="0"/>
          </a:p>
        </p:txBody>
      </p:sp>
      <p:sp>
        <p:nvSpPr>
          <p:cNvPr id="18" name="Shape 16"/>
          <p:cNvSpPr/>
          <p:nvPr/>
        </p:nvSpPr>
        <p:spPr>
          <a:xfrm>
            <a:off x="3291840" y="2459736"/>
            <a:ext cx="5042916" cy="553212"/>
          </a:xfrm>
          <a:prstGeom prst="rect">
            <a:avLst/>
          </a:prstGeom>
          <a:solidFill>
            <a:srgbClr val="142238"/>
          </a:solidFill>
          <a:ln w="12700">
            <a:solidFill>
              <a:srgbClr val="2B405B">
                <a:alpha val="0"/>
              </a:srgbClr>
            </a:solidFill>
            <a:prstDash val="solid"/>
          </a:ln>
        </p:spPr>
      </p:sp>
      <p:sp>
        <p:nvSpPr>
          <p:cNvPr id="19" name="s16-text-12"/>
          <p:cNvSpPr/>
          <p:nvPr/>
        </p:nvSpPr>
        <p:spPr>
          <a:xfrm>
            <a:off x="3438144" y="2551176"/>
            <a:ext cx="4892040" cy="466344"/>
          </a:xfrm>
          <a:prstGeom prst="rect">
            <a:avLst/>
          </a:prstGeom>
          <a:noFill/>
          <a:ln/>
        </p:spPr>
        <p:txBody>
          <a:bodyPr wrap="square" lIns="0" tIns="0" rIns="0" bIns="0" rtlCol="0" anchor="t"/>
          <a:lstStyle/>
          <a:p>
            <a:pPr indent="0" marL="0">
              <a:buNone/>
            </a:pPr>
            <a:r>
              <a:rPr lang="en-US" sz="1400" dirty="0">
                <a:solidFill>
                  <a:srgbClr val="A8B8CF"/>
                </a:solidFill>
                <a:latin typeface="Segoe UI" pitchFamily="34" charset="0"/>
                <a:ea typeface="Segoe UI" pitchFamily="34" charset="-122"/>
                <a:cs typeface="Segoe UI" pitchFamily="34" charset="-120"/>
              </a:rPr>
              <a:t>Mandatory host or destination mediation</a:t>
            </a:r>
            <a:endParaRPr lang="en-US" sz="1400" dirty="0"/>
          </a:p>
        </p:txBody>
      </p:sp>
      <p:sp>
        <p:nvSpPr>
          <p:cNvPr id="20" name="Shape 18"/>
          <p:cNvSpPr/>
          <p:nvPr/>
        </p:nvSpPr>
        <p:spPr>
          <a:xfrm>
            <a:off x="8366760" y="2459736"/>
            <a:ext cx="3241548" cy="553212"/>
          </a:xfrm>
          <a:prstGeom prst="rect">
            <a:avLst/>
          </a:prstGeom>
          <a:solidFill>
            <a:srgbClr val="142238"/>
          </a:solidFill>
          <a:ln w="12700">
            <a:solidFill>
              <a:srgbClr val="2B405B">
                <a:alpha val="0"/>
              </a:srgbClr>
            </a:solidFill>
            <a:prstDash val="solid"/>
          </a:ln>
        </p:spPr>
      </p:sp>
      <p:sp>
        <p:nvSpPr>
          <p:cNvPr id="21" name="s16-text-13"/>
          <p:cNvSpPr/>
          <p:nvPr/>
        </p:nvSpPr>
        <p:spPr>
          <a:xfrm>
            <a:off x="8513064" y="2551176"/>
            <a:ext cx="3090672" cy="466344"/>
          </a:xfrm>
          <a:prstGeom prst="rect">
            <a:avLst/>
          </a:prstGeom>
          <a:noFill/>
          <a:ln/>
        </p:spPr>
        <p:txBody>
          <a:bodyPr wrap="square" lIns="0" tIns="0" rIns="0" bIns="0" rtlCol="0" anchor="t"/>
          <a:lstStyle/>
          <a:p>
            <a:pPr indent="0" marL="0">
              <a:buNone/>
            </a:pPr>
            <a:r>
              <a:rPr lang="en-US" sz="1400" dirty="0">
                <a:solidFill>
                  <a:srgbClr val="A8B8CF"/>
                </a:solidFill>
                <a:latin typeface="Segoe UI" pitchFamily="34" charset="0"/>
                <a:ea typeface="Segoe UI" pitchFamily="34" charset="-122"/>
                <a:cs typeface="Segoe UI" pitchFamily="34" charset="-120"/>
              </a:rPr>
              <a:t>Alternate-route coverage tests</a:t>
            </a:r>
            <a:endParaRPr lang="en-US" sz="1400" dirty="0"/>
          </a:p>
        </p:txBody>
      </p:sp>
      <p:sp>
        <p:nvSpPr>
          <p:cNvPr id="22" name="Shape 20"/>
          <p:cNvSpPr/>
          <p:nvPr/>
        </p:nvSpPr>
        <p:spPr>
          <a:xfrm>
            <a:off x="548640" y="3054096"/>
            <a:ext cx="2711196" cy="553212"/>
          </a:xfrm>
          <a:prstGeom prst="rect">
            <a:avLst/>
          </a:prstGeom>
          <a:solidFill>
            <a:srgbClr val="0F1B2D"/>
          </a:solidFill>
          <a:ln w="12700">
            <a:solidFill>
              <a:srgbClr val="2B405B">
                <a:alpha val="0"/>
              </a:srgbClr>
            </a:solidFill>
            <a:prstDash val="solid"/>
          </a:ln>
        </p:spPr>
      </p:sp>
      <p:sp>
        <p:nvSpPr>
          <p:cNvPr id="23" name="s16-text-14"/>
          <p:cNvSpPr/>
          <p:nvPr/>
        </p:nvSpPr>
        <p:spPr>
          <a:xfrm>
            <a:off x="694944" y="3145536"/>
            <a:ext cx="2560320" cy="466344"/>
          </a:xfrm>
          <a:prstGeom prst="rect">
            <a:avLst/>
          </a:prstGeom>
          <a:noFill/>
          <a:ln/>
        </p:spPr>
        <p:txBody>
          <a:bodyPr wrap="square" lIns="0" tIns="0" rIns="0" bIns="0" rtlCol="0" anchor="t"/>
          <a:lstStyle/>
          <a:p>
            <a:pPr indent="0" marL="0">
              <a:buNone/>
            </a:pPr>
            <a:r>
              <a:rPr lang="en-US" sz="1400" b="1" dirty="0">
                <a:solidFill>
                  <a:srgbClr val="F3F7FC"/>
                </a:solidFill>
                <a:latin typeface="Segoe UI" pitchFamily="34" charset="0"/>
                <a:ea typeface="Segoe UI" pitchFamily="34" charset="-122"/>
                <a:cs typeface="Segoe UI" pitchFamily="34" charset="-120"/>
              </a:rPr>
              <a:t>2</a:t>
            </a:r>
            <a:endParaRPr lang="en-US" sz="1400" dirty="0"/>
          </a:p>
        </p:txBody>
      </p:sp>
      <p:sp>
        <p:nvSpPr>
          <p:cNvPr id="24" name="Shape 22"/>
          <p:cNvSpPr/>
          <p:nvPr/>
        </p:nvSpPr>
        <p:spPr>
          <a:xfrm>
            <a:off x="3291840" y="3054096"/>
            <a:ext cx="5042916" cy="553212"/>
          </a:xfrm>
          <a:prstGeom prst="rect">
            <a:avLst/>
          </a:prstGeom>
          <a:solidFill>
            <a:srgbClr val="0F1B2D"/>
          </a:solidFill>
          <a:ln w="12700">
            <a:solidFill>
              <a:srgbClr val="2B405B">
                <a:alpha val="0"/>
              </a:srgbClr>
            </a:solidFill>
            <a:prstDash val="solid"/>
          </a:ln>
        </p:spPr>
      </p:sp>
      <p:sp>
        <p:nvSpPr>
          <p:cNvPr id="25" name="s16-text-15"/>
          <p:cNvSpPr/>
          <p:nvPr/>
        </p:nvSpPr>
        <p:spPr>
          <a:xfrm>
            <a:off x="3438144" y="3145536"/>
            <a:ext cx="4892040" cy="466344"/>
          </a:xfrm>
          <a:prstGeom prst="rect">
            <a:avLst/>
          </a:prstGeom>
          <a:noFill/>
          <a:ln/>
        </p:spPr>
        <p:txBody>
          <a:bodyPr wrap="square" lIns="0" tIns="0" rIns="0" bIns="0" rtlCol="0" anchor="t"/>
          <a:lstStyle/>
          <a:p>
            <a:pPr indent="0" marL="0">
              <a:buNone/>
            </a:pPr>
            <a:r>
              <a:rPr lang="en-US" sz="1400" dirty="0">
                <a:solidFill>
                  <a:srgbClr val="A8B8CF"/>
                </a:solidFill>
                <a:latin typeface="Segoe UI" pitchFamily="34" charset="0"/>
                <a:ea typeface="Segoe UI" pitchFamily="34" charset="-122"/>
                <a:cs typeface="Segoe UI" pitchFamily="34" charset="-120"/>
              </a:rPr>
              <a:t>Approval redemption bound to the exact action</a:t>
            </a:r>
            <a:endParaRPr lang="en-US" sz="1400" dirty="0"/>
          </a:p>
        </p:txBody>
      </p:sp>
      <p:sp>
        <p:nvSpPr>
          <p:cNvPr id="26" name="Shape 24"/>
          <p:cNvSpPr/>
          <p:nvPr/>
        </p:nvSpPr>
        <p:spPr>
          <a:xfrm>
            <a:off x="8366760" y="3054096"/>
            <a:ext cx="3241548" cy="553212"/>
          </a:xfrm>
          <a:prstGeom prst="rect">
            <a:avLst/>
          </a:prstGeom>
          <a:solidFill>
            <a:srgbClr val="0F1B2D"/>
          </a:solidFill>
          <a:ln w="12700">
            <a:solidFill>
              <a:srgbClr val="2B405B">
                <a:alpha val="0"/>
              </a:srgbClr>
            </a:solidFill>
            <a:prstDash val="solid"/>
          </a:ln>
        </p:spPr>
      </p:sp>
      <p:sp>
        <p:nvSpPr>
          <p:cNvPr id="27" name="s16-text-16"/>
          <p:cNvSpPr/>
          <p:nvPr/>
        </p:nvSpPr>
        <p:spPr>
          <a:xfrm>
            <a:off x="8513064" y="3145536"/>
            <a:ext cx="3090672" cy="466344"/>
          </a:xfrm>
          <a:prstGeom prst="rect">
            <a:avLst/>
          </a:prstGeom>
          <a:noFill/>
          <a:ln/>
        </p:spPr>
        <p:txBody>
          <a:bodyPr wrap="square" lIns="0" tIns="0" rIns="0" bIns="0" rtlCol="0" anchor="t"/>
          <a:lstStyle/>
          <a:p>
            <a:pPr indent="0" marL="0">
              <a:buNone/>
            </a:pPr>
            <a:r>
              <a:rPr lang="en-US" sz="1400" dirty="0">
                <a:solidFill>
                  <a:srgbClr val="A8B8CF"/>
                </a:solidFill>
                <a:latin typeface="Segoe UI" pitchFamily="34" charset="0"/>
                <a:ea typeface="Segoe UI" pitchFamily="34" charset="-122"/>
                <a:cs typeface="Segoe UI" pitchFamily="34" charset="-120"/>
              </a:rPr>
              <a:t>Expiry, replay and mutation rejection</a:t>
            </a:r>
            <a:endParaRPr lang="en-US" sz="1400" dirty="0"/>
          </a:p>
        </p:txBody>
      </p:sp>
      <p:sp>
        <p:nvSpPr>
          <p:cNvPr id="28" name="Shape 26"/>
          <p:cNvSpPr/>
          <p:nvPr/>
        </p:nvSpPr>
        <p:spPr>
          <a:xfrm>
            <a:off x="548640" y="3648456"/>
            <a:ext cx="2711196" cy="553212"/>
          </a:xfrm>
          <a:prstGeom prst="rect">
            <a:avLst/>
          </a:prstGeom>
          <a:solidFill>
            <a:srgbClr val="142238"/>
          </a:solidFill>
          <a:ln w="12700">
            <a:solidFill>
              <a:srgbClr val="2B405B">
                <a:alpha val="0"/>
              </a:srgbClr>
            </a:solidFill>
            <a:prstDash val="solid"/>
          </a:ln>
        </p:spPr>
      </p:sp>
      <p:sp>
        <p:nvSpPr>
          <p:cNvPr id="29" name="s16-text-17"/>
          <p:cNvSpPr/>
          <p:nvPr/>
        </p:nvSpPr>
        <p:spPr>
          <a:xfrm>
            <a:off x="694944" y="3739896"/>
            <a:ext cx="2560320" cy="466344"/>
          </a:xfrm>
          <a:prstGeom prst="rect">
            <a:avLst/>
          </a:prstGeom>
          <a:noFill/>
          <a:ln/>
        </p:spPr>
        <p:txBody>
          <a:bodyPr wrap="square" lIns="0" tIns="0" rIns="0" bIns="0" rtlCol="0" anchor="t"/>
          <a:lstStyle/>
          <a:p>
            <a:pPr indent="0" marL="0">
              <a:buNone/>
            </a:pPr>
            <a:r>
              <a:rPr lang="en-US" sz="1400" b="1" dirty="0">
                <a:solidFill>
                  <a:srgbClr val="F3F7FC"/>
                </a:solidFill>
                <a:latin typeface="Segoe UI" pitchFamily="34" charset="0"/>
                <a:ea typeface="Segoe UI" pitchFamily="34" charset="-122"/>
                <a:cs typeface="Segoe UI" pitchFamily="34" charset="-120"/>
              </a:rPr>
              <a:t>3</a:t>
            </a:r>
            <a:endParaRPr lang="en-US" sz="1400" dirty="0"/>
          </a:p>
        </p:txBody>
      </p:sp>
      <p:sp>
        <p:nvSpPr>
          <p:cNvPr id="30" name="Shape 28"/>
          <p:cNvSpPr/>
          <p:nvPr/>
        </p:nvSpPr>
        <p:spPr>
          <a:xfrm>
            <a:off x="3291840" y="3648456"/>
            <a:ext cx="5042916" cy="553212"/>
          </a:xfrm>
          <a:prstGeom prst="rect">
            <a:avLst/>
          </a:prstGeom>
          <a:solidFill>
            <a:srgbClr val="142238"/>
          </a:solidFill>
          <a:ln w="12700">
            <a:solidFill>
              <a:srgbClr val="2B405B">
                <a:alpha val="0"/>
              </a:srgbClr>
            </a:solidFill>
            <a:prstDash val="solid"/>
          </a:ln>
        </p:spPr>
      </p:sp>
      <p:sp>
        <p:nvSpPr>
          <p:cNvPr id="31" name="s16-text-18"/>
          <p:cNvSpPr/>
          <p:nvPr/>
        </p:nvSpPr>
        <p:spPr>
          <a:xfrm>
            <a:off x="3438144" y="3739896"/>
            <a:ext cx="4892040" cy="466344"/>
          </a:xfrm>
          <a:prstGeom prst="rect">
            <a:avLst/>
          </a:prstGeom>
          <a:noFill/>
          <a:ln/>
        </p:spPr>
        <p:txBody>
          <a:bodyPr wrap="square" lIns="0" tIns="0" rIns="0" bIns="0" rtlCol="0" anchor="t"/>
          <a:lstStyle/>
          <a:p>
            <a:pPr indent="0" marL="0">
              <a:buNone/>
            </a:pPr>
            <a:r>
              <a:rPr lang="en-US" sz="1400" dirty="0">
                <a:solidFill>
                  <a:srgbClr val="A8B8CF"/>
                </a:solidFill>
                <a:latin typeface="Segoe UI" pitchFamily="34" charset="0"/>
                <a:ea typeface="Segoe UI" pitchFamily="34" charset="-122"/>
                <a:cs typeface="Segoe UI" pitchFamily="34" charset="-120"/>
              </a:rPr>
              <a:t>Protected policy distribution and integrity</a:t>
            </a:r>
            <a:endParaRPr lang="en-US" sz="1400" dirty="0"/>
          </a:p>
        </p:txBody>
      </p:sp>
      <p:sp>
        <p:nvSpPr>
          <p:cNvPr id="32" name="Shape 30"/>
          <p:cNvSpPr/>
          <p:nvPr/>
        </p:nvSpPr>
        <p:spPr>
          <a:xfrm>
            <a:off x="8366760" y="3648456"/>
            <a:ext cx="3241548" cy="553212"/>
          </a:xfrm>
          <a:prstGeom prst="rect">
            <a:avLst/>
          </a:prstGeom>
          <a:solidFill>
            <a:srgbClr val="142238"/>
          </a:solidFill>
          <a:ln w="12700">
            <a:solidFill>
              <a:srgbClr val="2B405B">
                <a:alpha val="0"/>
              </a:srgbClr>
            </a:solidFill>
            <a:prstDash val="solid"/>
          </a:ln>
        </p:spPr>
      </p:sp>
      <p:sp>
        <p:nvSpPr>
          <p:cNvPr id="33" name="s16-text-19"/>
          <p:cNvSpPr/>
          <p:nvPr/>
        </p:nvSpPr>
        <p:spPr>
          <a:xfrm>
            <a:off x="8513064" y="3739896"/>
            <a:ext cx="3090672" cy="466344"/>
          </a:xfrm>
          <a:prstGeom prst="rect">
            <a:avLst/>
          </a:prstGeom>
          <a:noFill/>
          <a:ln/>
        </p:spPr>
        <p:txBody>
          <a:bodyPr wrap="square" lIns="0" tIns="0" rIns="0" bIns="0" rtlCol="0" anchor="t"/>
          <a:lstStyle/>
          <a:p>
            <a:pPr indent="0" marL="0">
              <a:buNone/>
            </a:pPr>
            <a:r>
              <a:rPr lang="en-US" sz="1400" dirty="0">
                <a:solidFill>
                  <a:srgbClr val="A8B8CF"/>
                </a:solidFill>
                <a:latin typeface="Segoe UI" pitchFamily="34" charset="0"/>
                <a:ea typeface="Segoe UI" pitchFamily="34" charset="-122"/>
                <a:cs typeface="Segoe UI" pitchFamily="34" charset="-120"/>
              </a:rPr>
              <a:t>Missing or invalid controls fail closed</a:t>
            </a:r>
            <a:endParaRPr lang="en-US" sz="1400" dirty="0"/>
          </a:p>
        </p:txBody>
      </p:sp>
      <p:sp>
        <p:nvSpPr>
          <p:cNvPr id="34" name="Shape 32"/>
          <p:cNvSpPr/>
          <p:nvPr/>
        </p:nvSpPr>
        <p:spPr>
          <a:xfrm>
            <a:off x="548640" y="4242816"/>
            <a:ext cx="2711196" cy="553212"/>
          </a:xfrm>
          <a:prstGeom prst="rect">
            <a:avLst/>
          </a:prstGeom>
          <a:solidFill>
            <a:srgbClr val="0F1B2D"/>
          </a:solidFill>
          <a:ln w="12700">
            <a:solidFill>
              <a:srgbClr val="2B405B">
                <a:alpha val="0"/>
              </a:srgbClr>
            </a:solidFill>
            <a:prstDash val="solid"/>
          </a:ln>
        </p:spPr>
      </p:sp>
      <p:sp>
        <p:nvSpPr>
          <p:cNvPr id="35" name="s16-text-20"/>
          <p:cNvSpPr/>
          <p:nvPr/>
        </p:nvSpPr>
        <p:spPr>
          <a:xfrm>
            <a:off x="694944" y="4334256"/>
            <a:ext cx="2560320" cy="466344"/>
          </a:xfrm>
          <a:prstGeom prst="rect">
            <a:avLst/>
          </a:prstGeom>
          <a:noFill/>
          <a:ln/>
        </p:spPr>
        <p:txBody>
          <a:bodyPr wrap="square" lIns="0" tIns="0" rIns="0" bIns="0" rtlCol="0" anchor="t"/>
          <a:lstStyle/>
          <a:p>
            <a:pPr indent="0" marL="0">
              <a:buNone/>
            </a:pPr>
            <a:r>
              <a:rPr lang="en-US" sz="1400" b="1" dirty="0">
                <a:solidFill>
                  <a:srgbClr val="F3F7FC"/>
                </a:solidFill>
                <a:latin typeface="Segoe UI" pitchFamily="34" charset="0"/>
                <a:ea typeface="Segoe UI" pitchFamily="34" charset="-122"/>
                <a:cs typeface="Segoe UI" pitchFamily="34" charset="-120"/>
              </a:rPr>
              <a:t>4</a:t>
            </a:r>
            <a:endParaRPr lang="en-US" sz="1400" dirty="0"/>
          </a:p>
        </p:txBody>
      </p:sp>
      <p:sp>
        <p:nvSpPr>
          <p:cNvPr id="36" name="Shape 34"/>
          <p:cNvSpPr/>
          <p:nvPr/>
        </p:nvSpPr>
        <p:spPr>
          <a:xfrm>
            <a:off x="3291840" y="4242816"/>
            <a:ext cx="5042916" cy="553212"/>
          </a:xfrm>
          <a:prstGeom prst="rect">
            <a:avLst/>
          </a:prstGeom>
          <a:solidFill>
            <a:srgbClr val="0F1B2D"/>
          </a:solidFill>
          <a:ln w="12700">
            <a:solidFill>
              <a:srgbClr val="2B405B">
                <a:alpha val="0"/>
              </a:srgbClr>
            </a:solidFill>
            <a:prstDash val="solid"/>
          </a:ln>
        </p:spPr>
      </p:sp>
      <p:sp>
        <p:nvSpPr>
          <p:cNvPr id="37" name="s16-text-21"/>
          <p:cNvSpPr/>
          <p:nvPr/>
        </p:nvSpPr>
        <p:spPr>
          <a:xfrm>
            <a:off x="3438144" y="4334256"/>
            <a:ext cx="4892040" cy="466344"/>
          </a:xfrm>
          <a:prstGeom prst="rect">
            <a:avLst/>
          </a:prstGeom>
          <a:noFill/>
          <a:ln/>
        </p:spPr>
        <p:txBody>
          <a:bodyPr wrap="square" lIns="0" tIns="0" rIns="0" bIns="0" rtlCol="0" anchor="t"/>
          <a:lstStyle/>
          <a:p>
            <a:pPr indent="0" marL="0">
              <a:buNone/>
            </a:pPr>
            <a:r>
              <a:rPr lang="en-US" sz="1400" dirty="0">
                <a:solidFill>
                  <a:srgbClr val="A8B8CF"/>
                </a:solidFill>
                <a:latin typeface="Segoe UI" pitchFamily="34" charset="0"/>
                <a:ea typeface="Segoe UI" pitchFamily="34" charset="-122"/>
                <a:cs typeface="Segoe UI" pitchFamily="34" charset="-120"/>
              </a:rPr>
              <a:t>Narrow real-world executors</a:t>
            </a:r>
            <a:endParaRPr lang="en-US" sz="1400" dirty="0"/>
          </a:p>
        </p:txBody>
      </p:sp>
      <p:sp>
        <p:nvSpPr>
          <p:cNvPr id="38" name="Shape 36"/>
          <p:cNvSpPr/>
          <p:nvPr/>
        </p:nvSpPr>
        <p:spPr>
          <a:xfrm>
            <a:off x="8366760" y="4242816"/>
            <a:ext cx="3241548" cy="553212"/>
          </a:xfrm>
          <a:prstGeom prst="rect">
            <a:avLst/>
          </a:prstGeom>
          <a:solidFill>
            <a:srgbClr val="0F1B2D"/>
          </a:solidFill>
          <a:ln w="12700">
            <a:solidFill>
              <a:srgbClr val="2B405B">
                <a:alpha val="0"/>
              </a:srgbClr>
            </a:solidFill>
            <a:prstDash val="solid"/>
          </a:ln>
        </p:spPr>
      </p:sp>
      <p:sp>
        <p:nvSpPr>
          <p:cNvPr id="39" name="s16-text-22"/>
          <p:cNvSpPr/>
          <p:nvPr/>
        </p:nvSpPr>
        <p:spPr>
          <a:xfrm>
            <a:off x="8513064" y="4334256"/>
            <a:ext cx="3090672" cy="466344"/>
          </a:xfrm>
          <a:prstGeom prst="rect">
            <a:avLst/>
          </a:prstGeom>
          <a:noFill/>
          <a:ln/>
        </p:spPr>
        <p:txBody>
          <a:bodyPr wrap="square" lIns="0" tIns="0" rIns="0" bIns="0" rtlCol="0" anchor="t"/>
          <a:lstStyle/>
          <a:p>
            <a:pPr indent="0" marL="0">
              <a:buNone/>
            </a:pPr>
            <a:r>
              <a:rPr lang="en-US" sz="1400" dirty="0">
                <a:solidFill>
                  <a:srgbClr val="A8B8CF"/>
                </a:solidFill>
                <a:latin typeface="Segoe UI" pitchFamily="34" charset="0"/>
                <a:ea typeface="Segoe UI" pitchFamily="34" charset="-122"/>
                <a:cs typeface="Segoe UI" pitchFamily="34" charset="-120"/>
              </a:rPr>
              <a:t>Destination, credential and retry guarantees</a:t>
            </a:r>
            <a:endParaRPr lang="en-US" sz="1400" dirty="0"/>
          </a:p>
        </p:txBody>
      </p:sp>
      <p:sp>
        <p:nvSpPr>
          <p:cNvPr id="40" name="Shape 38"/>
          <p:cNvSpPr/>
          <p:nvPr/>
        </p:nvSpPr>
        <p:spPr>
          <a:xfrm>
            <a:off x="548640" y="4837176"/>
            <a:ext cx="2711196" cy="553212"/>
          </a:xfrm>
          <a:prstGeom prst="rect">
            <a:avLst/>
          </a:prstGeom>
          <a:solidFill>
            <a:srgbClr val="142238"/>
          </a:solidFill>
          <a:ln w="12700">
            <a:solidFill>
              <a:srgbClr val="2B405B">
                <a:alpha val="0"/>
              </a:srgbClr>
            </a:solidFill>
            <a:prstDash val="solid"/>
          </a:ln>
        </p:spPr>
      </p:sp>
      <p:sp>
        <p:nvSpPr>
          <p:cNvPr id="41" name="s16-text-23"/>
          <p:cNvSpPr/>
          <p:nvPr/>
        </p:nvSpPr>
        <p:spPr>
          <a:xfrm>
            <a:off x="694944" y="4928616"/>
            <a:ext cx="2560320" cy="466344"/>
          </a:xfrm>
          <a:prstGeom prst="rect">
            <a:avLst/>
          </a:prstGeom>
          <a:noFill/>
          <a:ln/>
        </p:spPr>
        <p:txBody>
          <a:bodyPr wrap="square" lIns="0" tIns="0" rIns="0" bIns="0" rtlCol="0" anchor="t"/>
          <a:lstStyle/>
          <a:p>
            <a:pPr indent="0" marL="0">
              <a:buNone/>
            </a:pPr>
            <a:r>
              <a:rPr lang="en-US" sz="1400" b="1" dirty="0">
                <a:solidFill>
                  <a:srgbClr val="F3F7FC"/>
                </a:solidFill>
                <a:latin typeface="Segoe UI" pitchFamily="34" charset="0"/>
                <a:ea typeface="Segoe UI" pitchFamily="34" charset="-122"/>
                <a:cs typeface="Segoe UI" pitchFamily="34" charset="-120"/>
              </a:rPr>
              <a:t>5</a:t>
            </a:r>
            <a:endParaRPr lang="en-US" sz="1400" dirty="0"/>
          </a:p>
        </p:txBody>
      </p:sp>
      <p:sp>
        <p:nvSpPr>
          <p:cNvPr id="42" name="Shape 40"/>
          <p:cNvSpPr/>
          <p:nvPr/>
        </p:nvSpPr>
        <p:spPr>
          <a:xfrm>
            <a:off x="3291840" y="4837176"/>
            <a:ext cx="5042916" cy="553212"/>
          </a:xfrm>
          <a:prstGeom prst="rect">
            <a:avLst/>
          </a:prstGeom>
          <a:solidFill>
            <a:srgbClr val="142238"/>
          </a:solidFill>
          <a:ln w="12700">
            <a:solidFill>
              <a:srgbClr val="2B405B">
                <a:alpha val="0"/>
              </a:srgbClr>
            </a:solidFill>
            <a:prstDash val="solid"/>
          </a:ln>
        </p:spPr>
      </p:sp>
      <p:sp>
        <p:nvSpPr>
          <p:cNvPr id="43" name="s16-text-24"/>
          <p:cNvSpPr/>
          <p:nvPr/>
        </p:nvSpPr>
        <p:spPr>
          <a:xfrm>
            <a:off x="3438144" y="4928616"/>
            <a:ext cx="4892040" cy="466344"/>
          </a:xfrm>
          <a:prstGeom prst="rect">
            <a:avLst/>
          </a:prstGeom>
          <a:noFill/>
          <a:ln/>
        </p:spPr>
        <p:txBody>
          <a:bodyPr wrap="square" lIns="0" tIns="0" rIns="0" bIns="0" rtlCol="0" anchor="t"/>
          <a:lstStyle/>
          <a:p>
            <a:pPr indent="0" marL="0">
              <a:buNone/>
            </a:pPr>
            <a:r>
              <a:rPr lang="en-US" sz="1400" dirty="0">
                <a:solidFill>
                  <a:srgbClr val="A8B8CF"/>
                </a:solidFill>
                <a:latin typeface="Segoe UI" pitchFamily="34" charset="0"/>
                <a:ea typeface="Segoe UI" pitchFamily="34" charset="-122"/>
                <a:cs typeface="Segoe UI" pitchFamily="34" charset="-120"/>
              </a:rPr>
              <a:t>Broader gate catalog</a:t>
            </a:r>
            <a:endParaRPr lang="en-US" sz="1400" dirty="0"/>
          </a:p>
        </p:txBody>
      </p:sp>
      <p:sp>
        <p:nvSpPr>
          <p:cNvPr id="44" name="Shape 42"/>
          <p:cNvSpPr/>
          <p:nvPr/>
        </p:nvSpPr>
        <p:spPr>
          <a:xfrm>
            <a:off x="8366760" y="4837176"/>
            <a:ext cx="3241548" cy="553212"/>
          </a:xfrm>
          <a:prstGeom prst="rect">
            <a:avLst/>
          </a:prstGeom>
          <a:solidFill>
            <a:srgbClr val="142238"/>
          </a:solidFill>
          <a:ln w="12700">
            <a:solidFill>
              <a:srgbClr val="2B405B">
                <a:alpha val="0"/>
              </a:srgbClr>
            </a:solidFill>
            <a:prstDash val="solid"/>
          </a:ln>
        </p:spPr>
      </p:sp>
      <p:sp>
        <p:nvSpPr>
          <p:cNvPr id="45" name="s16-text-25"/>
          <p:cNvSpPr/>
          <p:nvPr/>
        </p:nvSpPr>
        <p:spPr>
          <a:xfrm>
            <a:off x="8513064" y="4928616"/>
            <a:ext cx="3090672" cy="466344"/>
          </a:xfrm>
          <a:prstGeom prst="rect">
            <a:avLst/>
          </a:prstGeom>
          <a:noFill/>
          <a:ln/>
        </p:spPr>
        <p:txBody>
          <a:bodyPr wrap="square" lIns="0" tIns="0" rIns="0" bIns="0" rtlCol="0" anchor="t"/>
          <a:lstStyle/>
          <a:p>
            <a:pPr indent="0" marL="0">
              <a:buNone/>
            </a:pPr>
            <a:r>
              <a:rPr lang="en-US" sz="1400" dirty="0">
                <a:solidFill>
                  <a:srgbClr val="A8B8CF"/>
                </a:solidFill>
                <a:latin typeface="Segoe UI" pitchFamily="34" charset="0"/>
                <a:ea typeface="Segoe UI" pitchFamily="34" charset="-122"/>
                <a:cs typeface="Segoe UI" pitchFamily="34" charset="-120"/>
              </a:rPr>
              <a:t>New risks compose without weakening existing checks</a:t>
            </a:r>
            <a:endParaRPr lang="en-US" sz="1400" dirty="0"/>
          </a:p>
        </p:txBody>
      </p:sp>
      <p:sp>
        <p:nvSpPr>
          <p:cNvPr id="46" name="Shape 44"/>
          <p:cNvSpPr/>
          <p:nvPr/>
        </p:nvSpPr>
        <p:spPr>
          <a:xfrm>
            <a:off x="548640" y="5687568"/>
            <a:ext cx="11091672" cy="585216"/>
          </a:xfrm>
          <a:prstGeom prst="roundRect">
            <a:avLst>
              <a:gd name="adj" fmla="val 25000"/>
            </a:avLst>
          </a:prstGeom>
          <a:solidFill>
            <a:srgbClr val="142238"/>
          </a:solidFill>
          <a:ln w="10160">
            <a:solidFill>
              <a:srgbClr val="2B405B"/>
            </a:solidFill>
            <a:prstDash val="solid"/>
          </a:ln>
        </p:spPr>
      </p:sp>
      <p:sp>
        <p:nvSpPr>
          <p:cNvPr id="47" name="Shape 45"/>
          <p:cNvSpPr/>
          <p:nvPr/>
        </p:nvSpPr>
        <p:spPr>
          <a:xfrm>
            <a:off x="548640" y="5687568"/>
            <a:ext cx="41148" cy="585216"/>
          </a:xfrm>
          <a:prstGeom prst="rect">
            <a:avLst/>
          </a:prstGeom>
          <a:solidFill>
            <a:srgbClr val="53DDF2"/>
          </a:solidFill>
          <a:ln w="12700">
            <a:solidFill>
              <a:srgbClr val="2B405B">
                <a:alpha val="0"/>
              </a:srgbClr>
            </a:solidFill>
            <a:prstDash val="solid"/>
          </a:ln>
        </p:spPr>
      </p:sp>
      <p:sp>
        <p:nvSpPr>
          <p:cNvPr id="48" name="s16-text-26"/>
          <p:cNvSpPr/>
          <p:nvPr/>
        </p:nvSpPr>
        <p:spPr>
          <a:xfrm>
            <a:off x="758952" y="5833872"/>
            <a:ext cx="10652760" cy="292608"/>
          </a:xfrm>
          <a:prstGeom prst="rect">
            <a:avLst/>
          </a:prstGeom>
          <a:noFill/>
          <a:ln/>
        </p:spPr>
        <p:txBody>
          <a:bodyPr wrap="square" lIns="0" tIns="0" rIns="0" bIns="0" rtlCol="0" anchor="t"/>
          <a:lstStyle/>
          <a:p>
            <a:pPr indent="0" marL="0">
              <a:buNone/>
            </a:pPr>
            <a:r>
              <a:rPr lang="en-US" sz="1600" dirty="0">
                <a:solidFill>
                  <a:srgbClr val="53DDF2"/>
                </a:solidFill>
                <a:latin typeface="Segoe UI" pitchFamily="34" charset="0"/>
                <a:ea typeface="Segoe UI" pitchFamily="34" charset="-122"/>
                <a:cs typeface="Segoe UI" pitchFamily="34" charset="-120"/>
              </a:rPr>
              <a:t>Control the door first. Then add more detectors behind it.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220"/>
        </a:solidFill>
      </p:bgPr>
    </p:bg>
    <p:spTree>
      <p:nvGrpSpPr>
        <p:cNvPr id="1" name=""/>
        <p:cNvGrpSpPr/>
        <p:nvPr/>
      </p:nvGrpSpPr>
      <p:grpSpPr>
        <a:xfrm>
          <a:off x="0" y="0"/>
          <a:ext cx="0" cy="0"/>
          <a:chOff x="0" y="0"/>
          <a:chExt cx="0" cy="0"/>
        </a:xfrm>
      </p:grpSpPr>
      <p:sp>
        <p:nvSpPr>
          <p:cNvPr id="2" name="s17-text-1"/>
          <p:cNvSpPr/>
          <p:nvPr/>
        </p:nvSpPr>
        <p:spPr>
          <a:xfrm>
            <a:off x="548640" y="219456"/>
            <a:ext cx="2834640" cy="219456"/>
          </a:xfrm>
          <a:prstGeom prst="rect">
            <a:avLst/>
          </a:prstGeom>
          <a:noFill/>
          <a:ln/>
        </p:spPr>
        <p:txBody>
          <a:bodyPr wrap="square" lIns="0" tIns="0" rIns="0" bIns="0" rtlCol="0" anchor="t"/>
          <a:lstStyle/>
          <a:p>
            <a:pPr indent="0" marL="0">
              <a:buNone/>
            </a:pPr>
            <a:r>
              <a:rPr lang="en-US" sz="1300" b="1" spc="80" kern="0" dirty="0">
                <a:solidFill>
                  <a:srgbClr val="53DDF2"/>
                </a:solidFill>
                <a:latin typeface="Segoe UI" pitchFamily="34" charset="0"/>
                <a:ea typeface="Segoe UI" pitchFamily="34" charset="-122"/>
                <a:cs typeface="Segoe UI" pitchFamily="34" charset="-120"/>
              </a:rPr>
              <a:t>AGENT AIRLOCK</a:t>
            </a:r>
            <a:endParaRPr lang="en-US" sz="1300" dirty="0"/>
          </a:p>
        </p:txBody>
      </p:sp>
      <p:sp>
        <p:nvSpPr>
          <p:cNvPr id="3" name="s17-text-2"/>
          <p:cNvSpPr/>
          <p:nvPr/>
        </p:nvSpPr>
        <p:spPr>
          <a:xfrm>
            <a:off x="3657600" y="237744"/>
            <a:ext cx="4663440" cy="201168"/>
          </a:xfrm>
          <a:prstGeom prst="rect">
            <a:avLst/>
          </a:prstGeom>
          <a:noFill/>
          <a:ln/>
        </p:spPr>
        <p:txBody>
          <a:bodyPr wrap="square" lIns="0" tIns="0" rIns="0" bIns="0" rtlCol="0" anchor="t"/>
          <a:lstStyle/>
          <a:p>
            <a:pPr algn="ctr" indent="0" marL="0">
              <a:buNone/>
            </a:pPr>
            <a:r>
              <a:rPr lang="en-US" sz="1100" spc="100" kern="0" dirty="0">
                <a:solidFill>
                  <a:srgbClr val="A8B8CF"/>
                </a:solidFill>
                <a:latin typeface="Segoe UI" pitchFamily="34" charset="0"/>
                <a:ea typeface="Segoe UI" pitchFamily="34" charset="-122"/>
                <a:cs typeface="Segoe UI" pitchFamily="34" charset="-120"/>
              </a:rPr>
              <a:t>TAKEAWAY</a:t>
            </a:r>
            <a:endParaRPr lang="en-US" sz="1100" dirty="0"/>
          </a:p>
        </p:txBody>
      </p:sp>
      <p:sp>
        <p:nvSpPr>
          <p:cNvPr id="4" name="s17-text-3"/>
          <p:cNvSpPr/>
          <p:nvPr/>
        </p:nvSpPr>
        <p:spPr>
          <a:xfrm>
            <a:off x="8412480" y="237744"/>
            <a:ext cx="3227832" cy="201168"/>
          </a:xfrm>
          <a:prstGeom prst="rect">
            <a:avLst/>
          </a:prstGeom>
          <a:noFill/>
          <a:ln/>
        </p:spPr>
        <p:txBody>
          <a:bodyPr wrap="square" lIns="0" tIns="0" rIns="0" bIns="0" rtlCol="0" anchor="t"/>
          <a:lstStyle/>
          <a:p>
            <a:pPr algn="r" indent="0" marL="0">
              <a:buNone/>
            </a:pPr>
            <a:r>
              <a:rPr lang="en-US" sz="1050" dirty="0">
                <a:solidFill>
                  <a:srgbClr val="A8B8CF"/>
                </a:solidFill>
                <a:latin typeface="Segoe UI" pitchFamily="34" charset="0"/>
                <a:ea typeface="Segoe UI" pitchFamily="34" charset="-122"/>
                <a:cs typeface="Segoe UI" pitchFamily="34" charset="-120"/>
              </a:rPr>
              <a:t>TEAM SHOWCASE</a:t>
            </a:r>
            <a:endParaRPr lang="en-US" sz="1050" dirty="0"/>
          </a:p>
        </p:txBody>
      </p:sp>
      <p:sp>
        <p:nvSpPr>
          <p:cNvPr id="5" name="s17-text-4"/>
          <p:cNvSpPr/>
          <p:nvPr/>
        </p:nvSpPr>
        <p:spPr>
          <a:xfrm>
            <a:off x="548640" y="640080"/>
            <a:ext cx="11091672" cy="914400"/>
          </a:xfrm>
          <a:prstGeom prst="rect">
            <a:avLst/>
          </a:prstGeom>
          <a:noFill/>
          <a:ln/>
        </p:spPr>
        <p:txBody>
          <a:bodyPr wrap="square" lIns="0" tIns="0" rIns="0" bIns="0" rtlCol="0" anchor="t"/>
          <a:lstStyle/>
          <a:p>
            <a:pPr indent="0" marL="0">
              <a:buNone/>
            </a:pPr>
            <a:r>
              <a:rPr lang="en-US" sz="3000" b="1" dirty="0">
                <a:solidFill>
                  <a:srgbClr val="F3F7FC"/>
                </a:solidFill>
                <a:latin typeface="Segoe UI" pitchFamily="34" charset="0"/>
                <a:ea typeface="Segoe UI" pitchFamily="34" charset="-122"/>
                <a:cs typeface="Segoe UI" pitchFamily="34" charset="-120"/>
              </a:rPr>
              <a:t>What we want the team to remember</a:t>
            </a:r>
            <a:endParaRPr lang="en-US" sz="3000" dirty="0"/>
          </a:p>
        </p:txBody>
      </p:sp>
      <p:sp>
        <p:nvSpPr>
          <p:cNvPr id="6" name="s17-text-5"/>
          <p:cNvSpPr/>
          <p:nvPr/>
        </p:nvSpPr>
        <p:spPr>
          <a:xfrm>
            <a:off x="548640" y="1600200"/>
            <a:ext cx="11091672" cy="338328"/>
          </a:xfrm>
          <a:prstGeom prst="rect">
            <a:avLst/>
          </a:prstGeom>
          <a:noFill/>
          <a:ln/>
        </p:spPr>
        <p:txBody>
          <a:bodyPr wrap="square" lIns="0" tIns="0" rIns="0" bIns="0" rtlCol="0" anchor="t"/>
          <a:lstStyle/>
          <a:p>
            <a:pPr indent="0" marL="0">
              <a:buNone/>
            </a:pPr>
            <a:r>
              <a:rPr lang="en-US" sz="1550" dirty="0">
                <a:solidFill>
                  <a:srgbClr val="A8B8CF"/>
                </a:solidFill>
                <a:latin typeface="Segoe UI" pitchFamily="34" charset="0"/>
                <a:ea typeface="Segoe UI" pitchFamily="34" charset="-122"/>
                <a:cs typeface="Segoe UI" pitchFamily="34" charset="-120"/>
              </a:rPr>
              <a:t>Autonomy and control are not opposites when permission lives at the action boundary.</a:t>
            </a:r>
            <a:endParaRPr lang="en-US" sz="1550" dirty="0"/>
          </a:p>
        </p:txBody>
      </p:sp>
      <p:sp>
        <p:nvSpPr>
          <p:cNvPr id="7" name="Shape 5"/>
          <p:cNvSpPr/>
          <p:nvPr/>
        </p:nvSpPr>
        <p:spPr>
          <a:xfrm>
            <a:off x="548640" y="6446520"/>
            <a:ext cx="11091672" cy="0"/>
          </a:xfrm>
          <a:prstGeom prst="line">
            <a:avLst/>
          </a:prstGeom>
          <a:solidFill>
            <a:srgbClr val="142238"/>
          </a:solidFill>
          <a:ln w="7620">
            <a:solidFill>
              <a:srgbClr val="2B405B"/>
            </a:solidFill>
            <a:prstDash val="solid"/>
          </a:ln>
        </p:spPr>
      </p:sp>
      <p:sp>
        <p:nvSpPr>
          <p:cNvPr id="8" name="s17-text-6"/>
          <p:cNvSpPr/>
          <p:nvPr/>
        </p:nvSpPr>
        <p:spPr>
          <a:xfrm>
            <a:off x="548640" y="6556248"/>
            <a:ext cx="5852160" cy="164592"/>
          </a:xfrm>
          <a:prstGeom prst="rect">
            <a:avLst/>
          </a:prstGeom>
          <a:noFill/>
          <a:ln/>
        </p:spPr>
        <p:txBody>
          <a:bodyPr wrap="square" lIns="0" tIns="0" rIns="0" bIns="0" rtlCol="0" anchor="t"/>
          <a:lstStyle/>
          <a:p>
            <a:pPr indent="0" marL="0">
              <a:buNone/>
            </a:pPr>
            <a:r>
              <a:rPr lang="en-US" sz="950" dirty="0">
                <a:solidFill>
                  <a:srgbClr val="A8B8CF"/>
                </a:solidFill>
                <a:latin typeface="Segoe UI" pitchFamily="34" charset="0"/>
                <a:ea typeface="Segoe UI" pitchFamily="34" charset="-122"/>
                <a:cs typeface="Segoe UI" pitchFamily="34" charset="-120"/>
              </a:rPr>
              <a:t>PROTOTYPE  |  POLICY-GOVERNED AGENT ACTIONS</a:t>
            </a:r>
            <a:endParaRPr lang="en-US" sz="950" dirty="0"/>
          </a:p>
        </p:txBody>
      </p:sp>
      <p:sp>
        <p:nvSpPr>
          <p:cNvPr id="9" name="s17-text-7"/>
          <p:cNvSpPr/>
          <p:nvPr/>
        </p:nvSpPr>
        <p:spPr>
          <a:xfrm>
            <a:off x="10863072" y="6528816"/>
            <a:ext cx="777240" cy="210312"/>
          </a:xfrm>
          <a:prstGeom prst="rect">
            <a:avLst/>
          </a:prstGeom>
          <a:noFill/>
          <a:ln/>
        </p:spPr>
        <p:txBody>
          <a:bodyPr wrap="square" lIns="0" tIns="0" rIns="0" bIns="0" rtlCol="0" anchor="t"/>
          <a:lstStyle/>
          <a:p>
            <a:pPr algn="r" indent="0" marL="0">
              <a:buNone/>
            </a:pPr>
            <a:r>
              <a:rPr lang="en-US" sz="1100" dirty="0">
                <a:solidFill>
                  <a:srgbClr val="53DDF2"/>
                </a:solidFill>
                <a:latin typeface="Segoe UI" pitchFamily="34" charset="0"/>
                <a:ea typeface="Segoe UI" pitchFamily="34" charset="-122"/>
                <a:cs typeface="Segoe UI" pitchFamily="34" charset="-120"/>
              </a:rPr>
              <a:t>17 / 17</a:t>
            </a:r>
            <a:endParaRPr lang="en-US" sz="1100" dirty="0"/>
          </a:p>
        </p:txBody>
      </p:sp>
      <p:sp>
        <p:nvSpPr>
          <p:cNvPr id="10" name="s17-text-8"/>
          <p:cNvSpPr/>
          <p:nvPr/>
        </p:nvSpPr>
        <p:spPr>
          <a:xfrm>
            <a:off x="594360" y="2148840"/>
            <a:ext cx="10881360" cy="2240280"/>
          </a:xfrm>
          <a:prstGeom prst="rect">
            <a:avLst/>
          </a:prstGeom>
          <a:noFill/>
          <a:ln/>
        </p:spPr>
        <p:txBody>
          <a:bodyPr wrap="square" lIns="0" tIns="0" rIns="0" bIns="0" rtlCol="0" anchor="t"/>
          <a:lstStyle/>
          <a:p>
            <a:pPr indent="0" marL="0">
              <a:buNone/>
            </a:pPr>
            <a:r>
              <a:rPr lang="en-US" sz="3500" b="1" dirty="0">
                <a:solidFill>
                  <a:srgbClr val="F3F7FC"/>
                </a:solidFill>
                <a:latin typeface="Segoe UI" pitchFamily="34" charset="0"/>
                <a:ea typeface="Segoe UI" pitchFamily="34" charset="-122"/>
                <a:cs typeface="Segoe UI" pitchFamily="34" charset="-120"/>
              </a:rPr>
              <a:t>Give AI agents room to move,</a:t>
            </a:r>
            <a:endParaRPr lang="en-US" sz="3500" dirty="0"/>
          </a:p>
          <a:p>
            <a:pPr indent="0" marL="0">
              <a:buNone/>
            </a:pPr>
            <a:r>
              <a:rPr lang="en-US" sz="3500" b="1" dirty="0">
                <a:solidFill>
                  <a:srgbClr val="F3F7FC"/>
                </a:solidFill>
                <a:latin typeface="Segoe UI" pitchFamily="34" charset="0"/>
                <a:ea typeface="Segoe UI" pitchFamily="34" charset="-122"/>
                <a:cs typeface="Segoe UI" pitchFamily="34" charset="-120"/>
              </a:rPr>
              <a:t>not room to break the rules.</a:t>
            </a:r>
            <a:endParaRPr lang="en-US" sz="3500" dirty="0"/>
          </a:p>
        </p:txBody>
      </p:sp>
      <p:sp>
        <p:nvSpPr>
          <p:cNvPr id="11" name="s17-text-9"/>
          <p:cNvSpPr/>
          <p:nvPr/>
        </p:nvSpPr>
        <p:spPr>
          <a:xfrm>
            <a:off x="621792" y="4553712"/>
            <a:ext cx="10561320" cy="932688"/>
          </a:xfrm>
          <a:prstGeom prst="rect">
            <a:avLst/>
          </a:prstGeom>
          <a:noFill/>
          <a:ln/>
        </p:spPr>
        <p:txBody>
          <a:bodyPr wrap="square" lIns="0" tIns="0" rIns="0" bIns="0" rtlCol="0" anchor="t"/>
          <a:lstStyle/>
          <a:p>
            <a:pPr indent="0" marL="0">
              <a:buNone/>
            </a:pPr>
            <a:r>
              <a:rPr lang="en-US" sz="2000" dirty="0">
                <a:solidFill>
                  <a:srgbClr val="53DDF2"/>
                </a:solidFill>
                <a:latin typeface="Segoe UI" pitchFamily="34" charset="0"/>
                <a:ea typeface="Segoe UI" pitchFamily="34" charset="-122"/>
                <a:cs typeface="Segoe UI" pitchFamily="34" charset="-120"/>
              </a:rPr>
              <a:t>The prompt describes the destination.</a:t>
            </a:r>
            <a:endParaRPr lang="en-US" sz="2000" dirty="0"/>
          </a:p>
          <a:p>
            <a:pPr indent="0" marL="0">
              <a:buNone/>
            </a:pPr>
            <a:r>
              <a:rPr lang="en-US" sz="2000" dirty="0">
                <a:solidFill>
                  <a:srgbClr val="53DDF2"/>
                </a:solidFill>
                <a:latin typeface="Segoe UI" pitchFamily="34" charset="0"/>
                <a:ea typeface="Segoe UI" pitchFamily="34" charset="-122"/>
                <a:cs typeface="Segoe UI" pitchFamily="34" charset="-120"/>
              </a:rPr>
              <a:t>Agent Airlock clears the safe path.</a:t>
            </a:r>
            <a:endParaRPr lang="en-US" sz="2000" dirty="0"/>
          </a:p>
        </p:txBody>
      </p:sp>
      <p:sp>
        <p:nvSpPr>
          <p:cNvPr id="12" name="Shape 10"/>
          <p:cNvSpPr/>
          <p:nvPr/>
        </p:nvSpPr>
        <p:spPr>
          <a:xfrm>
            <a:off x="548640" y="5687568"/>
            <a:ext cx="11091672" cy="585216"/>
          </a:xfrm>
          <a:prstGeom prst="roundRect">
            <a:avLst>
              <a:gd name="adj" fmla="val 25000"/>
            </a:avLst>
          </a:prstGeom>
          <a:solidFill>
            <a:srgbClr val="142238"/>
          </a:solidFill>
          <a:ln w="10160">
            <a:solidFill>
              <a:srgbClr val="2B405B"/>
            </a:solidFill>
            <a:prstDash val="solid"/>
          </a:ln>
        </p:spPr>
      </p:sp>
      <p:sp>
        <p:nvSpPr>
          <p:cNvPr id="13" name="Shape 11"/>
          <p:cNvSpPr/>
          <p:nvPr/>
        </p:nvSpPr>
        <p:spPr>
          <a:xfrm>
            <a:off x="548640" y="5687568"/>
            <a:ext cx="41148" cy="585216"/>
          </a:xfrm>
          <a:prstGeom prst="rect">
            <a:avLst/>
          </a:prstGeom>
          <a:solidFill>
            <a:srgbClr val="FFCE67"/>
          </a:solidFill>
          <a:ln w="12700">
            <a:solidFill>
              <a:srgbClr val="2B405B">
                <a:alpha val="0"/>
              </a:srgbClr>
            </a:solidFill>
            <a:prstDash val="solid"/>
          </a:ln>
        </p:spPr>
      </p:sp>
      <p:sp>
        <p:nvSpPr>
          <p:cNvPr id="14" name="s17-text-10"/>
          <p:cNvSpPr/>
          <p:nvPr/>
        </p:nvSpPr>
        <p:spPr>
          <a:xfrm>
            <a:off x="758952" y="5833872"/>
            <a:ext cx="10652760" cy="292608"/>
          </a:xfrm>
          <a:prstGeom prst="rect">
            <a:avLst/>
          </a:prstGeom>
          <a:noFill/>
          <a:ln/>
        </p:spPr>
        <p:txBody>
          <a:bodyPr wrap="square" lIns="0" tIns="0" rIns="0" bIns="0" rtlCol="0" anchor="t"/>
          <a:lstStyle/>
          <a:p>
            <a:pPr indent="0" marL="0">
              <a:buNone/>
            </a:pPr>
            <a:r>
              <a:rPr lang="en-US" sz="1600" dirty="0">
                <a:solidFill>
                  <a:srgbClr val="FFCE67"/>
                </a:solidFill>
                <a:latin typeface="Segoe UI" pitchFamily="34" charset="0"/>
                <a:ea typeface="Segoe UI" pitchFamily="34" charset="-122"/>
                <a:cs typeface="Segoe UI" pitchFamily="34" charset="-120"/>
              </a:rPr>
              <a:t>PROPOSE FREELY. CHECK CONSISTENTLY. EXECUTE DELIBERATELY.</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Agent Airlock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Airlock</dc:title>
  <dc:subject>Agent Airlock team showcase: problem, architecture, gates and enforcement boundary</dc:subject>
  <dc:creator>Agent Airlock contributors</dc:creator>
  <cp:lastModifiedBy>Agent Airlock contributors</cp:lastModifiedBy>
  <cp:revision>1</cp:revision>
  <dcterms:created xsi:type="dcterms:W3CDTF">2026-09-17T05:50:26Z</dcterms:created>
  <dcterms:modified xsi:type="dcterms:W3CDTF">2026-09-17T05:50:26Z</dcterms:modified>
</cp:coreProperties>
</file>